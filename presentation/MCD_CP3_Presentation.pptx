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340365-0B52-EEF8-58A3-D983F3449F38}" v="1" dt="2026-04-10T04:31:47.749"/>
    <p1510:client id="{3AF34FC3-4E05-FF40-A5B3-5C8490E5215F}" v="29" dt="2026-04-10T04:42:52.655"/>
    <p1510:client id="{A90E6ABE-4204-F991-34C4-78DFBB83F23B}" v="123" dt="2026-04-09T22:32:45.48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86319"/>
  </p:normalViewPr>
  <p:slideViewPr>
    <p:cSldViewPr snapToGrid="0" snapToObjects="1">
      <p:cViewPr varScale="1">
        <p:scale>
          <a:sx n="141" d="100"/>
          <a:sy n="141" d="100"/>
        </p:scale>
        <p:origin x="9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5/10/relationships/revisionInfo" Target="revisionInfo.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rakondala, Pranav" userId="S::prc4@illinois.edu::ce96146c-34d9-42e0-968b-148d4007a155" providerId="AD" clId="Web-{31340365-0B52-EEF8-58A3-D983F3449F38}"/>
    <pc:docChg chg="modSld">
      <pc:chgData name="Charakondala, Pranav" userId="S::prc4@illinois.edu::ce96146c-34d9-42e0-968b-148d4007a155" providerId="AD" clId="Web-{31340365-0B52-EEF8-58A3-D983F3449F38}" dt="2026-04-10T04:33:19.046" v="5"/>
      <pc:docMkLst>
        <pc:docMk/>
      </pc:docMkLst>
      <pc:sldChg chg="modSp">
        <pc:chgData name="Charakondala, Pranav" userId="S::prc4@illinois.edu::ce96146c-34d9-42e0-968b-148d4007a155" providerId="AD" clId="Web-{31340365-0B52-EEF8-58A3-D983F3449F38}" dt="2026-04-10T04:31:47.749" v="4" actId="20577"/>
        <pc:sldMkLst>
          <pc:docMk/>
          <pc:sldMk cId="0" sldId="256"/>
        </pc:sldMkLst>
        <pc:spChg chg="mod">
          <ac:chgData name="Charakondala, Pranav" userId="S::prc4@illinois.edu::ce96146c-34d9-42e0-968b-148d4007a155" providerId="AD" clId="Web-{31340365-0B52-EEF8-58A3-D983F3449F38}" dt="2026-04-10T04:31:47.749" v="4" actId="20577"/>
          <ac:spMkLst>
            <pc:docMk/>
            <pc:sldMk cId="0" sldId="256"/>
            <ac:spMk id="9" creationId="{00000000-0000-0000-0000-000000000000}"/>
          </ac:spMkLst>
        </pc:spChg>
      </pc:sldChg>
      <pc:sldChg chg="modNotes">
        <pc:chgData name="Charakondala, Pranav" userId="S::prc4@illinois.edu::ce96146c-34d9-42e0-968b-148d4007a155" providerId="AD" clId="Web-{31340365-0B52-EEF8-58A3-D983F3449F38}" dt="2026-04-10T04:30:49.812" v="3"/>
        <pc:sldMkLst>
          <pc:docMk/>
          <pc:sldMk cId="0" sldId="260"/>
        </pc:sldMkLst>
      </pc:sldChg>
      <pc:sldChg chg="modNotes">
        <pc:chgData name="Charakondala, Pranav" userId="S::prc4@illinois.edu::ce96146c-34d9-42e0-968b-148d4007a155" providerId="AD" clId="Web-{31340365-0B52-EEF8-58A3-D983F3449F38}" dt="2026-04-10T04:33:19.046" v="5"/>
        <pc:sldMkLst>
          <pc:docMk/>
          <pc:sldMk cId="0" sldId="262"/>
        </pc:sldMkLst>
      </pc:sldChg>
    </pc:docChg>
  </pc:docChgLst>
  <pc:docChgLst>
    <pc:chgData name="Gole, Ashish Manoj" userId="bdcf418b-ae7c-4f6f-a103-cface8a3a225" providerId="ADAL" clId="{D59CF0E0-FC9A-5350-A953-CE752BF71EE1}"/>
    <pc:docChg chg="undo custSel modSld">
      <pc:chgData name="Gole, Ashish Manoj" userId="bdcf418b-ae7c-4f6f-a103-cface8a3a225" providerId="ADAL" clId="{D59CF0E0-FC9A-5350-A953-CE752BF71EE1}" dt="2026-04-10T04:42:25.080" v="49" actId="20577"/>
      <pc:docMkLst>
        <pc:docMk/>
      </pc:docMkLst>
      <pc:sldChg chg="addSp delSp modSp mod modNotesTx">
        <pc:chgData name="Gole, Ashish Manoj" userId="bdcf418b-ae7c-4f6f-a103-cface8a3a225" providerId="ADAL" clId="{D59CF0E0-FC9A-5350-A953-CE752BF71EE1}" dt="2026-04-10T04:42:25.080" v="49" actId="20577"/>
        <pc:sldMkLst>
          <pc:docMk/>
          <pc:sldMk cId="0" sldId="256"/>
        </pc:sldMkLst>
        <pc:spChg chg="mod">
          <ac:chgData name="Gole, Ashish Manoj" userId="bdcf418b-ae7c-4f6f-a103-cface8a3a225" providerId="ADAL" clId="{D59CF0E0-FC9A-5350-A953-CE752BF71EE1}" dt="2026-04-10T04:42:25.080" v="49" actId="20577"/>
          <ac:spMkLst>
            <pc:docMk/>
            <pc:sldMk cId="0" sldId="256"/>
            <ac:spMk id="9" creationId="{00000000-0000-0000-0000-000000000000}"/>
          </ac:spMkLst>
        </pc:spChg>
        <pc:spChg chg="add del">
          <ac:chgData name="Gole, Ashish Manoj" userId="bdcf418b-ae7c-4f6f-a103-cface8a3a225" providerId="ADAL" clId="{D59CF0E0-FC9A-5350-A953-CE752BF71EE1}" dt="2026-04-10T04:41:52.277" v="38" actId="478"/>
          <ac:spMkLst>
            <pc:docMk/>
            <pc:sldMk cId="0" sldId="256"/>
            <ac:spMk id="12" creationId="{0A809084-C512-D7BC-4184-D106A8A1D4EA}"/>
          </ac:spMkLst>
        </pc:spChg>
      </pc:sldChg>
    </pc:docChg>
  </pc:docChgLst>
  <pc:docChgLst>
    <pc:chgData name="Thakore, Jeet" userId="S::jeetpt2@illinois.edu::44d49c03-0443-4279-b033-c62b3af56a25" providerId="AD" clId="Web-{A90E6ABE-4204-F991-34C4-78DFBB83F23B}"/>
    <pc:docChg chg="modSld">
      <pc:chgData name="Thakore, Jeet" userId="S::jeetpt2@illinois.edu::44d49c03-0443-4279-b033-c62b3af56a25" providerId="AD" clId="Web-{A90E6ABE-4204-F991-34C4-78DFBB83F23B}" dt="2026-04-09T22:46:16.066" v="336"/>
      <pc:docMkLst>
        <pc:docMk/>
      </pc:docMkLst>
      <pc:sldChg chg="modNotes">
        <pc:chgData name="Thakore, Jeet" userId="S::jeetpt2@illinois.edu::44d49c03-0443-4279-b033-c62b3af56a25" providerId="AD" clId="Web-{A90E6ABE-4204-F991-34C4-78DFBB83F23B}" dt="2026-04-09T22:22:26.406" v="153"/>
        <pc:sldMkLst>
          <pc:docMk/>
          <pc:sldMk cId="0" sldId="256"/>
        </pc:sldMkLst>
      </pc:sldChg>
      <pc:sldChg chg="modNotes">
        <pc:chgData name="Thakore, Jeet" userId="S::jeetpt2@illinois.edu::44d49c03-0443-4279-b033-c62b3af56a25" providerId="AD" clId="Web-{A90E6ABE-4204-F991-34C4-78DFBB83F23B}" dt="2026-04-09T22:21:01.719" v="41"/>
        <pc:sldMkLst>
          <pc:docMk/>
          <pc:sldMk cId="0" sldId="257"/>
        </pc:sldMkLst>
      </pc:sldChg>
      <pc:sldChg chg="modNotes">
        <pc:chgData name="Thakore, Jeet" userId="S::jeetpt2@illinois.edu::44d49c03-0443-4279-b033-c62b3af56a25" providerId="AD" clId="Web-{A90E6ABE-4204-F991-34C4-78DFBB83F23B}" dt="2026-04-09T22:46:16.066" v="336"/>
        <pc:sldMkLst>
          <pc:docMk/>
          <pc:sldMk cId="0" sldId="258"/>
        </pc:sldMkLst>
      </pc:sldChg>
      <pc:sldChg chg="modNotes">
        <pc:chgData name="Thakore, Jeet" userId="S::jeetpt2@illinois.edu::44d49c03-0443-4279-b033-c62b3af56a25" providerId="AD" clId="Web-{A90E6ABE-4204-F991-34C4-78DFBB83F23B}" dt="2026-04-09T22:21:19.812" v="44"/>
        <pc:sldMkLst>
          <pc:docMk/>
          <pc:sldMk cId="0" sldId="259"/>
        </pc:sldMkLst>
      </pc:sldChg>
      <pc:sldChg chg="modNotes">
        <pc:chgData name="Thakore, Jeet" userId="S::jeetpt2@illinois.edu::44d49c03-0443-4279-b033-c62b3af56a25" providerId="AD" clId="Web-{A90E6ABE-4204-F991-34C4-78DFBB83F23B}" dt="2026-04-09T22:21:25.375" v="45"/>
        <pc:sldMkLst>
          <pc:docMk/>
          <pc:sldMk cId="0" sldId="260"/>
        </pc:sldMkLst>
      </pc:sldChg>
      <pc:sldChg chg="modNotes">
        <pc:chgData name="Thakore, Jeet" userId="S::jeetpt2@illinois.edu::44d49c03-0443-4279-b033-c62b3af56a25" providerId="AD" clId="Web-{A90E6ABE-4204-F991-34C4-78DFBB83F23B}" dt="2026-04-09T22:21:37.500" v="47"/>
        <pc:sldMkLst>
          <pc:docMk/>
          <pc:sldMk cId="0" sldId="261"/>
        </pc:sldMkLst>
      </pc:sldChg>
      <pc:sldChg chg="addSp delSp modSp modNotes">
        <pc:chgData name="Thakore, Jeet" userId="S::jeetpt2@illinois.edu::44d49c03-0443-4279-b033-c62b3af56a25" providerId="AD" clId="Web-{A90E6ABE-4204-F991-34C4-78DFBB83F23B}" dt="2026-04-09T22:34:34.222" v="328"/>
        <pc:sldMkLst>
          <pc:docMk/>
          <pc:sldMk cId="0" sldId="262"/>
        </pc:sldMkLst>
        <pc:spChg chg="mod">
          <ac:chgData name="Thakore, Jeet" userId="S::jeetpt2@illinois.edu::44d49c03-0443-4279-b033-c62b3af56a25" providerId="AD" clId="Web-{A90E6ABE-4204-F991-34C4-78DFBB83F23B}" dt="2026-04-09T22:26:54.376" v="180" actId="20577"/>
          <ac:spMkLst>
            <pc:docMk/>
            <pc:sldMk cId="0" sldId="262"/>
            <ac:spMk id="4" creationId="{00000000-0000-0000-0000-000000000000}"/>
          </ac:spMkLst>
        </pc:spChg>
        <pc:spChg chg="mod">
          <ac:chgData name="Thakore, Jeet" userId="S::jeetpt2@illinois.edu::44d49c03-0443-4279-b033-c62b3af56a25" providerId="AD" clId="Web-{A90E6ABE-4204-F991-34C4-78DFBB83F23B}" dt="2026-04-09T22:31:33.347" v="263" actId="14100"/>
          <ac:spMkLst>
            <pc:docMk/>
            <pc:sldMk cId="0" sldId="262"/>
            <ac:spMk id="5" creationId="{00000000-0000-0000-0000-000000000000}"/>
          </ac:spMkLst>
        </pc:spChg>
        <pc:spChg chg="mod">
          <ac:chgData name="Thakore, Jeet" userId="S::jeetpt2@illinois.edu::44d49c03-0443-4279-b033-c62b3af56a25" providerId="AD" clId="Web-{A90E6ABE-4204-F991-34C4-78DFBB83F23B}" dt="2026-04-09T22:31:30.784" v="262" actId="14100"/>
          <ac:spMkLst>
            <pc:docMk/>
            <pc:sldMk cId="0" sldId="262"/>
            <ac:spMk id="9" creationId="{00000000-0000-0000-0000-000000000000}"/>
          </ac:spMkLst>
        </pc:spChg>
        <pc:spChg chg="mod">
          <ac:chgData name="Thakore, Jeet" userId="S::jeetpt2@illinois.edu::44d49c03-0443-4279-b033-c62b3af56a25" providerId="AD" clId="Web-{A90E6ABE-4204-F991-34C4-78DFBB83F23B}" dt="2026-04-09T22:32:05.503" v="270" actId="14100"/>
          <ac:spMkLst>
            <pc:docMk/>
            <pc:sldMk cId="0" sldId="262"/>
            <ac:spMk id="10" creationId="{00000000-0000-0000-0000-000000000000}"/>
          </ac:spMkLst>
        </pc:spChg>
        <pc:spChg chg="mod">
          <ac:chgData name="Thakore, Jeet" userId="S::jeetpt2@illinois.edu::44d49c03-0443-4279-b033-c62b3af56a25" providerId="AD" clId="Web-{A90E6ABE-4204-F991-34C4-78DFBB83F23B}" dt="2026-04-09T22:29:21.925" v="232" actId="14100"/>
          <ac:spMkLst>
            <pc:docMk/>
            <pc:sldMk cId="0" sldId="262"/>
            <ac:spMk id="14" creationId="{00000000-0000-0000-0000-000000000000}"/>
          </ac:spMkLst>
        </pc:spChg>
        <pc:spChg chg="mod">
          <ac:chgData name="Thakore, Jeet" userId="S::jeetpt2@illinois.edu::44d49c03-0443-4279-b033-c62b3af56a25" providerId="AD" clId="Web-{A90E6ABE-4204-F991-34C4-78DFBB83F23B}" dt="2026-04-09T22:32:12.019" v="272" actId="14100"/>
          <ac:spMkLst>
            <pc:docMk/>
            <pc:sldMk cId="0" sldId="262"/>
            <ac:spMk id="15" creationId="{00000000-0000-0000-0000-000000000000}"/>
          </ac:spMkLst>
        </pc:spChg>
        <pc:spChg chg="mod">
          <ac:chgData name="Thakore, Jeet" userId="S::jeetpt2@illinois.edu::44d49c03-0443-4279-b033-c62b3af56a25" providerId="AD" clId="Web-{A90E6ABE-4204-F991-34C4-78DFBB83F23B}" dt="2026-04-09T22:32:07.988" v="271" actId="14100"/>
          <ac:spMkLst>
            <pc:docMk/>
            <pc:sldMk cId="0" sldId="262"/>
            <ac:spMk id="19" creationId="{00000000-0000-0000-0000-000000000000}"/>
          </ac:spMkLst>
        </pc:spChg>
        <pc:spChg chg="mod">
          <ac:chgData name="Thakore, Jeet" userId="S::jeetpt2@illinois.edu::44d49c03-0443-4279-b033-c62b3af56a25" providerId="AD" clId="Web-{A90E6ABE-4204-F991-34C4-78DFBB83F23B}" dt="2026-04-09T22:29:43.737" v="239" actId="1076"/>
          <ac:spMkLst>
            <pc:docMk/>
            <pc:sldMk cId="0" sldId="262"/>
            <ac:spMk id="20" creationId="{00000000-0000-0000-0000-000000000000}"/>
          </ac:spMkLst>
        </pc:spChg>
        <pc:spChg chg="add mod">
          <ac:chgData name="Thakore, Jeet" userId="S::jeetpt2@illinois.edu::44d49c03-0443-4279-b033-c62b3af56a25" providerId="AD" clId="Web-{A90E6ABE-4204-F991-34C4-78DFBB83F23B}" dt="2026-04-09T22:31:57.644" v="268" actId="14100"/>
          <ac:spMkLst>
            <pc:docMk/>
            <pc:sldMk cId="0" sldId="262"/>
            <ac:spMk id="21" creationId="{616D523C-0D00-8AD4-B992-6FB439BFF22C}"/>
          </ac:spMkLst>
        </pc:spChg>
        <pc:spChg chg="add mod">
          <ac:chgData name="Thakore, Jeet" userId="S::jeetpt2@illinois.edu::44d49c03-0443-4279-b033-c62b3af56a25" providerId="AD" clId="Web-{A90E6ABE-4204-F991-34C4-78DFBB83F23B}" dt="2026-04-09T22:32:00.519" v="269" actId="14100"/>
          <ac:spMkLst>
            <pc:docMk/>
            <pc:sldMk cId="0" sldId="262"/>
            <ac:spMk id="22" creationId="{A102C2FA-DDC4-9CBE-7958-4F469EE0069E}"/>
          </ac:spMkLst>
        </pc:spChg>
        <pc:spChg chg="add mod">
          <ac:chgData name="Thakore, Jeet" userId="S::jeetpt2@illinois.edu::44d49c03-0443-4279-b033-c62b3af56a25" providerId="AD" clId="Web-{A90E6ABE-4204-F991-34C4-78DFBB83F23B}" dt="2026-04-09T22:31:45.144" v="265" actId="1076"/>
          <ac:spMkLst>
            <pc:docMk/>
            <pc:sldMk cId="0" sldId="262"/>
            <ac:spMk id="23" creationId="{D810A4DA-32D1-61F7-A106-38893C8DBA72}"/>
          </ac:spMkLst>
        </pc:spChg>
        <pc:spChg chg="add del mod">
          <ac:chgData name="Thakore, Jeet" userId="S::jeetpt2@illinois.edu::44d49c03-0443-4279-b033-c62b3af56a25" providerId="AD" clId="Web-{A90E6ABE-4204-F991-34C4-78DFBB83F23B}" dt="2026-04-09T22:27:28.236" v="208"/>
          <ac:spMkLst>
            <pc:docMk/>
            <pc:sldMk cId="0" sldId="262"/>
            <ac:spMk id="24" creationId="{FC69DCB8-71FD-2E92-629D-471C19B12937}"/>
          </ac:spMkLst>
        </pc:spChg>
        <pc:spChg chg="add mod">
          <ac:chgData name="Thakore, Jeet" userId="S::jeetpt2@illinois.edu::44d49c03-0443-4279-b033-c62b3af56a25" providerId="AD" clId="Web-{A90E6ABE-4204-F991-34C4-78DFBB83F23B}" dt="2026-04-09T22:29:39.675" v="238" actId="1076"/>
          <ac:spMkLst>
            <pc:docMk/>
            <pc:sldMk cId="0" sldId="262"/>
            <ac:spMk id="25" creationId="{E6B2A094-BA1B-0932-15C3-BEABF88DBE4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726333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Good morning, everyone. Today we are presenting the McDonald's Social Media Command Centre, an AI-powered tool built for branch operations managers. The core idea is simple: McDonald's generates tens of thousands of customer reviews, and right now almost none of that signal reaches the people who can act on it. We built a co-pilot that changes that. My name is Ashish, joined by Jeet and Pranav, and this is our IS492 project progress for Checkpoint 3.</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Let us talk about why this exists. McDonald's has 32,736 customer reviews sitting largely unread. Managers today rely almost entirely on star ratings, which hide the actual issues. A branch can sit at 3.2 stars for months, and no one knows if the problem is slow drive-through, cold food, or rude staff. Traditional NLP tools give you sentiment scores, not actions. And there is no tool that produces a ready-to-send staff briefing. Our solution addresses all five gaps: it reads reviews, surfaces the worst branches first, generates a plain-English summary with three prioritized action items, cites real review quotes as evidence, and produces a one-click memo managers can send to their teams immediately.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Let me walk you through what the app actually does. </a:t>
            </a:r>
            <a:endParaRPr lang="en-US"/>
          </a:p>
          <a:p>
            <a:endParaRPr lang="en-US"/>
          </a:p>
          <a:p>
            <a:r>
              <a:rPr lang="en-US" dirty="0"/>
              <a:t>Tab 1 is the Review Dashboard. </a:t>
            </a:r>
            <a:endParaRPr lang="en-US"/>
          </a:p>
          <a:p>
            <a:endParaRPr lang="en-US"/>
          </a:p>
          <a:p>
            <a:r>
              <a:rPr lang="en-US" dirty="0"/>
              <a:t>It gives managers a full picture: rating distribution, top cities by review volume, best and worst performing branches, all filterable by city with live chart updates. </a:t>
            </a:r>
            <a:endParaRPr lang="en-US"/>
          </a:p>
          <a:p>
            <a:endParaRPr lang="en-US"/>
          </a:p>
          <a:p>
            <a:r>
              <a:rPr lang="en-US" dirty="0"/>
              <a:t>Tab 2 is where the AI lives. The Branch Health table ranks locations worst-first so managers know where to focus. </a:t>
            </a:r>
            <a:endParaRPr lang="en-US"/>
          </a:p>
          <a:p>
            <a:endParaRPr lang="en-US"/>
          </a:p>
          <a:p>
            <a:r>
              <a:rPr lang="en-US" dirty="0"/>
              <a:t>You select a branch and a time range, hit Generate Insights, and Claude reads the top 20 reviews for that branch. It returns three outputs: a plain-English summary of main issues, three action items each backed by actual review quotes, and a staff briefing memo ready to download as a text file.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We made four key decisions worth highlighting. First, we switched from a local Llama3 model to Claude Haiku via the Anthropic API. Llama3 at 4.7GB was timing out on our GTX 1650. Haiku is fast, costs roughly a tenth of a cent per call, and produces reliably structured output. Second, we moved from city-level to branch-level filtering based on professor feedback. Managers care about a specific address, not an entire city. Third, our system prompt strictly grounds the model in actual review text. It forces the three-section output format and requires evidence quotes, which directly prevents hallucination. Fourth, every API call is logged to SQLite with timestamp, branch, date range, and number of reviews. This gives us full observability for CP4 evaluation.</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We took four concrete steps here. On PII: the dataset is public Kaggle data, and we only send review text and star rating to Claude. No names, reviewer IDs, addresses, or coordinates ever leave our system. Non-ASCII characters are stripped at load time. On rate limiting: we cap each API call at 20 reviews, which keeps response time under five seconds and controls token cost. On hallucination prevention: the system prompt explicitly forbids the model from inventing problems. Every action item must cite a real quote from the provided reviews. And on secrets management: the API key lives in a </a:t>
            </a:r>
            <a:r>
              <a:rPr lang="en-US" err="1"/>
              <a:t>gitignored</a:t>
            </a:r>
            <a:r>
              <a:rPr lang="en-US"/>
              <a:t> .env file. We provide a .</a:t>
            </a:r>
            <a:r>
              <a:rPr lang="en-US" err="1"/>
              <a:t>env.example</a:t>
            </a:r>
            <a:r>
              <a:rPr lang="en-US"/>
              <a:t> with a placeholder. Nothing sensitive is committed to GitHub. And since the app is now publicly deployed, we also set a monthly spend limit on the API to prevent abuse.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For CP4 we are running a controlled user study. Five classmates act as branch managers. Each is given a branch with poor ratings and asked to identify the top three issues and write a staff memo, first without the tool, then with it. We measure four things: time saved on issue identification, task success meaning whether they found the same issues Claude found, SUS score from a five-question usability survey, and memo quality rated by an expert on a one-to-five scale. This gives us both quantitative efficiency data and qualitative usability signal. We expect to show meaningful time savings and higher memo quality with the tool. Thank you, and we are happy to take questions.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a:t>Quick note on team contributions — I handled the backend and AI integration, including the Claude API, data pipeline, and deployment. Jeet built the frontend and UI design you saw in the demo. Ashish handled the data analysis and visualizations. We collaborated throughout but those were our primary ownership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cd-command-centre.streamlit.ap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github.com/IS492-SP26/team-project-social-media-command-centre"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hyperlink" Target="https://arxiv.org/abs/2510.16551"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hyperlink" Target="https://doi.org/10.3389/fcomp.2024.1521066" TargetMode="External"/><Relationship Id="rId4" Type="http://schemas.openxmlformats.org/officeDocument/2006/relationships/hyperlink" Target="https://doi.org/10.1007/s10462-025-11308-5"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64592"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82296" y="525780"/>
            <a:ext cx="1097280" cy="1097280"/>
          </a:xfrm>
          <a:prstGeom prst="rect">
            <a:avLst/>
          </a:prstGeom>
          <a:noFill/>
          <a:ln/>
        </p:spPr>
        <p:txBody>
          <a:bodyPr wrap="square" rtlCol="0" anchor="ctr"/>
          <a:lstStyle/>
          <a:p>
            <a:pPr marL="0" indent="0" algn="ctr">
              <a:buNone/>
            </a:pPr>
            <a:r>
              <a:rPr lang="en-US" sz="5600" dirty="0">
                <a:solidFill>
                  <a:srgbClr val="000000"/>
                </a:solidFill>
              </a:rPr>
              <a:t>🍔</a:t>
            </a:r>
            <a:endParaRPr lang="en-US" sz="5600" dirty="0"/>
          </a:p>
        </p:txBody>
      </p:sp>
      <p:sp>
        <p:nvSpPr>
          <p:cNvPr id="5" name="Text 3"/>
          <p:cNvSpPr/>
          <p:nvPr/>
        </p:nvSpPr>
        <p:spPr>
          <a:xfrm>
            <a:off x="320040" y="1645920"/>
            <a:ext cx="8503920" cy="822960"/>
          </a:xfrm>
          <a:prstGeom prst="rect">
            <a:avLst/>
          </a:prstGeom>
          <a:noFill/>
          <a:ln/>
        </p:spPr>
        <p:txBody>
          <a:bodyPr wrap="square" lIns="0" tIns="0" rIns="0" bIns="0" rtlCol="0" anchor="ctr"/>
          <a:lstStyle/>
          <a:p>
            <a:pPr marL="0" indent="0" algn="l">
              <a:buNone/>
            </a:pPr>
            <a:r>
              <a:rPr lang="en-US" sz="3800" b="1" dirty="0">
                <a:solidFill>
                  <a:srgbClr val="FFC72C"/>
                </a:solidFill>
                <a:latin typeface="Arial Black" pitchFamily="34" charset="0"/>
                <a:ea typeface="Arial Black" pitchFamily="34" charset="-122"/>
                <a:cs typeface="Arial Black" pitchFamily="34" charset="-120"/>
              </a:rPr>
              <a:t>McDonald's Social Media</a:t>
            </a:r>
            <a:endParaRPr lang="en-US" sz="3800" dirty="0"/>
          </a:p>
        </p:txBody>
      </p:sp>
      <p:sp>
        <p:nvSpPr>
          <p:cNvPr id="6" name="Text 4"/>
          <p:cNvSpPr/>
          <p:nvPr/>
        </p:nvSpPr>
        <p:spPr>
          <a:xfrm>
            <a:off x="320040" y="2377440"/>
            <a:ext cx="850392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Arial Black" pitchFamily="34" charset="0"/>
                <a:ea typeface="Arial Black" pitchFamily="34" charset="-122"/>
                <a:cs typeface="Arial Black" pitchFamily="34" charset="-120"/>
              </a:rPr>
              <a:t>Command Centre</a:t>
            </a:r>
            <a:endParaRPr lang="en-US" sz="3800" dirty="0"/>
          </a:p>
        </p:txBody>
      </p:sp>
      <p:sp>
        <p:nvSpPr>
          <p:cNvPr id="7" name="Text 5"/>
          <p:cNvSpPr/>
          <p:nvPr/>
        </p:nvSpPr>
        <p:spPr>
          <a:xfrm>
            <a:off x="320040" y="3154680"/>
            <a:ext cx="8503920" cy="365760"/>
          </a:xfrm>
          <a:prstGeom prst="rect">
            <a:avLst/>
          </a:prstGeom>
          <a:noFill/>
          <a:ln/>
        </p:spPr>
        <p:txBody>
          <a:bodyPr wrap="square" lIns="0" tIns="0" rIns="0" bIns="0" rtlCol="0" anchor="ctr"/>
          <a:lstStyle/>
          <a:p>
            <a:pPr marL="0" indent="0" algn="l">
              <a:buNone/>
            </a:pPr>
            <a:r>
              <a:rPr lang="en-US" sz="1500" i="1" dirty="0">
                <a:solidFill>
                  <a:srgbClr val="CCCCCC"/>
                </a:solidFill>
                <a:latin typeface="Calibri" pitchFamily="34" charset="0"/>
                <a:ea typeface="Calibri" pitchFamily="34" charset="-122"/>
                <a:cs typeface="Calibri" pitchFamily="34" charset="-120"/>
              </a:rPr>
              <a:t>AI-Powered Branch Insights for Operations Managers</a:t>
            </a:r>
            <a:endParaRPr lang="en-US" sz="1500" dirty="0"/>
          </a:p>
        </p:txBody>
      </p:sp>
      <p:sp>
        <p:nvSpPr>
          <p:cNvPr id="8" name="Shape 6"/>
          <p:cNvSpPr/>
          <p:nvPr/>
        </p:nvSpPr>
        <p:spPr>
          <a:xfrm>
            <a:off x="320040" y="3566160"/>
            <a:ext cx="5486400" cy="36576"/>
          </a:xfrm>
          <a:prstGeom prst="rect">
            <a:avLst/>
          </a:prstGeom>
          <a:solidFill>
            <a:srgbClr val="DA291C"/>
          </a:solidFill>
          <a:ln w="12700">
            <a:solidFill>
              <a:srgbClr val="DA291C"/>
            </a:solidFill>
            <a:prstDash val="solid"/>
          </a:ln>
        </p:spPr>
        <p:txBody>
          <a:bodyPr/>
          <a:lstStyle/>
          <a:p>
            <a:endParaRPr lang="en-IN"/>
          </a:p>
        </p:txBody>
      </p:sp>
      <p:sp>
        <p:nvSpPr>
          <p:cNvPr id="9" name="Text 7"/>
          <p:cNvSpPr/>
          <p:nvPr/>
        </p:nvSpPr>
        <p:spPr>
          <a:xfrm>
            <a:off x="320040" y="3703320"/>
            <a:ext cx="8503920" cy="914400"/>
          </a:xfrm>
          <a:prstGeom prst="rect">
            <a:avLst/>
          </a:prstGeom>
          <a:noFill/>
          <a:ln/>
        </p:spPr>
        <p:txBody>
          <a:bodyPr wrap="square" lIns="0" tIns="0" rIns="0" bIns="0" rtlCol="0" anchor="ctr"/>
          <a:lstStyle/>
          <a:p>
            <a:pPr marL="0" indent="0" algn="l">
              <a:buNone/>
            </a:pPr>
            <a:r>
              <a:rPr lang="en-US" sz="1200" dirty="0">
                <a:solidFill>
                  <a:srgbClr val="AAAAAA"/>
                </a:solidFill>
                <a:latin typeface="Calibri" pitchFamily="34" charset="0"/>
                <a:ea typeface="Calibri" pitchFamily="34" charset="-122"/>
                <a:cs typeface="Calibri" pitchFamily="34" charset="-120"/>
              </a:rPr>
              <a:t>IS492 — GenAI for Human-AI Collaboration  |  Spring 2026  |  UIUC</a:t>
            </a:r>
            <a:endParaRPr lang="en-US" sz="1200" dirty="0"/>
          </a:p>
          <a:p>
            <a:pPr marL="0" indent="0" algn="l">
              <a:buNone/>
            </a:pPr>
            <a:r>
              <a:rPr lang="en-US" sz="1200" dirty="0">
                <a:solidFill>
                  <a:srgbClr val="AAAAAA"/>
                </a:solidFill>
                <a:latin typeface="Calibri" pitchFamily="34" charset="0"/>
                <a:ea typeface="Calibri" pitchFamily="34" charset="-122"/>
                <a:cs typeface="Calibri" pitchFamily="34" charset="-120"/>
              </a:rPr>
              <a:t>Pranav C  ·  Jeet T  ·  Ashish G</a:t>
            </a:r>
            <a:endParaRPr lang="en-US" sz="1200" dirty="0"/>
          </a:p>
          <a:p>
            <a:r>
              <a:rPr lang="en-US" sz="1200" dirty="0">
                <a:solidFill>
                  <a:srgbClr val="AAAAAA"/>
                </a:solidFill>
                <a:latin typeface="Calibri" pitchFamily="34" charset="0"/>
                <a:ea typeface="Calibri" pitchFamily="34" charset="-122"/>
                <a:cs typeface="Calibri" pitchFamily="34" charset="-120"/>
              </a:rPr>
              <a:t>Live App: </a:t>
            </a:r>
            <a:r>
              <a:rPr lang="en-US" sz="1200" dirty="0">
                <a:solidFill>
                  <a:srgbClr val="AAAAAA"/>
                </a:solidFill>
                <a:latin typeface="Calibri" pitchFamily="34" charset="0"/>
                <a:ea typeface="Calibri" pitchFamily="34" charset="-122"/>
                <a:cs typeface="Calibri" pitchFamily="34" charset="-120"/>
                <a:hlinkClick r:id="rId3"/>
              </a:rPr>
              <a:t>https://mcd-command-centre.streamlit.app</a:t>
            </a:r>
            <a:endParaRPr lang="en-US" sz="1200" dirty="0">
              <a:solidFill>
                <a:srgbClr val="AAAAAA"/>
              </a:solidFill>
              <a:latin typeface="Calibri" pitchFamily="34" charset="0"/>
              <a:ea typeface="Calibri" pitchFamily="34" charset="-122"/>
              <a:cs typeface="Calibri" pitchFamily="34" charset="-120"/>
            </a:endParaRPr>
          </a:p>
          <a:p>
            <a:r>
              <a:rPr lang="en-US" sz="1200" dirty="0">
                <a:solidFill>
                  <a:srgbClr val="AAAAAA"/>
                </a:solidFill>
                <a:latin typeface="Calibri"/>
                <a:ea typeface="Calibri"/>
                <a:cs typeface="Calibri"/>
              </a:rPr>
              <a:t>GitHub: </a:t>
            </a:r>
            <a:r>
              <a:rPr lang="en-US" sz="1200" dirty="0">
                <a:solidFill>
                  <a:srgbClr val="AAAAAA"/>
                </a:solidFill>
                <a:ea typeface="+mn-lt"/>
                <a:cs typeface="+mn-lt"/>
                <a:hlinkClick r:id="rId4"/>
              </a:rPr>
              <a:t>https://</a:t>
            </a:r>
            <a:r>
              <a:rPr lang="en-US" sz="1200" dirty="0" err="1">
                <a:solidFill>
                  <a:srgbClr val="AAAAAA"/>
                </a:solidFill>
                <a:ea typeface="+mn-lt"/>
                <a:cs typeface="+mn-lt"/>
                <a:hlinkClick r:id="rId4"/>
              </a:rPr>
              <a:t>github.com</a:t>
            </a:r>
            <a:r>
              <a:rPr lang="en-US" sz="1200" dirty="0">
                <a:solidFill>
                  <a:srgbClr val="AAAAAA"/>
                </a:solidFill>
                <a:ea typeface="+mn-lt"/>
                <a:cs typeface="+mn-lt"/>
                <a:hlinkClick r:id="rId4"/>
              </a:rPr>
              <a:t>/IS492-SP26/team-project-social-media-command-</a:t>
            </a:r>
            <a:r>
              <a:rPr lang="en-US" sz="1200" dirty="0" err="1">
                <a:solidFill>
                  <a:srgbClr val="AAAAAA"/>
                </a:solidFill>
                <a:ea typeface="+mn-lt"/>
                <a:cs typeface="+mn-lt"/>
                <a:hlinkClick r:id="rId4"/>
              </a:rPr>
              <a:t>centre</a:t>
            </a:r>
            <a:endParaRPr lang="en-US" sz="1200" dirty="0"/>
          </a:p>
        </p:txBody>
      </p:sp>
      <p:sp>
        <p:nvSpPr>
          <p:cNvPr id="10" name="Shape 8"/>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0"/>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pPr marL="0" indent="0" algn="l">
              <a:buNone/>
            </a:pPr>
            <a:r>
              <a:rPr lang="en-US" sz="2800" b="1" dirty="0">
                <a:solidFill>
                  <a:srgbClr val="DA291C"/>
                </a:solidFill>
                <a:latin typeface="Arial Black" pitchFamily="34" charset="0"/>
                <a:ea typeface="Arial Black" pitchFamily="34" charset="-122"/>
                <a:cs typeface="Arial Black" pitchFamily="34" charset="-120"/>
              </a:rPr>
              <a:t>The Problem</a:t>
            </a:r>
            <a:endParaRPr lang="en-US" sz="2800" dirty="0"/>
          </a:p>
        </p:txBody>
      </p:sp>
      <p:sp>
        <p:nvSpPr>
          <p:cNvPr id="5" name="Shape 3"/>
          <p:cNvSpPr/>
          <p:nvPr/>
        </p:nvSpPr>
        <p:spPr>
          <a:xfrm>
            <a:off x="274320" y="822960"/>
            <a:ext cx="4114800" cy="3474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6" name="Shape 4"/>
          <p:cNvSpPr/>
          <p:nvPr/>
        </p:nvSpPr>
        <p:spPr>
          <a:xfrm>
            <a:off x="274320" y="822960"/>
            <a:ext cx="4114800" cy="457200"/>
          </a:xfrm>
          <a:prstGeom prst="rect">
            <a:avLst/>
          </a:prstGeom>
          <a:solidFill>
            <a:srgbClr val="DA291C"/>
          </a:solidFill>
          <a:ln w="12700">
            <a:solidFill>
              <a:srgbClr val="DA291C"/>
            </a:solidFill>
            <a:prstDash val="solid"/>
          </a:ln>
        </p:spPr>
        <p:txBody>
          <a:bodyPr/>
          <a:lstStyle/>
          <a:p>
            <a:endParaRPr lang="en-IN"/>
          </a:p>
        </p:txBody>
      </p:sp>
      <p:sp>
        <p:nvSpPr>
          <p:cNvPr id="7" name="Text 5"/>
          <p:cNvSpPr/>
          <p:nvPr/>
        </p:nvSpPr>
        <p:spPr>
          <a:xfrm>
            <a:off x="320040" y="841248"/>
            <a:ext cx="4023360" cy="42062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Current Reality</a:t>
            </a:r>
            <a:endParaRPr lang="en-US" sz="1300" dirty="0"/>
          </a:p>
        </p:txBody>
      </p:sp>
      <p:sp>
        <p:nvSpPr>
          <p:cNvPr id="8" name="Text 6"/>
          <p:cNvSpPr/>
          <p:nvPr/>
        </p:nvSpPr>
        <p:spPr>
          <a:xfrm>
            <a:off x="411480" y="1371600"/>
            <a:ext cx="3840480" cy="2834640"/>
          </a:xfrm>
          <a:prstGeom prst="rect">
            <a:avLst/>
          </a:prstGeom>
          <a:noFill/>
          <a:ln/>
        </p:spPr>
        <p:txBody>
          <a:bodyPr wrap="square" rtlCol="0" anchor="ctr"/>
          <a:lstStyle/>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32,736 customer reviews go largely unread</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Managers rely on star ratings alone — miss real issues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No way to quickly surface urgent problems by branch</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Traditional NLP gives scores, not actions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No tool generates staff-ready communications</a:t>
            </a:r>
            <a:endParaRPr lang="en-US" sz="1200" dirty="0"/>
          </a:p>
        </p:txBody>
      </p:sp>
      <p:sp>
        <p:nvSpPr>
          <p:cNvPr id="9" name="Shape 7"/>
          <p:cNvSpPr/>
          <p:nvPr/>
        </p:nvSpPr>
        <p:spPr>
          <a:xfrm>
            <a:off x="4663440" y="822960"/>
            <a:ext cx="4114800" cy="3474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4663440" y="822960"/>
            <a:ext cx="4114800" cy="457200"/>
          </a:xfrm>
          <a:prstGeom prst="rect">
            <a:avLst/>
          </a:prstGeom>
          <a:solidFill>
            <a:srgbClr val="1A7A3F"/>
          </a:solidFill>
          <a:ln w="12700">
            <a:solidFill>
              <a:srgbClr val="1A7A3F"/>
            </a:solidFill>
            <a:prstDash val="solid"/>
          </a:ln>
        </p:spPr>
        <p:txBody>
          <a:bodyPr/>
          <a:lstStyle/>
          <a:p>
            <a:endParaRPr lang="en-IN"/>
          </a:p>
        </p:txBody>
      </p:sp>
      <p:sp>
        <p:nvSpPr>
          <p:cNvPr id="11" name="Text 9"/>
          <p:cNvSpPr/>
          <p:nvPr/>
        </p:nvSpPr>
        <p:spPr>
          <a:xfrm>
            <a:off x="4709160" y="841248"/>
            <a:ext cx="4023360" cy="420624"/>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Our Solution</a:t>
            </a:r>
            <a:endParaRPr lang="en-US" sz="1300" dirty="0"/>
          </a:p>
        </p:txBody>
      </p:sp>
      <p:sp>
        <p:nvSpPr>
          <p:cNvPr id="12" name="Text 10"/>
          <p:cNvSpPr/>
          <p:nvPr/>
        </p:nvSpPr>
        <p:spPr>
          <a:xfrm>
            <a:off x="4754880" y="1371600"/>
            <a:ext cx="3840480" cy="2834640"/>
          </a:xfrm>
          <a:prstGeom prst="rect">
            <a:avLst/>
          </a:prstGeom>
          <a:noFill/>
          <a:ln/>
        </p:spPr>
        <p:txBody>
          <a:bodyPr wrap="square" rtlCol="0" anchor="ctr"/>
          <a:lstStyle/>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AI Co-Pilot that reads reviews and generates insights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Branch-level health overview — worst locations first</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Plain-English summary + 3 prioritized action items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Evidence-grounded — cites real review quotes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One-click staff briefing memo ready to send</a:t>
            </a:r>
            <a:endParaRPr lang="en-US" sz="1200" dirty="0"/>
          </a:p>
        </p:txBody>
      </p:sp>
      <p:sp>
        <p:nvSpPr>
          <p:cNvPr id="13" name="Text 11"/>
          <p:cNvSpPr/>
          <p:nvPr/>
        </p:nvSpPr>
        <p:spPr>
          <a:xfrm>
            <a:off x="274320" y="4434840"/>
            <a:ext cx="8503920" cy="320040"/>
          </a:xfrm>
          <a:prstGeom prst="rect">
            <a:avLst/>
          </a:prstGeom>
          <a:noFill/>
          <a:ln/>
        </p:spPr>
        <p:txBody>
          <a:bodyPr wrap="square" lIns="0" tIns="0" rIns="0" bIns="0" rtlCol="0" anchor="ctr"/>
          <a:lstStyle/>
          <a:p>
            <a:pPr marL="0" indent="0" algn="l">
              <a:buNone/>
            </a:pPr>
            <a:r>
              <a:rPr lang="en-US" sz="1100" i="1" dirty="0">
                <a:solidFill>
                  <a:srgbClr val="6B6B6B"/>
                </a:solidFill>
                <a:latin typeface="Calibri" pitchFamily="34" charset="0"/>
                <a:ea typeface="Calibri" pitchFamily="34" charset="-122"/>
                <a:cs typeface="Calibri" pitchFamily="34" charset="-120"/>
              </a:rPr>
              <a:t>Target Users: McDonald's area managers &amp; regional operations leads</a:t>
            </a:r>
            <a:endParaRPr lang="en-US" sz="1100" dirty="0"/>
          </a:p>
        </p:txBody>
      </p:sp>
      <p:sp>
        <p:nvSpPr>
          <p:cNvPr id="14" name="Shape 12"/>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8F0"/>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pPr marL="0" indent="0" algn="l">
              <a:buNone/>
            </a:pPr>
            <a:r>
              <a:rPr lang="en-US" sz="2800" b="1" dirty="0">
                <a:solidFill>
                  <a:srgbClr val="DA291C"/>
                </a:solidFill>
                <a:latin typeface="Arial Black" pitchFamily="34" charset="0"/>
                <a:ea typeface="Arial Black" pitchFamily="34" charset="-122"/>
                <a:cs typeface="Arial Black" pitchFamily="34" charset="-120"/>
              </a:rPr>
              <a:t>Live Demo</a:t>
            </a:r>
            <a:endParaRPr lang="en-US" sz="2800" dirty="0"/>
          </a:p>
        </p:txBody>
      </p:sp>
      <p:sp>
        <p:nvSpPr>
          <p:cNvPr id="5" name="Shape 3"/>
          <p:cNvSpPr/>
          <p:nvPr/>
        </p:nvSpPr>
        <p:spPr>
          <a:xfrm>
            <a:off x="274320" y="822960"/>
            <a:ext cx="4023360" cy="39319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6" name="Shape 4"/>
          <p:cNvSpPr/>
          <p:nvPr/>
        </p:nvSpPr>
        <p:spPr>
          <a:xfrm>
            <a:off x="274320" y="822960"/>
            <a:ext cx="4023360" cy="502920"/>
          </a:xfrm>
          <a:prstGeom prst="rect">
            <a:avLst/>
          </a:prstGeom>
          <a:solidFill>
            <a:srgbClr val="FFC72C"/>
          </a:solidFill>
          <a:ln w="12700">
            <a:solidFill>
              <a:srgbClr val="FFC72C"/>
            </a:solidFill>
            <a:prstDash val="solid"/>
          </a:ln>
        </p:spPr>
        <p:txBody>
          <a:bodyPr/>
          <a:lstStyle/>
          <a:p>
            <a:endParaRPr lang="en-IN"/>
          </a:p>
        </p:txBody>
      </p:sp>
      <p:sp>
        <p:nvSpPr>
          <p:cNvPr id="7" name="Text 5"/>
          <p:cNvSpPr/>
          <p:nvPr/>
        </p:nvSpPr>
        <p:spPr>
          <a:xfrm>
            <a:off x="320040" y="841248"/>
            <a:ext cx="3931920" cy="45720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 Tab 1 — Review Dashboard</a:t>
            </a:r>
            <a:endParaRPr lang="en-US" sz="1200" dirty="0"/>
          </a:p>
        </p:txBody>
      </p:sp>
      <p:sp>
        <p:nvSpPr>
          <p:cNvPr id="8" name="Text 6"/>
          <p:cNvSpPr/>
          <p:nvPr/>
        </p:nvSpPr>
        <p:spPr>
          <a:xfrm>
            <a:off x="411480" y="1417320"/>
            <a:ext cx="3749040" cy="3200400"/>
          </a:xfrm>
          <a:prstGeom prst="rect">
            <a:avLst/>
          </a:prstGeom>
          <a:noFill/>
          <a:ln/>
        </p:spPr>
        <p:txBody>
          <a:bodyPr wrap="square" rtlCol="0" anchor="ctr"/>
          <a:lstStyle/>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32,736 reviews from Kaggle dataset</a:t>
            </a:r>
            <a:endParaRPr lang="en-US" sz="1200" dirty="0"/>
          </a:p>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Rating distribution across all branches</a:t>
            </a:r>
            <a:endParaRPr lang="en-US" sz="1200" dirty="0"/>
          </a:p>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Top 10 cities by review volume</a:t>
            </a:r>
            <a:endParaRPr lang="en-US" sz="1200" dirty="0"/>
          </a:p>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Best &amp; worst performing branches chart</a:t>
            </a:r>
            <a:endParaRPr lang="en-US" sz="1200" dirty="0"/>
          </a:p>
          <a:p>
            <a:pPr marL="342900" indent="-342900">
              <a:spcAft>
                <a:spcPts val="800"/>
              </a:spcAft>
              <a:buSzPct val="100000"/>
              <a:buChar char="•"/>
            </a:pPr>
            <a:r>
              <a:rPr lang="en-US" sz="1200" dirty="0">
                <a:solidFill>
                  <a:srgbClr val="1A1A1A"/>
                </a:solidFill>
                <a:latin typeface="Calibri" pitchFamily="34" charset="0"/>
                <a:ea typeface="Calibri" pitchFamily="34" charset="-122"/>
                <a:cs typeface="Calibri" pitchFamily="34" charset="-120"/>
              </a:rPr>
              <a:t>Filter by city — all charts update live</a:t>
            </a:r>
            <a:endParaRPr lang="en-US" sz="1200" dirty="0"/>
          </a:p>
        </p:txBody>
      </p:sp>
      <p:sp>
        <p:nvSpPr>
          <p:cNvPr id="9" name="Shape 7"/>
          <p:cNvSpPr/>
          <p:nvPr/>
        </p:nvSpPr>
        <p:spPr>
          <a:xfrm>
            <a:off x="4572000" y="822960"/>
            <a:ext cx="4206240" cy="39319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4572000" y="822960"/>
            <a:ext cx="4206240" cy="502920"/>
          </a:xfrm>
          <a:prstGeom prst="rect">
            <a:avLst/>
          </a:prstGeom>
          <a:solidFill>
            <a:srgbClr val="DA291C"/>
          </a:solidFill>
          <a:ln w="12700">
            <a:solidFill>
              <a:srgbClr val="DA291C"/>
            </a:solidFill>
            <a:prstDash val="solid"/>
          </a:ln>
        </p:spPr>
        <p:txBody>
          <a:bodyPr/>
          <a:lstStyle/>
          <a:p>
            <a:endParaRPr lang="en-IN"/>
          </a:p>
        </p:txBody>
      </p:sp>
      <p:sp>
        <p:nvSpPr>
          <p:cNvPr id="11" name="Text 9"/>
          <p:cNvSpPr/>
          <p:nvPr/>
        </p:nvSpPr>
        <p:spPr>
          <a:xfrm>
            <a:off x="4617720" y="841248"/>
            <a:ext cx="411480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Tab 2 — AI Manager Co-Pilot</a:t>
            </a:r>
            <a:endParaRPr lang="en-US" sz="1200" dirty="0"/>
          </a:p>
        </p:txBody>
      </p:sp>
      <p:sp>
        <p:nvSpPr>
          <p:cNvPr id="12" name="Text 10"/>
          <p:cNvSpPr/>
          <p:nvPr/>
        </p:nvSpPr>
        <p:spPr>
          <a:xfrm>
            <a:off x="4663440" y="1417320"/>
            <a:ext cx="3931920" cy="3200400"/>
          </a:xfrm>
          <a:prstGeom prst="rect">
            <a:avLst/>
          </a:prstGeom>
          <a:noFill/>
          <a:ln/>
        </p:spPr>
        <p:txBody>
          <a:bodyPr wrap="square" rtlCol="0" anchor="ctr"/>
          <a:lstStyle/>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Branch health table — worst locations first</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Select branch + time range → Generate Insights</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Claude reads top 20 reviews, generates:</a:t>
            </a:r>
            <a:endParaRPr lang="en-US" sz="1200" dirty="0"/>
          </a:p>
          <a:p>
            <a:pPr marL="685800" lvl="1"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SUMMARY of main issues</a:t>
            </a:r>
            <a:endParaRPr lang="en-US" sz="1200" dirty="0"/>
          </a:p>
          <a:p>
            <a:pPr marL="685800" lvl="1"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3 ACTION ITEMS with review evidence</a:t>
            </a:r>
            <a:endParaRPr lang="en-US" sz="1200" dirty="0"/>
          </a:p>
          <a:p>
            <a:pPr marL="685800" lvl="1"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STAFF BRIEFING memo</a:t>
            </a:r>
            <a:endParaRPr lang="en-US" sz="1200" dirty="0"/>
          </a:p>
          <a:p>
            <a:pPr marL="342900" indent="-342900">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Download memo as .txt file</a:t>
            </a:r>
            <a:endParaRPr lang="en-US" sz="1200" dirty="0"/>
          </a:p>
        </p:txBody>
      </p:sp>
      <p:sp>
        <p:nvSpPr>
          <p:cNvPr id="13" name="Shape 11"/>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0"/>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pPr marL="0" indent="0" algn="l">
              <a:buNone/>
            </a:pPr>
            <a:r>
              <a:rPr lang="en-US" sz="2400" b="1" dirty="0">
                <a:solidFill>
                  <a:srgbClr val="DA291C"/>
                </a:solidFill>
                <a:latin typeface="Arial Black" pitchFamily="34" charset="0"/>
                <a:ea typeface="Arial Black" pitchFamily="34" charset="-122"/>
                <a:cs typeface="Arial Black" pitchFamily="34" charset="-120"/>
              </a:rPr>
              <a:t>Design Decisions &amp; Challenges</a:t>
            </a:r>
            <a:endParaRPr lang="en-US" sz="2400" dirty="0"/>
          </a:p>
        </p:txBody>
      </p:sp>
      <p:sp>
        <p:nvSpPr>
          <p:cNvPr id="5" name="Shape 3"/>
          <p:cNvSpPr/>
          <p:nvPr/>
        </p:nvSpPr>
        <p:spPr>
          <a:xfrm>
            <a:off x="274320" y="822960"/>
            <a:ext cx="4114800" cy="182880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6" name="Shape 4"/>
          <p:cNvSpPr/>
          <p:nvPr/>
        </p:nvSpPr>
        <p:spPr>
          <a:xfrm>
            <a:off x="274320" y="822960"/>
            <a:ext cx="4114800" cy="411480"/>
          </a:xfrm>
          <a:prstGeom prst="rect">
            <a:avLst/>
          </a:prstGeom>
          <a:solidFill>
            <a:srgbClr val="DA291C"/>
          </a:solidFill>
          <a:ln w="12700">
            <a:solidFill>
              <a:srgbClr val="DA291C"/>
            </a:solidFill>
            <a:prstDash val="solid"/>
          </a:ln>
        </p:spPr>
        <p:txBody>
          <a:bodyPr/>
          <a:lstStyle/>
          <a:p>
            <a:endParaRPr lang="en-IN"/>
          </a:p>
        </p:txBody>
      </p:sp>
      <p:sp>
        <p:nvSpPr>
          <p:cNvPr id="7" name="Text 5"/>
          <p:cNvSpPr/>
          <p:nvPr/>
        </p:nvSpPr>
        <p:spPr>
          <a:xfrm>
            <a:off x="320040" y="841248"/>
            <a:ext cx="4023360" cy="384048"/>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Model: Claude Haiku</a:t>
            </a:r>
            <a:endParaRPr lang="en-US" sz="1200" dirty="0"/>
          </a:p>
        </p:txBody>
      </p:sp>
      <p:sp>
        <p:nvSpPr>
          <p:cNvPr id="8" name="Text 6"/>
          <p:cNvSpPr/>
          <p:nvPr/>
        </p:nvSpPr>
        <p:spPr>
          <a:xfrm>
            <a:off x="365760" y="1298448"/>
            <a:ext cx="3931920" cy="1261872"/>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Switched from local Llama3 (4.7GB, timeout issues on GTX 1650) to Anthropic Claude API. Haiku is fast, cheap (~$0.001/call), and produces high-quality structured output reliably.</a:t>
            </a:r>
            <a:endParaRPr lang="en-US" sz="1100" dirty="0"/>
          </a:p>
        </p:txBody>
      </p:sp>
      <p:sp>
        <p:nvSpPr>
          <p:cNvPr id="9" name="Shape 7"/>
          <p:cNvSpPr/>
          <p:nvPr/>
        </p:nvSpPr>
        <p:spPr>
          <a:xfrm>
            <a:off x="4663440" y="822960"/>
            <a:ext cx="4114800" cy="182880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0" name="Shape 8"/>
          <p:cNvSpPr/>
          <p:nvPr/>
        </p:nvSpPr>
        <p:spPr>
          <a:xfrm>
            <a:off x="4663440" y="822960"/>
            <a:ext cx="4114800" cy="411480"/>
          </a:xfrm>
          <a:prstGeom prst="rect">
            <a:avLst/>
          </a:prstGeom>
          <a:solidFill>
            <a:srgbClr val="1A5F9E"/>
          </a:solidFill>
          <a:ln w="12700">
            <a:solidFill>
              <a:srgbClr val="1A5F9E"/>
            </a:solidFill>
            <a:prstDash val="solid"/>
          </a:ln>
        </p:spPr>
        <p:txBody>
          <a:bodyPr/>
          <a:lstStyle/>
          <a:p>
            <a:endParaRPr lang="en-IN"/>
          </a:p>
        </p:txBody>
      </p:sp>
      <p:sp>
        <p:nvSpPr>
          <p:cNvPr id="11" name="Text 9"/>
          <p:cNvSpPr/>
          <p:nvPr/>
        </p:nvSpPr>
        <p:spPr>
          <a:xfrm>
            <a:off x="4709160" y="841248"/>
            <a:ext cx="4023360" cy="384048"/>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Branch vs City Level</a:t>
            </a:r>
            <a:endParaRPr lang="en-US" sz="1200" dirty="0"/>
          </a:p>
        </p:txBody>
      </p:sp>
      <p:sp>
        <p:nvSpPr>
          <p:cNvPr id="12" name="Text 10"/>
          <p:cNvSpPr/>
          <p:nvPr/>
        </p:nvSpPr>
        <p:spPr>
          <a:xfrm>
            <a:off x="4754880" y="1298448"/>
            <a:ext cx="3931920" cy="1261872"/>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Professor feedback: city-level was too broad. Switched filter to street address (branch). Managers care about specific locations, not entire cities.</a:t>
            </a:r>
            <a:endParaRPr lang="en-US" sz="1100" dirty="0"/>
          </a:p>
        </p:txBody>
      </p:sp>
      <p:sp>
        <p:nvSpPr>
          <p:cNvPr id="13" name="Shape 11"/>
          <p:cNvSpPr/>
          <p:nvPr/>
        </p:nvSpPr>
        <p:spPr>
          <a:xfrm>
            <a:off x="274320" y="2788920"/>
            <a:ext cx="4114800" cy="182880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4" name="Shape 12"/>
          <p:cNvSpPr/>
          <p:nvPr/>
        </p:nvSpPr>
        <p:spPr>
          <a:xfrm>
            <a:off x="274320" y="2788920"/>
            <a:ext cx="4114800" cy="411480"/>
          </a:xfrm>
          <a:prstGeom prst="rect">
            <a:avLst/>
          </a:prstGeom>
          <a:solidFill>
            <a:srgbClr val="1A7A3F"/>
          </a:solidFill>
          <a:ln w="12700">
            <a:solidFill>
              <a:srgbClr val="1A7A3F"/>
            </a:solidFill>
            <a:prstDash val="solid"/>
          </a:ln>
        </p:spPr>
        <p:txBody>
          <a:bodyPr/>
          <a:lstStyle/>
          <a:p>
            <a:endParaRPr lang="en-IN"/>
          </a:p>
        </p:txBody>
      </p:sp>
      <p:sp>
        <p:nvSpPr>
          <p:cNvPr id="15" name="Text 13"/>
          <p:cNvSpPr/>
          <p:nvPr/>
        </p:nvSpPr>
        <p:spPr>
          <a:xfrm>
            <a:off x="320040" y="2807208"/>
            <a:ext cx="4023360" cy="384048"/>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Prompt Engineering</a:t>
            </a:r>
            <a:endParaRPr lang="en-US" sz="1200" dirty="0"/>
          </a:p>
        </p:txBody>
      </p:sp>
      <p:sp>
        <p:nvSpPr>
          <p:cNvPr id="16" name="Text 14"/>
          <p:cNvSpPr/>
          <p:nvPr/>
        </p:nvSpPr>
        <p:spPr>
          <a:xfrm>
            <a:off x="365760" y="3264408"/>
            <a:ext cx="3931920" cy="1261872"/>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System prompt strictly grounds LLM in actual review text — prevents hallucination. Forces 3-section output: SUMMARY / ACTION ITEMS / STAFF BRIEFING. Evidence must be quoted.</a:t>
            </a:r>
            <a:endParaRPr lang="en-US" sz="1100" dirty="0"/>
          </a:p>
        </p:txBody>
      </p:sp>
      <p:sp>
        <p:nvSpPr>
          <p:cNvPr id="17" name="Shape 15"/>
          <p:cNvSpPr/>
          <p:nvPr/>
        </p:nvSpPr>
        <p:spPr>
          <a:xfrm>
            <a:off x="4663440" y="2788920"/>
            <a:ext cx="4114800" cy="182880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8" name="Shape 16"/>
          <p:cNvSpPr/>
          <p:nvPr/>
        </p:nvSpPr>
        <p:spPr>
          <a:xfrm>
            <a:off x="4663440" y="2788920"/>
            <a:ext cx="4114800" cy="411480"/>
          </a:xfrm>
          <a:prstGeom prst="rect">
            <a:avLst/>
          </a:prstGeom>
          <a:solidFill>
            <a:srgbClr val="7A4A1A"/>
          </a:solidFill>
          <a:ln w="12700">
            <a:solidFill>
              <a:srgbClr val="7A4A1A"/>
            </a:solidFill>
            <a:prstDash val="solid"/>
          </a:ln>
        </p:spPr>
        <p:txBody>
          <a:bodyPr/>
          <a:lstStyle/>
          <a:p>
            <a:endParaRPr lang="en-IN"/>
          </a:p>
        </p:txBody>
      </p:sp>
      <p:sp>
        <p:nvSpPr>
          <p:cNvPr id="19" name="Text 17"/>
          <p:cNvSpPr/>
          <p:nvPr/>
        </p:nvSpPr>
        <p:spPr>
          <a:xfrm>
            <a:off x="4709160" y="2807208"/>
            <a:ext cx="4023360" cy="384048"/>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  Observability</a:t>
            </a:r>
            <a:endParaRPr lang="en-US" sz="1200" dirty="0"/>
          </a:p>
        </p:txBody>
      </p:sp>
      <p:sp>
        <p:nvSpPr>
          <p:cNvPr id="20" name="Text 18"/>
          <p:cNvSpPr/>
          <p:nvPr/>
        </p:nvSpPr>
        <p:spPr>
          <a:xfrm>
            <a:off x="4754880" y="3264408"/>
            <a:ext cx="3931920" cy="1261872"/>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Every API call logged to SQLite: timestamp, branch, days_range, num_reviews, response. Enables debugging and usage analysis for CP4 evaluation.</a:t>
            </a:r>
            <a:endParaRPr lang="en-US" sz="1100" dirty="0"/>
          </a:p>
        </p:txBody>
      </p:sp>
      <p:sp>
        <p:nvSpPr>
          <p:cNvPr id="21" name="Shape 19"/>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8F0"/>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pPr marL="0" indent="0" algn="l">
              <a:buNone/>
            </a:pPr>
            <a:r>
              <a:rPr lang="en-US" sz="2600" b="1" dirty="0">
                <a:solidFill>
                  <a:srgbClr val="DA291C"/>
                </a:solidFill>
                <a:latin typeface="Arial Black" pitchFamily="34" charset="0"/>
                <a:ea typeface="Arial Black" pitchFamily="34" charset="-122"/>
                <a:cs typeface="Arial Black" pitchFamily="34" charset="-120"/>
              </a:rPr>
              <a:t>Safety, Privacy &amp; Reliability</a:t>
            </a:r>
            <a:endParaRPr lang="en-US" sz="2600" dirty="0"/>
          </a:p>
        </p:txBody>
      </p:sp>
      <p:sp>
        <p:nvSpPr>
          <p:cNvPr id="5" name="Shape 3"/>
          <p:cNvSpPr/>
          <p:nvPr/>
        </p:nvSpPr>
        <p:spPr>
          <a:xfrm>
            <a:off x="274320" y="822960"/>
            <a:ext cx="4114800" cy="178308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6" name="Text 4"/>
          <p:cNvSpPr/>
          <p:nvPr/>
        </p:nvSpPr>
        <p:spPr>
          <a:xfrm>
            <a:off x="411480" y="960120"/>
            <a:ext cx="3840480" cy="320040"/>
          </a:xfrm>
          <a:prstGeom prst="rect">
            <a:avLst/>
          </a:prstGeom>
          <a:noFill/>
          <a:ln/>
        </p:spPr>
        <p:txBody>
          <a:bodyPr wrap="square" lIns="0" tIns="0" rIns="0" bIns="0" rtlCol="0" anchor="ctr"/>
          <a:lstStyle/>
          <a:p>
            <a:pPr marL="0" indent="0">
              <a:buNone/>
            </a:pPr>
            <a:r>
              <a:rPr lang="en-US" sz="1300" b="1" dirty="0">
                <a:solidFill>
                  <a:srgbClr val="DA291C"/>
                </a:solidFill>
                <a:latin typeface="Calibri" pitchFamily="34" charset="0"/>
                <a:ea typeface="Calibri" pitchFamily="34" charset="-122"/>
                <a:cs typeface="Calibri" pitchFamily="34" charset="-120"/>
              </a:rPr>
              <a:t>🔒  PII Handling</a:t>
            </a:r>
            <a:endParaRPr lang="en-US" sz="1300" dirty="0"/>
          </a:p>
        </p:txBody>
      </p:sp>
      <p:sp>
        <p:nvSpPr>
          <p:cNvPr id="7" name="Shape 5"/>
          <p:cNvSpPr/>
          <p:nvPr/>
        </p:nvSpPr>
        <p:spPr>
          <a:xfrm>
            <a:off x="411480" y="1280160"/>
            <a:ext cx="3840480" cy="18288"/>
          </a:xfrm>
          <a:prstGeom prst="rect">
            <a:avLst/>
          </a:prstGeom>
          <a:solidFill>
            <a:srgbClr val="EEEEEE"/>
          </a:solidFill>
          <a:ln w="12700">
            <a:solidFill>
              <a:srgbClr val="EEEEEE"/>
            </a:solidFill>
            <a:prstDash val="solid"/>
          </a:ln>
        </p:spPr>
        <p:txBody>
          <a:bodyPr/>
          <a:lstStyle/>
          <a:p>
            <a:endParaRPr lang="en-IN"/>
          </a:p>
        </p:txBody>
      </p:sp>
      <p:sp>
        <p:nvSpPr>
          <p:cNvPr id="8" name="Text 6"/>
          <p:cNvSpPr/>
          <p:nvPr/>
        </p:nvSpPr>
        <p:spPr>
          <a:xfrm>
            <a:off x="411480" y="1371600"/>
            <a:ext cx="3840480" cy="1143000"/>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Dataset is public Kaggle data. Only review text + star rating sent to Claude — no names, addresses, reviewer IDs, or coordinates. Non-ASCII characters stripped at load time.</a:t>
            </a:r>
            <a:endParaRPr lang="en-US" sz="1100" dirty="0"/>
          </a:p>
        </p:txBody>
      </p:sp>
      <p:sp>
        <p:nvSpPr>
          <p:cNvPr id="9" name="Shape 7"/>
          <p:cNvSpPr/>
          <p:nvPr/>
        </p:nvSpPr>
        <p:spPr>
          <a:xfrm>
            <a:off x="4663440" y="822960"/>
            <a:ext cx="4114800" cy="178308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0" name="Text 8"/>
          <p:cNvSpPr/>
          <p:nvPr/>
        </p:nvSpPr>
        <p:spPr>
          <a:xfrm>
            <a:off x="4800600" y="960120"/>
            <a:ext cx="3840480" cy="320040"/>
          </a:xfrm>
          <a:prstGeom prst="rect">
            <a:avLst/>
          </a:prstGeom>
          <a:noFill/>
          <a:ln/>
        </p:spPr>
        <p:txBody>
          <a:bodyPr wrap="square" lIns="0" tIns="0" rIns="0" bIns="0" rtlCol="0" anchor="ctr"/>
          <a:lstStyle/>
          <a:p>
            <a:pPr marL="0" indent="0">
              <a:buNone/>
            </a:pPr>
            <a:r>
              <a:rPr lang="en-US" sz="1300" b="1" dirty="0">
                <a:solidFill>
                  <a:srgbClr val="DA291C"/>
                </a:solidFill>
                <a:latin typeface="Calibri" pitchFamily="34" charset="0"/>
                <a:ea typeface="Calibri" pitchFamily="34" charset="-122"/>
                <a:cs typeface="Calibri" pitchFamily="34" charset="-120"/>
              </a:rPr>
              <a:t>⚡  Rate Limiting</a:t>
            </a:r>
            <a:endParaRPr lang="en-US" sz="1300" dirty="0"/>
          </a:p>
        </p:txBody>
      </p:sp>
      <p:sp>
        <p:nvSpPr>
          <p:cNvPr id="11" name="Shape 9"/>
          <p:cNvSpPr/>
          <p:nvPr/>
        </p:nvSpPr>
        <p:spPr>
          <a:xfrm>
            <a:off x="4800600" y="1280160"/>
            <a:ext cx="3840480" cy="18288"/>
          </a:xfrm>
          <a:prstGeom prst="rect">
            <a:avLst/>
          </a:prstGeom>
          <a:solidFill>
            <a:srgbClr val="EEEEEE"/>
          </a:solidFill>
          <a:ln w="12700">
            <a:solidFill>
              <a:srgbClr val="EEEEEE"/>
            </a:solidFill>
            <a:prstDash val="solid"/>
          </a:ln>
        </p:spPr>
        <p:txBody>
          <a:bodyPr/>
          <a:lstStyle/>
          <a:p>
            <a:endParaRPr lang="en-IN"/>
          </a:p>
        </p:txBody>
      </p:sp>
      <p:sp>
        <p:nvSpPr>
          <p:cNvPr id="12" name="Text 10"/>
          <p:cNvSpPr/>
          <p:nvPr/>
        </p:nvSpPr>
        <p:spPr>
          <a:xfrm>
            <a:off x="4800600" y="1371600"/>
            <a:ext cx="3840480" cy="1143000"/>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Maximum 20 reviews per API call. Prevents excessive token usage and keeps response time under 5 seconds. SQLite logs track all calls for cost monitoring.</a:t>
            </a:r>
            <a:endParaRPr lang="en-US" sz="1100" dirty="0"/>
          </a:p>
        </p:txBody>
      </p:sp>
      <p:sp>
        <p:nvSpPr>
          <p:cNvPr id="13" name="Shape 11"/>
          <p:cNvSpPr/>
          <p:nvPr/>
        </p:nvSpPr>
        <p:spPr>
          <a:xfrm>
            <a:off x="274320" y="2834640"/>
            <a:ext cx="4114800" cy="178308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4" name="Text 12"/>
          <p:cNvSpPr/>
          <p:nvPr/>
        </p:nvSpPr>
        <p:spPr>
          <a:xfrm>
            <a:off x="411480" y="2971800"/>
            <a:ext cx="3840480" cy="320040"/>
          </a:xfrm>
          <a:prstGeom prst="rect">
            <a:avLst/>
          </a:prstGeom>
          <a:noFill/>
          <a:ln/>
        </p:spPr>
        <p:txBody>
          <a:bodyPr wrap="square" lIns="0" tIns="0" rIns="0" bIns="0" rtlCol="0" anchor="ctr"/>
          <a:lstStyle/>
          <a:p>
            <a:pPr marL="0" indent="0">
              <a:buNone/>
            </a:pPr>
            <a:r>
              <a:rPr lang="en-US" sz="1300" b="1" dirty="0">
                <a:solidFill>
                  <a:srgbClr val="DA291C"/>
                </a:solidFill>
                <a:latin typeface="Calibri" pitchFamily="34" charset="0"/>
                <a:ea typeface="Calibri" pitchFamily="34" charset="-122"/>
                <a:cs typeface="Calibri" pitchFamily="34" charset="-120"/>
              </a:rPr>
              <a:t>🛡️  Hallucination Prevention</a:t>
            </a:r>
            <a:endParaRPr lang="en-US" sz="1300" dirty="0"/>
          </a:p>
        </p:txBody>
      </p:sp>
      <p:sp>
        <p:nvSpPr>
          <p:cNvPr id="15" name="Shape 13"/>
          <p:cNvSpPr/>
          <p:nvPr/>
        </p:nvSpPr>
        <p:spPr>
          <a:xfrm>
            <a:off x="411480" y="3291840"/>
            <a:ext cx="3840480" cy="18288"/>
          </a:xfrm>
          <a:prstGeom prst="rect">
            <a:avLst/>
          </a:prstGeom>
          <a:solidFill>
            <a:srgbClr val="EEEEEE"/>
          </a:solidFill>
          <a:ln w="12700">
            <a:solidFill>
              <a:srgbClr val="EEEEEE"/>
            </a:solidFill>
            <a:prstDash val="solid"/>
          </a:ln>
        </p:spPr>
        <p:txBody>
          <a:bodyPr/>
          <a:lstStyle/>
          <a:p>
            <a:endParaRPr lang="en-IN"/>
          </a:p>
        </p:txBody>
      </p:sp>
      <p:sp>
        <p:nvSpPr>
          <p:cNvPr id="16" name="Text 14"/>
          <p:cNvSpPr/>
          <p:nvPr/>
        </p:nvSpPr>
        <p:spPr>
          <a:xfrm>
            <a:off x="411480" y="3383280"/>
            <a:ext cx="3840480" cy="1143000"/>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System prompt explicitly forbids the model from inventing problems. Every action item must cite actual review evidence. Model cannot reference issues not present in the provided reviews.</a:t>
            </a:r>
            <a:endParaRPr lang="en-US" sz="1100" dirty="0"/>
          </a:p>
        </p:txBody>
      </p:sp>
      <p:sp>
        <p:nvSpPr>
          <p:cNvPr id="17" name="Shape 15"/>
          <p:cNvSpPr/>
          <p:nvPr/>
        </p:nvSpPr>
        <p:spPr>
          <a:xfrm>
            <a:off x="4663440" y="2834640"/>
            <a:ext cx="4114800" cy="178308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8" name="Text 16"/>
          <p:cNvSpPr/>
          <p:nvPr/>
        </p:nvSpPr>
        <p:spPr>
          <a:xfrm>
            <a:off x="4800600" y="2971800"/>
            <a:ext cx="3840480" cy="320040"/>
          </a:xfrm>
          <a:prstGeom prst="rect">
            <a:avLst/>
          </a:prstGeom>
          <a:noFill/>
          <a:ln/>
        </p:spPr>
        <p:txBody>
          <a:bodyPr wrap="square" lIns="0" tIns="0" rIns="0" bIns="0" rtlCol="0" anchor="ctr"/>
          <a:lstStyle/>
          <a:p>
            <a:pPr marL="0" indent="0">
              <a:buNone/>
            </a:pPr>
            <a:r>
              <a:rPr lang="en-US" sz="1300" b="1" dirty="0">
                <a:solidFill>
                  <a:srgbClr val="DA291C"/>
                </a:solidFill>
                <a:latin typeface="Calibri" pitchFamily="34" charset="0"/>
                <a:ea typeface="Calibri" pitchFamily="34" charset="-122"/>
                <a:cs typeface="Calibri" pitchFamily="34" charset="-120"/>
              </a:rPr>
              <a:t>🔑  Secrets Management</a:t>
            </a:r>
            <a:endParaRPr lang="en-US" sz="1300" dirty="0"/>
          </a:p>
        </p:txBody>
      </p:sp>
      <p:sp>
        <p:nvSpPr>
          <p:cNvPr id="19" name="Shape 17"/>
          <p:cNvSpPr/>
          <p:nvPr/>
        </p:nvSpPr>
        <p:spPr>
          <a:xfrm>
            <a:off x="4800600" y="3291840"/>
            <a:ext cx="3840480" cy="18288"/>
          </a:xfrm>
          <a:prstGeom prst="rect">
            <a:avLst/>
          </a:prstGeom>
          <a:solidFill>
            <a:srgbClr val="EEEEEE"/>
          </a:solidFill>
          <a:ln w="12700">
            <a:solidFill>
              <a:srgbClr val="EEEEEE"/>
            </a:solidFill>
            <a:prstDash val="solid"/>
          </a:ln>
        </p:spPr>
        <p:txBody>
          <a:bodyPr/>
          <a:lstStyle/>
          <a:p>
            <a:endParaRPr lang="en-IN"/>
          </a:p>
        </p:txBody>
      </p:sp>
      <p:sp>
        <p:nvSpPr>
          <p:cNvPr id="20" name="Text 18"/>
          <p:cNvSpPr/>
          <p:nvPr/>
        </p:nvSpPr>
        <p:spPr>
          <a:xfrm>
            <a:off x="4800600" y="3383280"/>
            <a:ext cx="3840480" cy="1143000"/>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API key stored in .env (gitignored). .env.example provided with placeholder only. No secrets committed to GitHub. Kaggle credentials stored in local kaggle.json.</a:t>
            </a:r>
            <a:endParaRPr lang="en-US" sz="1100" dirty="0"/>
          </a:p>
        </p:txBody>
      </p:sp>
      <p:sp>
        <p:nvSpPr>
          <p:cNvPr id="21" name="Shape 19"/>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0"/>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pPr marL="0" indent="0" algn="l">
              <a:buNone/>
            </a:pPr>
            <a:r>
              <a:rPr lang="en-US" sz="2600" b="1" dirty="0">
                <a:solidFill>
                  <a:srgbClr val="DA291C"/>
                </a:solidFill>
                <a:latin typeface="Arial Black" pitchFamily="34" charset="0"/>
                <a:ea typeface="Arial Black" pitchFamily="34" charset="-122"/>
                <a:cs typeface="Arial Black" pitchFamily="34" charset="-120"/>
              </a:rPr>
              <a:t>Next Steps — CP4 Evaluation</a:t>
            </a:r>
            <a:endParaRPr lang="en-US" sz="2600" dirty="0"/>
          </a:p>
        </p:txBody>
      </p:sp>
      <p:sp>
        <p:nvSpPr>
          <p:cNvPr id="5" name="Shape 3"/>
          <p:cNvSpPr/>
          <p:nvPr/>
        </p:nvSpPr>
        <p:spPr>
          <a:xfrm>
            <a:off x="274320" y="822960"/>
            <a:ext cx="8503920" cy="137160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6" name="Text 4"/>
          <p:cNvSpPr/>
          <p:nvPr/>
        </p:nvSpPr>
        <p:spPr>
          <a:xfrm>
            <a:off x="411480" y="868680"/>
            <a:ext cx="8229600" cy="320040"/>
          </a:xfrm>
          <a:prstGeom prst="rect">
            <a:avLst/>
          </a:prstGeom>
          <a:noFill/>
          <a:ln/>
        </p:spPr>
        <p:txBody>
          <a:bodyPr wrap="square" lIns="0" tIns="0" rIns="0" bIns="0" rtlCol="0" anchor="ctr"/>
          <a:lstStyle/>
          <a:p>
            <a:pPr marL="0" indent="0">
              <a:buNone/>
            </a:pPr>
            <a:r>
              <a:rPr lang="en-US" sz="1300" b="1" dirty="0">
                <a:solidFill>
                  <a:srgbClr val="DA291C"/>
                </a:solidFill>
                <a:latin typeface="Calibri" pitchFamily="34" charset="0"/>
                <a:ea typeface="Calibri" pitchFamily="34" charset="-122"/>
                <a:cs typeface="Calibri" pitchFamily="34" charset="-120"/>
              </a:rPr>
              <a:t>User Study Design</a:t>
            </a:r>
            <a:endParaRPr lang="en-US" sz="1300" dirty="0"/>
          </a:p>
        </p:txBody>
      </p:sp>
      <p:sp>
        <p:nvSpPr>
          <p:cNvPr id="7" name="Text 5"/>
          <p:cNvSpPr/>
          <p:nvPr/>
        </p:nvSpPr>
        <p:spPr>
          <a:xfrm>
            <a:off x="411480" y="1188720"/>
            <a:ext cx="8229600" cy="914400"/>
          </a:xfrm>
          <a:prstGeom prst="rect">
            <a:avLst/>
          </a:prstGeom>
          <a:noFill/>
          <a:ln/>
        </p:spPr>
        <p:txBody>
          <a:bodyPr wrap="square" rtlCol="0" anchor="t"/>
          <a:lstStyle/>
          <a:p>
            <a:pPr marL="0" indent="0">
              <a:buNone/>
            </a:pPr>
            <a:r>
              <a:rPr lang="en-US" sz="1100" dirty="0">
                <a:solidFill>
                  <a:srgbClr val="1A1A1A"/>
                </a:solidFill>
                <a:latin typeface="Calibri" pitchFamily="34" charset="0"/>
                <a:ea typeface="Calibri" pitchFamily="34" charset="-122"/>
                <a:cs typeface="Calibri" pitchFamily="34" charset="-120"/>
              </a:rPr>
              <a:t>5 classmates act as branch managers. Given a branch with poor ratings, they must identify the top 3 issues and write a staff memo — first without the tool, then with it. We measure: task completion time, issue identification accuracy, and memo quality.</a:t>
            </a:r>
            <a:endParaRPr lang="en-US" sz="1100" dirty="0"/>
          </a:p>
        </p:txBody>
      </p:sp>
      <p:sp>
        <p:nvSpPr>
          <p:cNvPr id="8" name="Shape 6"/>
          <p:cNvSpPr/>
          <p:nvPr/>
        </p:nvSpPr>
        <p:spPr>
          <a:xfrm>
            <a:off x="274320" y="2331720"/>
            <a:ext cx="4114800" cy="1188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9" name="Shape 7"/>
          <p:cNvSpPr/>
          <p:nvPr/>
        </p:nvSpPr>
        <p:spPr>
          <a:xfrm>
            <a:off x="274320" y="2331720"/>
            <a:ext cx="91440" cy="1188720"/>
          </a:xfrm>
          <a:prstGeom prst="rect">
            <a:avLst/>
          </a:prstGeom>
          <a:solidFill>
            <a:srgbClr val="FFC72C"/>
          </a:solidFill>
          <a:ln w="12700">
            <a:solidFill>
              <a:srgbClr val="FFC72C"/>
            </a:solidFill>
            <a:prstDash val="solid"/>
          </a:ln>
        </p:spPr>
        <p:txBody>
          <a:bodyPr/>
          <a:lstStyle/>
          <a:p>
            <a:endParaRPr lang="en-IN"/>
          </a:p>
        </p:txBody>
      </p:sp>
      <p:sp>
        <p:nvSpPr>
          <p:cNvPr id="10" name="Text 8"/>
          <p:cNvSpPr/>
          <p:nvPr/>
        </p:nvSpPr>
        <p:spPr>
          <a:xfrm>
            <a:off x="457200" y="2468880"/>
            <a:ext cx="3840480" cy="32004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  Time Saved</a:t>
            </a:r>
            <a:endParaRPr lang="en-US" sz="1200" dirty="0"/>
          </a:p>
        </p:txBody>
      </p:sp>
      <p:sp>
        <p:nvSpPr>
          <p:cNvPr id="11" name="Text 9"/>
          <p:cNvSpPr/>
          <p:nvPr/>
        </p:nvSpPr>
        <p:spPr>
          <a:xfrm>
            <a:off x="457200" y="2807208"/>
            <a:ext cx="3840480" cy="594360"/>
          </a:xfrm>
          <a:prstGeom prst="rect">
            <a:avLst/>
          </a:prstGeom>
          <a:noFill/>
          <a:ln/>
        </p:spPr>
        <p:txBody>
          <a:bodyPr wrap="square" rtlCol="0" anchor="t"/>
          <a:lstStyle/>
          <a:p>
            <a:pPr marL="0" indent="0">
              <a:buNone/>
            </a:pPr>
            <a:r>
              <a:rPr lang="en-US" sz="1100" dirty="0">
                <a:solidFill>
                  <a:srgbClr val="6B6B6B"/>
                </a:solidFill>
                <a:latin typeface="Calibri" pitchFamily="34" charset="0"/>
                <a:ea typeface="Calibri" pitchFamily="34" charset="-122"/>
                <a:cs typeface="Calibri" pitchFamily="34" charset="-120"/>
              </a:rPr>
              <a:t>Time to identify issues without vs. with tool</a:t>
            </a:r>
            <a:endParaRPr lang="en-US" sz="1100" dirty="0"/>
          </a:p>
        </p:txBody>
      </p:sp>
      <p:sp>
        <p:nvSpPr>
          <p:cNvPr id="12" name="Shape 10"/>
          <p:cNvSpPr/>
          <p:nvPr/>
        </p:nvSpPr>
        <p:spPr>
          <a:xfrm>
            <a:off x="4617720" y="2331720"/>
            <a:ext cx="4114800" cy="1188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3" name="Shape 11"/>
          <p:cNvSpPr/>
          <p:nvPr/>
        </p:nvSpPr>
        <p:spPr>
          <a:xfrm>
            <a:off x="4617720" y="2331720"/>
            <a:ext cx="91440" cy="1188720"/>
          </a:xfrm>
          <a:prstGeom prst="rect">
            <a:avLst/>
          </a:prstGeom>
          <a:solidFill>
            <a:srgbClr val="FFC72C"/>
          </a:solidFill>
          <a:ln w="12700">
            <a:solidFill>
              <a:srgbClr val="FFC72C"/>
            </a:solidFill>
            <a:prstDash val="solid"/>
          </a:ln>
        </p:spPr>
        <p:txBody>
          <a:bodyPr/>
          <a:lstStyle/>
          <a:p>
            <a:endParaRPr lang="en-IN"/>
          </a:p>
        </p:txBody>
      </p:sp>
      <p:sp>
        <p:nvSpPr>
          <p:cNvPr id="14" name="Text 12"/>
          <p:cNvSpPr/>
          <p:nvPr/>
        </p:nvSpPr>
        <p:spPr>
          <a:xfrm>
            <a:off x="4800600" y="2468880"/>
            <a:ext cx="3840480" cy="32004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  Task Success</a:t>
            </a:r>
            <a:endParaRPr lang="en-US" sz="1200" dirty="0"/>
          </a:p>
        </p:txBody>
      </p:sp>
      <p:sp>
        <p:nvSpPr>
          <p:cNvPr id="15" name="Text 13"/>
          <p:cNvSpPr/>
          <p:nvPr/>
        </p:nvSpPr>
        <p:spPr>
          <a:xfrm>
            <a:off x="4800600" y="2807208"/>
            <a:ext cx="3840480" cy="594360"/>
          </a:xfrm>
          <a:prstGeom prst="rect">
            <a:avLst/>
          </a:prstGeom>
          <a:noFill/>
          <a:ln/>
        </p:spPr>
        <p:txBody>
          <a:bodyPr wrap="square" rtlCol="0" anchor="t"/>
          <a:lstStyle/>
          <a:p>
            <a:pPr marL="0" indent="0">
              <a:buNone/>
            </a:pPr>
            <a:r>
              <a:rPr lang="en-US" sz="1100" dirty="0">
                <a:solidFill>
                  <a:srgbClr val="6B6B6B"/>
                </a:solidFill>
                <a:latin typeface="Calibri" pitchFamily="34" charset="0"/>
                <a:ea typeface="Calibri" pitchFamily="34" charset="-122"/>
                <a:cs typeface="Calibri" pitchFamily="34" charset="-120"/>
              </a:rPr>
              <a:t>Did they identify the same issues Claude found?</a:t>
            </a:r>
            <a:endParaRPr lang="en-US" sz="1100" dirty="0"/>
          </a:p>
        </p:txBody>
      </p:sp>
      <p:sp>
        <p:nvSpPr>
          <p:cNvPr id="16" name="Shape 14"/>
          <p:cNvSpPr/>
          <p:nvPr/>
        </p:nvSpPr>
        <p:spPr>
          <a:xfrm>
            <a:off x="274320" y="3657600"/>
            <a:ext cx="4114800" cy="1188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17" name="Shape 15"/>
          <p:cNvSpPr/>
          <p:nvPr/>
        </p:nvSpPr>
        <p:spPr>
          <a:xfrm>
            <a:off x="274320" y="3657600"/>
            <a:ext cx="91440" cy="1188720"/>
          </a:xfrm>
          <a:prstGeom prst="rect">
            <a:avLst/>
          </a:prstGeom>
          <a:solidFill>
            <a:srgbClr val="FFC72C"/>
          </a:solidFill>
          <a:ln w="12700">
            <a:solidFill>
              <a:srgbClr val="FFC72C"/>
            </a:solidFill>
            <a:prstDash val="solid"/>
          </a:ln>
        </p:spPr>
        <p:txBody>
          <a:bodyPr/>
          <a:lstStyle/>
          <a:p>
            <a:endParaRPr lang="en-IN"/>
          </a:p>
        </p:txBody>
      </p:sp>
      <p:sp>
        <p:nvSpPr>
          <p:cNvPr id="18" name="Text 16"/>
          <p:cNvSpPr/>
          <p:nvPr/>
        </p:nvSpPr>
        <p:spPr>
          <a:xfrm>
            <a:off x="457200" y="3794760"/>
            <a:ext cx="3840480" cy="32004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  SUS Score</a:t>
            </a:r>
            <a:endParaRPr lang="en-US" sz="1200" dirty="0"/>
          </a:p>
        </p:txBody>
      </p:sp>
      <p:sp>
        <p:nvSpPr>
          <p:cNvPr id="19" name="Text 17"/>
          <p:cNvSpPr/>
          <p:nvPr/>
        </p:nvSpPr>
        <p:spPr>
          <a:xfrm>
            <a:off x="457200" y="4133088"/>
            <a:ext cx="3840480" cy="594360"/>
          </a:xfrm>
          <a:prstGeom prst="rect">
            <a:avLst/>
          </a:prstGeom>
          <a:noFill/>
          <a:ln/>
        </p:spPr>
        <p:txBody>
          <a:bodyPr wrap="square" rtlCol="0" anchor="t"/>
          <a:lstStyle/>
          <a:p>
            <a:pPr marL="0" indent="0">
              <a:buNone/>
            </a:pPr>
            <a:r>
              <a:rPr lang="en-US" sz="1100" dirty="0">
                <a:solidFill>
                  <a:srgbClr val="6B6B6B"/>
                </a:solidFill>
                <a:latin typeface="Calibri" pitchFamily="34" charset="0"/>
                <a:ea typeface="Calibri" pitchFamily="34" charset="-122"/>
                <a:cs typeface="Calibri" pitchFamily="34" charset="-120"/>
              </a:rPr>
              <a:t>System Usability Scale — 5 question survey</a:t>
            </a:r>
            <a:endParaRPr lang="en-US" sz="1100" dirty="0"/>
          </a:p>
        </p:txBody>
      </p:sp>
      <p:sp>
        <p:nvSpPr>
          <p:cNvPr id="20" name="Shape 18"/>
          <p:cNvSpPr/>
          <p:nvPr/>
        </p:nvSpPr>
        <p:spPr>
          <a:xfrm>
            <a:off x="4617720" y="3657600"/>
            <a:ext cx="4114800" cy="1188720"/>
          </a:xfrm>
          <a:prstGeom prst="rect">
            <a:avLst/>
          </a:prstGeom>
          <a:solidFill>
            <a:srgbClr val="FFFFFF"/>
          </a:solidFill>
          <a:ln w="12700">
            <a:solidFill>
              <a:srgbClr val="EEEEEE"/>
            </a:solidFill>
            <a:prstDash val="solid"/>
          </a:ln>
          <a:effectLst>
            <a:outerShdw blurRad="101600" dist="38100" dir="8100000" algn="bl" rotWithShape="0">
              <a:srgbClr val="000000">
                <a:alpha val="12000"/>
              </a:srgbClr>
            </a:outerShdw>
          </a:effectLst>
        </p:spPr>
        <p:txBody>
          <a:bodyPr/>
          <a:lstStyle/>
          <a:p>
            <a:endParaRPr lang="en-IN"/>
          </a:p>
        </p:txBody>
      </p:sp>
      <p:sp>
        <p:nvSpPr>
          <p:cNvPr id="21" name="Shape 19"/>
          <p:cNvSpPr/>
          <p:nvPr/>
        </p:nvSpPr>
        <p:spPr>
          <a:xfrm>
            <a:off x="4617720" y="3657600"/>
            <a:ext cx="91440" cy="1188720"/>
          </a:xfrm>
          <a:prstGeom prst="rect">
            <a:avLst/>
          </a:prstGeom>
          <a:solidFill>
            <a:srgbClr val="FFC72C"/>
          </a:solidFill>
          <a:ln w="12700">
            <a:solidFill>
              <a:srgbClr val="FFC72C"/>
            </a:solidFill>
            <a:prstDash val="solid"/>
          </a:ln>
        </p:spPr>
        <p:txBody>
          <a:bodyPr/>
          <a:lstStyle/>
          <a:p>
            <a:endParaRPr lang="en-IN"/>
          </a:p>
        </p:txBody>
      </p:sp>
      <p:sp>
        <p:nvSpPr>
          <p:cNvPr id="22" name="Text 20"/>
          <p:cNvSpPr/>
          <p:nvPr/>
        </p:nvSpPr>
        <p:spPr>
          <a:xfrm>
            <a:off x="4800600" y="3794760"/>
            <a:ext cx="3840480" cy="320040"/>
          </a:xfrm>
          <a:prstGeom prst="rect">
            <a:avLst/>
          </a:prstGeom>
          <a:noFill/>
          <a:ln/>
        </p:spPr>
        <p:txBody>
          <a:bodyPr wrap="square" lIns="0" tIns="0" rIns="0" bIns="0" rtlCol="0" anchor="ctr"/>
          <a:lstStyle/>
          <a:p>
            <a:pPr marL="0" indent="0">
              <a:buNone/>
            </a:pPr>
            <a:r>
              <a:rPr lang="en-US" sz="1200" b="1" dirty="0">
                <a:solidFill>
                  <a:srgbClr val="1A1A1A"/>
                </a:solidFill>
                <a:latin typeface="Calibri" pitchFamily="34" charset="0"/>
                <a:ea typeface="Calibri" pitchFamily="34" charset="-122"/>
                <a:cs typeface="Calibri" pitchFamily="34" charset="-120"/>
              </a:rPr>
              <a:t>📝  Memo Quality</a:t>
            </a:r>
            <a:endParaRPr lang="en-US" sz="1200" dirty="0"/>
          </a:p>
        </p:txBody>
      </p:sp>
      <p:sp>
        <p:nvSpPr>
          <p:cNvPr id="23" name="Text 21"/>
          <p:cNvSpPr/>
          <p:nvPr/>
        </p:nvSpPr>
        <p:spPr>
          <a:xfrm>
            <a:off x="4800600" y="4133088"/>
            <a:ext cx="3840480" cy="594360"/>
          </a:xfrm>
          <a:prstGeom prst="rect">
            <a:avLst/>
          </a:prstGeom>
          <a:noFill/>
          <a:ln/>
        </p:spPr>
        <p:txBody>
          <a:bodyPr wrap="square" rtlCol="0" anchor="t"/>
          <a:lstStyle/>
          <a:p>
            <a:pPr marL="0" indent="0">
              <a:buNone/>
            </a:pPr>
            <a:r>
              <a:rPr lang="en-US" sz="1100" dirty="0">
                <a:solidFill>
                  <a:srgbClr val="6B6B6B"/>
                </a:solidFill>
                <a:latin typeface="Calibri" pitchFamily="34" charset="0"/>
                <a:ea typeface="Calibri" pitchFamily="34" charset="-122"/>
                <a:cs typeface="Calibri" pitchFamily="34" charset="-120"/>
              </a:rPr>
              <a:t>Expert rating of memo usefulness (1-5)</a:t>
            </a:r>
            <a:endParaRPr lang="en-US" sz="1100" dirty="0"/>
          </a:p>
        </p:txBody>
      </p:sp>
      <p:sp>
        <p:nvSpPr>
          <p:cNvPr id="24" name="Shape 22"/>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1A"/>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DA291C"/>
          </a:solidFill>
          <a:ln w="12700">
            <a:solidFill>
              <a:srgbClr val="DA291C"/>
            </a:solidFill>
            <a:prstDash val="solid"/>
          </a:ln>
        </p:spPr>
        <p:txBody>
          <a:bodyPr/>
          <a:lstStyle/>
          <a:p>
            <a:endParaRPr lang="en-IN"/>
          </a:p>
        </p:txBody>
      </p:sp>
      <p:sp>
        <p:nvSpPr>
          <p:cNvPr id="3" name="Shape 1"/>
          <p:cNvSpPr/>
          <p:nvPr/>
        </p:nvSpPr>
        <p:spPr>
          <a:xfrm>
            <a:off x="0" y="0"/>
            <a:ext cx="109728" cy="5143500"/>
          </a:xfrm>
          <a:prstGeom prst="rect">
            <a:avLst/>
          </a:prstGeom>
          <a:solidFill>
            <a:srgbClr val="FFC72C"/>
          </a:solidFill>
          <a:ln w="12700">
            <a:solidFill>
              <a:srgbClr val="FFC72C"/>
            </a:solidFill>
            <a:prstDash val="solid"/>
          </a:ln>
        </p:spPr>
        <p:txBody>
          <a:bodyPr/>
          <a:lstStyle/>
          <a:p>
            <a:endParaRPr lang="en-IN"/>
          </a:p>
        </p:txBody>
      </p:sp>
      <p:sp>
        <p:nvSpPr>
          <p:cNvPr id="4" name="Text 2"/>
          <p:cNvSpPr/>
          <p:nvPr/>
        </p:nvSpPr>
        <p:spPr>
          <a:xfrm>
            <a:off x="320040" y="182880"/>
            <a:ext cx="8503920" cy="502920"/>
          </a:xfrm>
          <a:prstGeom prst="rect">
            <a:avLst/>
          </a:prstGeom>
          <a:noFill/>
          <a:ln/>
        </p:spPr>
        <p:txBody>
          <a:bodyPr wrap="square" lIns="0" tIns="0" rIns="0" bIns="0" rtlCol="0" anchor="ctr"/>
          <a:lstStyle/>
          <a:p>
            <a:r>
              <a:rPr lang="en-US" sz="2400" b="1">
                <a:solidFill>
                  <a:srgbClr val="FFC72C"/>
                </a:solidFill>
                <a:latin typeface="Arial Black"/>
                <a:ea typeface="Arial Black" pitchFamily="34" charset="-122"/>
                <a:cs typeface="Arial Black" pitchFamily="34" charset="-120"/>
              </a:rPr>
              <a:t>Appendix — Team Contributions &amp; References</a:t>
            </a:r>
            <a:endParaRPr lang="en-US" sz="2400"/>
          </a:p>
        </p:txBody>
      </p:sp>
      <p:sp>
        <p:nvSpPr>
          <p:cNvPr id="5" name="Shape 3"/>
          <p:cNvSpPr/>
          <p:nvPr/>
        </p:nvSpPr>
        <p:spPr>
          <a:xfrm>
            <a:off x="306669" y="844526"/>
            <a:ext cx="2646153" cy="2128138"/>
          </a:xfrm>
          <a:prstGeom prst="rect">
            <a:avLst/>
          </a:prstGeom>
          <a:solidFill>
            <a:srgbClr val="222222"/>
          </a:solidFill>
          <a:ln w="12700">
            <a:solidFill>
              <a:srgbClr val="333333"/>
            </a:solidFill>
            <a:prstDash val="solid"/>
          </a:ln>
        </p:spPr>
        <p:txBody>
          <a:bodyPr/>
          <a:lstStyle/>
          <a:p>
            <a:endParaRPr lang="en-IN"/>
          </a:p>
        </p:txBody>
      </p:sp>
      <p:sp>
        <p:nvSpPr>
          <p:cNvPr id="6" name="Shape 4"/>
          <p:cNvSpPr/>
          <p:nvPr/>
        </p:nvSpPr>
        <p:spPr>
          <a:xfrm>
            <a:off x="274320" y="822960"/>
            <a:ext cx="2743200" cy="502920"/>
          </a:xfrm>
          <a:prstGeom prst="rect">
            <a:avLst/>
          </a:prstGeom>
          <a:solidFill>
            <a:srgbClr val="DA291C"/>
          </a:solidFill>
          <a:ln w="12700">
            <a:solidFill>
              <a:srgbClr val="DA291C"/>
            </a:solidFill>
            <a:prstDash val="solid"/>
          </a:ln>
        </p:spPr>
        <p:txBody>
          <a:bodyPr/>
          <a:lstStyle/>
          <a:p>
            <a:endParaRPr lang="en-IN" dirty="0"/>
          </a:p>
        </p:txBody>
      </p:sp>
      <p:sp>
        <p:nvSpPr>
          <p:cNvPr id="7" name="Text 5"/>
          <p:cNvSpPr/>
          <p:nvPr/>
        </p:nvSpPr>
        <p:spPr>
          <a:xfrm>
            <a:off x="365760" y="841248"/>
            <a:ext cx="256032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Pranav C</a:t>
            </a:r>
            <a:endParaRPr lang="en-US" sz="1300" dirty="0"/>
          </a:p>
        </p:txBody>
      </p:sp>
      <p:sp>
        <p:nvSpPr>
          <p:cNvPr id="8" name="Text 6"/>
          <p:cNvSpPr/>
          <p:nvPr/>
        </p:nvSpPr>
        <p:spPr>
          <a:xfrm>
            <a:off x="365760" y="1097280"/>
            <a:ext cx="2560320" cy="182880"/>
          </a:xfrm>
          <a:prstGeom prst="rect">
            <a:avLst/>
          </a:prstGeom>
          <a:noFill/>
          <a:ln/>
        </p:spPr>
        <p:txBody>
          <a:bodyPr wrap="square" lIns="0" tIns="0" rIns="0" bIns="0" rtlCol="0" anchor="ctr"/>
          <a:lstStyle/>
          <a:p>
            <a:pPr marL="0" indent="0">
              <a:buNone/>
            </a:pPr>
            <a:r>
              <a:rPr lang="en-US" sz="1000" i="1" dirty="0">
                <a:solidFill>
                  <a:srgbClr val="FFC72C"/>
                </a:solidFill>
                <a:latin typeface="Calibri" pitchFamily="34" charset="0"/>
                <a:ea typeface="Calibri" pitchFamily="34" charset="-122"/>
                <a:cs typeface="Calibri" pitchFamily="34" charset="-120"/>
              </a:rPr>
              <a:t>Backend &amp; AI Integration</a:t>
            </a:r>
            <a:endParaRPr lang="en-US" sz="1000" dirty="0"/>
          </a:p>
        </p:txBody>
      </p:sp>
      <p:sp>
        <p:nvSpPr>
          <p:cNvPr id="9" name="Text 7"/>
          <p:cNvSpPr/>
          <p:nvPr/>
        </p:nvSpPr>
        <p:spPr>
          <a:xfrm>
            <a:off x="311845" y="1277141"/>
            <a:ext cx="2646584" cy="1698541"/>
          </a:xfrm>
          <a:prstGeom prst="rect">
            <a:avLst/>
          </a:prstGeom>
          <a:noFill/>
          <a:ln/>
        </p:spPr>
        <p:txBody>
          <a:bodyPr wrap="square" lIns="91440" tIns="45720" rIns="91440" bIns="45720" rtlCol="0" anchor="t"/>
          <a:lstStyle/>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Architecture design &amp; backend implementation</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Claude API integration &amp; prompt engineering</a:t>
            </a:r>
            <a:endParaRPr lang="en-US" sz="1000" dirty="0"/>
          </a:p>
          <a:p>
            <a:pPr marL="342900" indent="-342900">
              <a:spcAft>
                <a:spcPts val="500"/>
              </a:spcAft>
              <a:buSzPct val="100000"/>
              <a:buFont typeface="Arial"/>
              <a:buChar char="•"/>
            </a:pPr>
            <a:r>
              <a:rPr lang="en-US" sz="1000">
                <a:solidFill>
                  <a:srgbClr val="CCCCCC"/>
                </a:solidFill>
                <a:ea typeface="+mn-lt"/>
                <a:cs typeface="+mn-lt"/>
              </a:rPr>
              <a:t>Single source of truth for data ingestion, cleaning, LLM API calls, and SQLite telemetry logging.</a:t>
            </a:r>
            <a:endParaRPr lang="en-US" sz="1000">
              <a:ea typeface="Calibri" panose="020F0502020204030204"/>
              <a:cs typeface="Calibri" panose="020F0502020204030204"/>
            </a:endParaRPr>
          </a:p>
          <a:p>
            <a:pPr marL="342900" indent="-342900">
              <a:spcAft>
                <a:spcPts val="500"/>
              </a:spcAft>
              <a:buSzPct val="100000"/>
              <a:buChar char="•"/>
            </a:pPr>
            <a:r>
              <a:rPr lang="en-US" sz="1000">
                <a:solidFill>
                  <a:srgbClr val="CCCCCC"/>
                </a:solidFill>
                <a:latin typeface="Calibri"/>
                <a:ea typeface="Calibri"/>
                <a:cs typeface="Calibri"/>
              </a:rPr>
              <a:t>Branch-level filtering,  health overview table and Streamlit deployment</a:t>
            </a:r>
            <a:endParaRPr lang="en-US" sz="1000">
              <a:solidFill>
                <a:srgbClr val="FFFFFF"/>
              </a:solidFill>
              <a:latin typeface="Calibri"/>
              <a:ea typeface="Calibri"/>
              <a:cs typeface="Calibri"/>
            </a:endParaRPr>
          </a:p>
        </p:txBody>
      </p:sp>
      <p:sp>
        <p:nvSpPr>
          <p:cNvPr id="10" name="Shape 8"/>
          <p:cNvSpPr/>
          <p:nvPr/>
        </p:nvSpPr>
        <p:spPr>
          <a:xfrm>
            <a:off x="3259232" y="844526"/>
            <a:ext cx="2581455" cy="2128136"/>
          </a:xfrm>
          <a:prstGeom prst="rect">
            <a:avLst/>
          </a:prstGeom>
          <a:solidFill>
            <a:srgbClr val="222222"/>
          </a:solidFill>
          <a:ln w="12700">
            <a:solidFill>
              <a:srgbClr val="333333"/>
            </a:solidFill>
            <a:prstDash val="solid"/>
          </a:ln>
        </p:spPr>
        <p:txBody>
          <a:bodyPr/>
          <a:lstStyle/>
          <a:p>
            <a:endParaRPr lang="en-IN"/>
          </a:p>
        </p:txBody>
      </p:sp>
      <p:sp>
        <p:nvSpPr>
          <p:cNvPr id="11" name="Shape 9"/>
          <p:cNvSpPr/>
          <p:nvPr/>
        </p:nvSpPr>
        <p:spPr>
          <a:xfrm>
            <a:off x="3172968" y="822960"/>
            <a:ext cx="2743200" cy="502920"/>
          </a:xfrm>
          <a:prstGeom prst="rect">
            <a:avLst/>
          </a:prstGeom>
          <a:solidFill>
            <a:srgbClr val="DA291C"/>
          </a:solidFill>
          <a:ln w="12700">
            <a:solidFill>
              <a:srgbClr val="DA291C"/>
            </a:solidFill>
            <a:prstDash val="solid"/>
          </a:ln>
        </p:spPr>
        <p:txBody>
          <a:bodyPr/>
          <a:lstStyle/>
          <a:p>
            <a:endParaRPr lang="en-IN"/>
          </a:p>
        </p:txBody>
      </p:sp>
      <p:sp>
        <p:nvSpPr>
          <p:cNvPr id="12" name="Text 10"/>
          <p:cNvSpPr/>
          <p:nvPr/>
        </p:nvSpPr>
        <p:spPr>
          <a:xfrm>
            <a:off x="3264408" y="841248"/>
            <a:ext cx="256032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Jeet T</a:t>
            </a:r>
            <a:endParaRPr lang="en-US" sz="1300" dirty="0"/>
          </a:p>
        </p:txBody>
      </p:sp>
      <p:sp>
        <p:nvSpPr>
          <p:cNvPr id="13" name="Text 11"/>
          <p:cNvSpPr/>
          <p:nvPr/>
        </p:nvSpPr>
        <p:spPr>
          <a:xfrm>
            <a:off x="3264408" y="1097280"/>
            <a:ext cx="2560320" cy="182880"/>
          </a:xfrm>
          <a:prstGeom prst="rect">
            <a:avLst/>
          </a:prstGeom>
          <a:noFill/>
          <a:ln/>
        </p:spPr>
        <p:txBody>
          <a:bodyPr wrap="square" lIns="0" tIns="0" rIns="0" bIns="0" rtlCol="0" anchor="ctr"/>
          <a:lstStyle/>
          <a:p>
            <a:pPr marL="0" indent="0">
              <a:buNone/>
            </a:pPr>
            <a:r>
              <a:rPr lang="en-US" sz="1000" i="1" dirty="0">
                <a:solidFill>
                  <a:srgbClr val="FFC72C"/>
                </a:solidFill>
                <a:latin typeface="Calibri" pitchFamily="34" charset="0"/>
                <a:ea typeface="Calibri" pitchFamily="34" charset="-122"/>
                <a:cs typeface="Calibri" pitchFamily="34" charset="-120"/>
              </a:rPr>
              <a:t>Frontend &amp; UI/UX</a:t>
            </a:r>
            <a:endParaRPr lang="en-US" sz="1000" dirty="0"/>
          </a:p>
        </p:txBody>
      </p:sp>
      <p:sp>
        <p:nvSpPr>
          <p:cNvPr id="14" name="Text 12"/>
          <p:cNvSpPr/>
          <p:nvPr/>
        </p:nvSpPr>
        <p:spPr>
          <a:xfrm>
            <a:off x="3285974" y="1352622"/>
            <a:ext cx="2560320" cy="1116258"/>
          </a:xfrm>
          <a:prstGeom prst="rect">
            <a:avLst/>
          </a:prstGeom>
          <a:noFill/>
          <a:ln/>
        </p:spPr>
        <p:txBody>
          <a:bodyPr wrap="square" rtlCol="0" anchor="t"/>
          <a:lstStyle/>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Streamlit app layout and tab structure</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McDonald's themed UI design</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Sidebar filters and interactive controls</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Dashboard charts styling</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Mobile-responsive layout adjustments</a:t>
            </a:r>
            <a:endParaRPr lang="en-US" sz="1000" dirty="0"/>
          </a:p>
        </p:txBody>
      </p:sp>
      <p:sp>
        <p:nvSpPr>
          <p:cNvPr id="15" name="Shape 13"/>
          <p:cNvSpPr/>
          <p:nvPr/>
        </p:nvSpPr>
        <p:spPr>
          <a:xfrm>
            <a:off x="6125531" y="844526"/>
            <a:ext cx="2689285" cy="2128136"/>
          </a:xfrm>
          <a:prstGeom prst="rect">
            <a:avLst/>
          </a:prstGeom>
          <a:solidFill>
            <a:srgbClr val="222222"/>
          </a:solidFill>
          <a:ln w="12700">
            <a:solidFill>
              <a:srgbClr val="333333"/>
            </a:solidFill>
            <a:prstDash val="solid"/>
          </a:ln>
        </p:spPr>
        <p:txBody>
          <a:bodyPr/>
          <a:lstStyle/>
          <a:p>
            <a:endParaRPr lang="en-IN"/>
          </a:p>
        </p:txBody>
      </p:sp>
      <p:sp>
        <p:nvSpPr>
          <p:cNvPr id="16" name="Shape 14"/>
          <p:cNvSpPr/>
          <p:nvPr/>
        </p:nvSpPr>
        <p:spPr>
          <a:xfrm>
            <a:off x="6071616" y="822960"/>
            <a:ext cx="2743200" cy="502920"/>
          </a:xfrm>
          <a:prstGeom prst="rect">
            <a:avLst/>
          </a:prstGeom>
          <a:solidFill>
            <a:srgbClr val="DA291C"/>
          </a:solidFill>
          <a:ln w="12700">
            <a:solidFill>
              <a:srgbClr val="DA291C"/>
            </a:solidFill>
            <a:prstDash val="solid"/>
          </a:ln>
        </p:spPr>
        <p:txBody>
          <a:bodyPr/>
          <a:lstStyle/>
          <a:p>
            <a:endParaRPr lang="en-IN"/>
          </a:p>
        </p:txBody>
      </p:sp>
      <p:sp>
        <p:nvSpPr>
          <p:cNvPr id="17" name="Text 15"/>
          <p:cNvSpPr/>
          <p:nvPr/>
        </p:nvSpPr>
        <p:spPr>
          <a:xfrm>
            <a:off x="6163056" y="841248"/>
            <a:ext cx="2560320" cy="256032"/>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Ashish G</a:t>
            </a:r>
            <a:endParaRPr lang="en-US" sz="1300" dirty="0"/>
          </a:p>
        </p:txBody>
      </p:sp>
      <p:sp>
        <p:nvSpPr>
          <p:cNvPr id="18" name="Text 16"/>
          <p:cNvSpPr/>
          <p:nvPr/>
        </p:nvSpPr>
        <p:spPr>
          <a:xfrm>
            <a:off x="6163056" y="1097280"/>
            <a:ext cx="2560320" cy="182880"/>
          </a:xfrm>
          <a:prstGeom prst="rect">
            <a:avLst/>
          </a:prstGeom>
          <a:noFill/>
          <a:ln/>
        </p:spPr>
        <p:txBody>
          <a:bodyPr wrap="square" lIns="0" tIns="0" rIns="0" bIns="0" rtlCol="0" anchor="ctr"/>
          <a:lstStyle/>
          <a:p>
            <a:pPr marL="0" indent="0">
              <a:buNone/>
            </a:pPr>
            <a:r>
              <a:rPr lang="en-US" sz="1000" i="1" dirty="0">
                <a:solidFill>
                  <a:srgbClr val="FFC72C"/>
                </a:solidFill>
                <a:latin typeface="Calibri" pitchFamily="34" charset="0"/>
                <a:ea typeface="Calibri" pitchFamily="34" charset="-122"/>
                <a:cs typeface="Calibri" pitchFamily="34" charset="-120"/>
              </a:rPr>
              <a:t>Data Engineering &amp; Visualizations</a:t>
            </a:r>
            <a:endParaRPr lang="en-US" sz="1000" dirty="0"/>
          </a:p>
        </p:txBody>
      </p:sp>
      <p:sp>
        <p:nvSpPr>
          <p:cNvPr id="19" name="Text 17"/>
          <p:cNvSpPr/>
          <p:nvPr/>
        </p:nvSpPr>
        <p:spPr>
          <a:xfrm>
            <a:off x="6130707" y="1352622"/>
            <a:ext cx="2592669" cy="1601494"/>
          </a:xfrm>
          <a:prstGeom prst="rect">
            <a:avLst/>
          </a:prstGeom>
          <a:noFill/>
          <a:ln/>
        </p:spPr>
        <p:txBody>
          <a:bodyPr wrap="square" rtlCol="0" anchor="t"/>
          <a:lstStyle/>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EDA and data analysis (notebook)</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Rating distribution &amp; city charts</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Best/worst performing branch charts</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Correlation analysis</a:t>
            </a:r>
            <a:endParaRPr lang="en-US" sz="1000" dirty="0"/>
          </a:p>
          <a:p>
            <a:pPr marL="342900" indent="-342900">
              <a:spcAft>
                <a:spcPts val="500"/>
              </a:spcAft>
              <a:buSzPct val="100000"/>
              <a:buChar char="•"/>
            </a:pPr>
            <a:r>
              <a:rPr lang="en-US" sz="1000" dirty="0">
                <a:solidFill>
                  <a:srgbClr val="CCCCCC"/>
                </a:solidFill>
                <a:latin typeface="Calibri" pitchFamily="34" charset="0"/>
                <a:ea typeface="Calibri" pitchFamily="34" charset="-122"/>
                <a:cs typeface="Calibri" pitchFamily="34" charset="-120"/>
              </a:rPr>
              <a:t>Dataset validation and cleaning logic</a:t>
            </a:r>
            <a:endParaRPr lang="en-US" sz="1000" dirty="0"/>
          </a:p>
        </p:txBody>
      </p:sp>
      <p:sp>
        <p:nvSpPr>
          <p:cNvPr id="20" name="Shape 18"/>
          <p:cNvSpPr/>
          <p:nvPr/>
        </p:nvSpPr>
        <p:spPr>
          <a:xfrm>
            <a:off x="0" y="5074920"/>
            <a:ext cx="9144000" cy="68580"/>
          </a:xfrm>
          <a:prstGeom prst="rect">
            <a:avLst/>
          </a:prstGeom>
          <a:solidFill>
            <a:srgbClr val="FFC72C"/>
          </a:solidFill>
          <a:ln w="12700">
            <a:solidFill>
              <a:srgbClr val="FFC72C"/>
            </a:solidFill>
            <a:prstDash val="solid"/>
          </a:ln>
        </p:spPr>
        <p:txBody>
          <a:bodyPr/>
          <a:lstStyle/>
          <a:p>
            <a:endParaRPr lang="en-IN"/>
          </a:p>
        </p:txBody>
      </p:sp>
      <p:sp>
        <p:nvSpPr>
          <p:cNvPr id="21" name="Shape 8">
            <a:extLst>
              <a:ext uri="{FF2B5EF4-FFF2-40B4-BE49-F238E27FC236}">
                <a16:creationId xmlns:a16="http://schemas.microsoft.com/office/drawing/2014/main" id="{616D523C-0D00-8AD4-B992-6FB439BFF22C}"/>
              </a:ext>
            </a:extLst>
          </p:cNvPr>
          <p:cNvSpPr/>
          <p:nvPr/>
        </p:nvSpPr>
        <p:spPr>
          <a:xfrm>
            <a:off x="326251" y="3443233"/>
            <a:ext cx="8490548" cy="1243929"/>
          </a:xfrm>
          <a:prstGeom prst="rect">
            <a:avLst/>
          </a:prstGeom>
          <a:solidFill>
            <a:srgbClr val="222222"/>
          </a:solidFill>
          <a:ln w="12700">
            <a:solidFill>
              <a:srgbClr val="333333"/>
            </a:solidFill>
            <a:prstDash val="solid"/>
          </a:ln>
        </p:spPr>
        <p:txBody>
          <a:bodyPr lIns="91440" tIns="45720" rIns="91440" bIns="45720" anchor="t"/>
          <a:lstStyle/>
          <a:p>
            <a:r>
              <a:rPr lang="en-US" sz="1000">
                <a:solidFill>
                  <a:schemeClr val="bg1"/>
                </a:solidFill>
              </a:rPr>
              <a:t>[1] A. Katsaros, M. Müller, and R. Peres, "From Reviews to Actionable Insights: An LLM-Based Approach for Attribute and Feature Extraction," </a:t>
            </a:r>
            <a:r>
              <a:rPr lang="en-US" sz="1000" i="1" err="1">
                <a:solidFill>
                  <a:schemeClr val="bg1"/>
                </a:solidFill>
              </a:rPr>
              <a:t>arXiv</a:t>
            </a:r>
            <a:r>
              <a:rPr lang="en-US" sz="1000" i="1">
                <a:solidFill>
                  <a:schemeClr val="bg1"/>
                </a:solidFill>
              </a:rPr>
              <a:t> preprint arXiv:2510.16551</a:t>
            </a:r>
            <a:r>
              <a:rPr lang="en-US" sz="1000">
                <a:solidFill>
                  <a:schemeClr val="bg1"/>
                </a:solidFill>
              </a:rPr>
              <a:t>, Oct. 2025. [Online]. Available: </a:t>
            </a:r>
            <a:r>
              <a:rPr lang="en-US" sz="1000">
                <a:solidFill>
                  <a:schemeClr val="bg1"/>
                </a:solidFill>
                <a:hlinkClick r:id="rId3">
                  <a:extLst>
                    <a:ext uri="{A12FA001-AC4F-418D-AE19-62706E023703}">
                      <ahyp:hlinkClr xmlns:ahyp="http://schemas.microsoft.com/office/drawing/2018/hyperlinkcolor" val="tx"/>
                    </a:ext>
                  </a:extLst>
                </a:hlinkClick>
              </a:rPr>
              <a:t>https://arxiv.org/abs/2510.16551</a:t>
            </a:r>
            <a:endParaRPr lang="en-US" sz="1000">
              <a:solidFill>
                <a:schemeClr val="bg1"/>
              </a:solidFill>
              <a:ea typeface="Calibri"/>
              <a:cs typeface="Calibri"/>
              <a:hlinkClick r:id="" action="ppaction://noaction">
                <a:extLst>
                  <a:ext uri="{A12FA001-AC4F-418D-AE19-62706E023703}">
                    <ahyp:hlinkClr xmlns:ahyp="http://schemas.microsoft.com/office/drawing/2018/hyperlinkcolor" val="tx"/>
                  </a:ext>
                </a:extLst>
              </a:hlinkClick>
            </a:endParaRPr>
          </a:p>
          <a:p>
            <a:endParaRPr lang="en-US" sz="600">
              <a:solidFill>
                <a:schemeClr val="bg1"/>
              </a:solidFill>
              <a:ea typeface="Calibri"/>
              <a:cs typeface="Calibri"/>
            </a:endParaRPr>
          </a:p>
          <a:p>
            <a:r>
              <a:rPr lang="en-US" sz="1000">
                <a:solidFill>
                  <a:schemeClr val="bg1"/>
                </a:solidFill>
              </a:rPr>
              <a:t>[2] G. Cabrio et al., "Do You Actually Need an LLM? Rethinking Language Models for Customer Reviews Analysis," </a:t>
            </a:r>
            <a:r>
              <a:rPr lang="en-US" sz="1000" i="1">
                <a:solidFill>
                  <a:schemeClr val="bg1"/>
                </a:solidFill>
              </a:rPr>
              <a:t>Artificial Intelligence Review</a:t>
            </a:r>
            <a:r>
              <a:rPr lang="en-US" sz="1000">
                <a:solidFill>
                  <a:schemeClr val="bg1"/>
                </a:solidFill>
              </a:rPr>
              <a:t>, vol. 58, 2025. [Online]. Available: </a:t>
            </a:r>
            <a:r>
              <a:rPr lang="en-US" sz="1000">
                <a:solidFill>
                  <a:schemeClr val="bg1"/>
                </a:solidFill>
                <a:hlinkClick r:id="rId4">
                  <a:extLst>
                    <a:ext uri="{A12FA001-AC4F-418D-AE19-62706E023703}">
                      <ahyp:hlinkClr xmlns:ahyp="http://schemas.microsoft.com/office/drawing/2018/hyperlinkcolor" val="tx"/>
                    </a:ext>
                  </a:extLst>
                </a:hlinkClick>
              </a:rPr>
              <a:t>https://doi.org/10.1007/s10462-025-11308-5</a:t>
            </a:r>
            <a:endParaRPr lang="en-US" sz="1000">
              <a:solidFill>
                <a:schemeClr val="bg1"/>
              </a:solidFill>
              <a:ea typeface="Calibri"/>
              <a:cs typeface="Calibri"/>
              <a:hlinkClick r:id="" action="ppaction://noaction">
                <a:extLst>
                  <a:ext uri="{A12FA001-AC4F-418D-AE19-62706E023703}">
                    <ahyp:hlinkClr xmlns:ahyp="http://schemas.microsoft.com/office/drawing/2018/hyperlinkcolor" val="tx"/>
                  </a:ext>
                </a:extLst>
              </a:hlinkClick>
            </a:endParaRPr>
          </a:p>
          <a:p>
            <a:endParaRPr lang="en-US" sz="600">
              <a:solidFill>
                <a:schemeClr val="bg1"/>
              </a:solidFill>
              <a:ea typeface="Calibri"/>
              <a:cs typeface="Calibri"/>
            </a:endParaRPr>
          </a:p>
          <a:p>
            <a:r>
              <a:rPr lang="en-US" sz="1000">
                <a:solidFill>
                  <a:schemeClr val="bg1"/>
                </a:solidFill>
              </a:rPr>
              <a:t>[3] G. </a:t>
            </a:r>
            <a:r>
              <a:rPr lang="en-US" sz="1000" err="1">
                <a:solidFill>
                  <a:schemeClr val="bg1"/>
                </a:solidFill>
              </a:rPr>
              <a:t>Desolda</a:t>
            </a:r>
            <a:r>
              <a:rPr lang="en-US" sz="1000">
                <a:solidFill>
                  <a:schemeClr val="bg1"/>
                </a:solidFill>
              </a:rPr>
              <a:t>, C. Esposito, and M. Matera, "Human-AI Collaboration is Not Very Collaborative Yet: A Taxonomy of Interaction Patterns in AI-Assisted Decision Making from a Systematic Review," </a:t>
            </a:r>
            <a:r>
              <a:rPr lang="en-US" sz="1000" i="1">
                <a:solidFill>
                  <a:schemeClr val="bg1"/>
                </a:solidFill>
              </a:rPr>
              <a:t>Frontiers in Computer Science</a:t>
            </a:r>
            <a:r>
              <a:rPr lang="en-US" sz="1000">
                <a:solidFill>
                  <a:schemeClr val="bg1"/>
                </a:solidFill>
              </a:rPr>
              <a:t>, vol. 6, Jan. 2025. [Online]. Available: </a:t>
            </a:r>
            <a:r>
              <a:rPr lang="en-US" sz="1000">
                <a:solidFill>
                  <a:schemeClr val="bg1"/>
                </a:solidFill>
                <a:hlinkClick r:id="rId5">
                  <a:extLst>
                    <a:ext uri="{A12FA001-AC4F-418D-AE19-62706E023703}">
                      <ahyp:hlinkClr xmlns:ahyp="http://schemas.microsoft.com/office/drawing/2018/hyperlinkcolor" val="tx"/>
                    </a:ext>
                  </a:extLst>
                </a:hlinkClick>
              </a:rPr>
              <a:t>https://doi.org/10.3389/fcomp.2024.1521066</a:t>
            </a:r>
            <a:endParaRPr lang="en-IN" sz="1000">
              <a:solidFill>
                <a:schemeClr val="bg1"/>
              </a:solidFill>
              <a:ea typeface="Calibri"/>
              <a:cs typeface="Calibri"/>
              <a:hlinkClick r:id="rId5">
                <a:extLst>
                  <a:ext uri="{A12FA001-AC4F-418D-AE19-62706E023703}">
                    <ahyp:hlinkClr xmlns:ahyp="http://schemas.microsoft.com/office/drawing/2018/hyperlinkcolor" val="tx"/>
                  </a:ext>
                </a:extLst>
              </a:hlinkClick>
            </a:endParaRPr>
          </a:p>
        </p:txBody>
      </p:sp>
      <p:sp>
        <p:nvSpPr>
          <p:cNvPr id="22" name="Shape 9">
            <a:extLst>
              <a:ext uri="{FF2B5EF4-FFF2-40B4-BE49-F238E27FC236}">
                <a16:creationId xmlns:a16="http://schemas.microsoft.com/office/drawing/2014/main" id="{A102C2FA-DDC4-9CBE-7958-4F469EE0069E}"/>
              </a:ext>
            </a:extLst>
          </p:cNvPr>
          <p:cNvSpPr/>
          <p:nvPr/>
        </p:nvSpPr>
        <p:spPr>
          <a:xfrm>
            <a:off x="315468" y="3173658"/>
            <a:ext cx="8490548" cy="265694"/>
          </a:xfrm>
          <a:prstGeom prst="rect">
            <a:avLst/>
          </a:prstGeom>
          <a:solidFill>
            <a:srgbClr val="DA291C"/>
          </a:solidFill>
          <a:ln w="12700">
            <a:solidFill>
              <a:srgbClr val="DA291C"/>
            </a:solidFill>
            <a:prstDash val="solid"/>
          </a:ln>
        </p:spPr>
        <p:txBody>
          <a:bodyPr/>
          <a:lstStyle/>
          <a:p>
            <a:endParaRPr lang="en-IN"/>
          </a:p>
        </p:txBody>
      </p:sp>
      <p:sp>
        <p:nvSpPr>
          <p:cNvPr id="23" name="Text 10">
            <a:extLst>
              <a:ext uri="{FF2B5EF4-FFF2-40B4-BE49-F238E27FC236}">
                <a16:creationId xmlns:a16="http://schemas.microsoft.com/office/drawing/2014/main" id="{D810A4DA-32D1-61F7-A106-38893C8DBA72}"/>
              </a:ext>
            </a:extLst>
          </p:cNvPr>
          <p:cNvSpPr/>
          <p:nvPr/>
        </p:nvSpPr>
        <p:spPr>
          <a:xfrm>
            <a:off x="396125" y="3181163"/>
            <a:ext cx="2560320" cy="256032"/>
          </a:xfrm>
          <a:prstGeom prst="rect">
            <a:avLst/>
          </a:prstGeom>
          <a:noFill/>
          <a:ln/>
        </p:spPr>
        <p:txBody>
          <a:bodyPr wrap="square" lIns="0" tIns="0" rIns="0" bIns="0" rtlCol="0" anchor="ctr"/>
          <a:lstStyle/>
          <a:p>
            <a:r>
              <a:rPr lang="en-US" sz="1300" b="1">
                <a:solidFill>
                  <a:srgbClr val="FFFFFF"/>
                </a:solidFill>
                <a:latin typeface="Calibri"/>
                <a:ea typeface="Calibri"/>
                <a:cs typeface="Calibri"/>
              </a:rPr>
              <a:t>Research References</a:t>
            </a:r>
            <a:endParaRPr lang="en-US"/>
          </a:p>
        </p:txBody>
      </p:sp>
      <p:sp>
        <p:nvSpPr>
          <p:cNvPr id="25" name="Text 12">
            <a:extLst>
              <a:ext uri="{FF2B5EF4-FFF2-40B4-BE49-F238E27FC236}">
                <a16:creationId xmlns:a16="http://schemas.microsoft.com/office/drawing/2014/main" id="{E6B2A094-BA1B-0932-15C3-BEABF88DBE49}"/>
              </a:ext>
            </a:extLst>
          </p:cNvPr>
          <p:cNvSpPr/>
          <p:nvPr/>
        </p:nvSpPr>
        <p:spPr>
          <a:xfrm>
            <a:off x="3275191" y="3174952"/>
            <a:ext cx="5698178" cy="3402258"/>
          </a:xfrm>
          <a:prstGeom prst="rect">
            <a:avLst/>
          </a:prstGeom>
          <a:noFill/>
          <a:ln/>
        </p:spPr>
        <p:txBody>
          <a:bodyPr wrap="square" lIns="91440" tIns="45720" rIns="91440" bIns="45720" rtlCol="0" anchor="t"/>
          <a:lstStyle/>
          <a:p>
            <a:pPr marL="342900" indent="-342900">
              <a:spcAft>
                <a:spcPts val="500"/>
              </a:spcAft>
              <a:buSzPct val="100000"/>
              <a:buChar char="•"/>
            </a:pPr>
            <a:endParaRPr lang="en-US" sz="1000">
              <a:solidFill>
                <a:srgbClr val="CCCCCC"/>
              </a:solidFill>
              <a:ea typeface="Calibri"/>
              <a:cs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2962</TotalTime>
  <Words>1742</Words>
  <Application>Microsoft Macintosh PowerPoint</Application>
  <PresentationFormat>On-screen Show (16:9)</PresentationFormat>
  <Paragraphs>115</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McDonald's Social Media Command Centre - CP3</dc:title>
  <dc:subject>PptxGenJS Presentation</dc:subject>
  <dc:creator>PptxGenJS</dc:creator>
  <cp:lastModifiedBy>Gole, Ashish Manoj</cp:lastModifiedBy>
  <cp:revision>6</cp:revision>
  <dcterms:created xsi:type="dcterms:W3CDTF">2026-04-07T04:55:56Z</dcterms:created>
  <dcterms:modified xsi:type="dcterms:W3CDTF">2026-04-10T04:43:02Z</dcterms:modified>
</cp:coreProperties>
</file>