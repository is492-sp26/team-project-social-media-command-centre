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AB384D-08DA-9542-B7F9-C863F719D1C2}" v="1" dt="2026-04-30T05:10:58.3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73769"/>
  </p:normalViewPr>
  <p:slideViewPr>
    <p:cSldViewPr snapToGrid="0" snapToObjects="1">
      <p:cViewPr varScale="1">
        <p:scale>
          <a:sx n="119" d="100"/>
          <a:sy n="119" d="100"/>
        </p:scale>
        <p:origin x="16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le, Ashish Manoj" userId="bdcf418b-ae7c-4f6f-a103-cface8a3a225" providerId="ADAL" clId="{D59CF0E0-FC9A-5350-A953-CE752BF71EE1}"/>
    <pc:docChg chg="undo custSel modSld">
      <pc:chgData name="Gole, Ashish Manoj" userId="bdcf418b-ae7c-4f6f-a103-cface8a3a225" providerId="ADAL" clId="{D59CF0E0-FC9A-5350-A953-CE752BF71EE1}" dt="2026-04-30T05:13:27.103" v="87" actId="20577"/>
      <pc:docMkLst>
        <pc:docMk/>
      </pc:docMkLst>
      <pc:sldChg chg="modSp mod">
        <pc:chgData name="Gole, Ashish Manoj" userId="bdcf418b-ae7c-4f6f-a103-cface8a3a225" providerId="ADAL" clId="{D59CF0E0-FC9A-5350-A953-CE752BF71EE1}" dt="2026-04-30T05:13:27.103" v="87" actId="20577"/>
        <pc:sldMkLst>
          <pc:docMk/>
          <pc:sldMk cId="0" sldId="256"/>
        </pc:sldMkLst>
        <pc:spChg chg="mod">
          <ac:chgData name="Gole, Ashish Manoj" userId="bdcf418b-ae7c-4f6f-a103-cface8a3a225" providerId="ADAL" clId="{D59CF0E0-FC9A-5350-A953-CE752BF71EE1}" dt="2026-04-30T05:09:51.946" v="0" actId="1076"/>
          <ac:spMkLst>
            <pc:docMk/>
            <pc:sldMk cId="0" sldId="256"/>
            <ac:spMk id="2" creationId="{00000000-0000-0000-0000-000000000000}"/>
          </ac:spMkLst>
        </pc:spChg>
        <pc:spChg chg="mod">
          <ac:chgData name="Gole, Ashish Manoj" userId="bdcf418b-ae7c-4f6f-a103-cface8a3a225" providerId="ADAL" clId="{D59CF0E0-FC9A-5350-A953-CE752BF71EE1}" dt="2026-04-30T05:13:27.103" v="87" actId="20577"/>
          <ac:spMkLst>
            <pc:docMk/>
            <pc:sldMk cId="0" sldId="256"/>
            <ac:spMk id="21" creationId="{00000000-0000-0000-0000-000000000000}"/>
          </ac:spMkLst>
        </pc:spChg>
      </pc:sldChg>
      <pc:sldChg chg="modSp mod">
        <pc:chgData name="Gole, Ashish Manoj" userId="bdcf418b-ae7c-4f6f-a103-cface8a3a225" providerId="ADAL" clId="{D59CF0E0-FC9A-5350-A953-CE752BF71EE1}" dt="2026-04-30T05:13:00.985" v="72" actId="20577"/>
        <pc:sldMkLst>
          <pc:docMk/>
          <pc:sldMk cId="0" sldId="266"/>
        </pc:sldMkLst>
        <pc:spChg chg="mod">
          <ac:chgData name="Gole, Ashish Manoj" userId="bdcf418b-ae7c-4f6f-a103-cface8a3a225" providerId="ADAL" clId="{D59CF0E0-FC9A-5350-A953-CE752BF71EE1}" dt="2026-04-30T05:13:00.985" v="72" actId="20577"/>
          <ac:spMkLst>
            <pc:docMk/>
            <pc:sldMk cId="0" sldId="266"/>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908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I'm [name], and together with Jeet and Ashish we built the McDonald's Social Media Command Centre for IS492 here at UIUC.
The project tackles a real operational problem: McDonald's branch managers are sitting on tens of thousands of customer reviews and can't read them all. We built a two-tab Streamlit app that visualises branch performance and uses Claude AI to generate ready-to-act management briefs — grounded in actual review evidence.
Today we're presenting our final evaluation results from Checkpoint 4. The live app is at mcd-command-centre.streamlit.app and all code is on GitHub — links are on screen.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in Checkpoint 3 we shipped our full five-feature Streamlit app and completed an 8-week build cycle. Today in CP4 we report on the user evaluation.
Core problem: 32,736 customer reviews sit largely unread. Existing tools compress all that signal into a single star average — which is systematically misleading due to the J-shaped distribution of online reviews.
Our solution: a two-tab app. Tab 1 is a Review Dashboard for visual analytics. Tab 2 is an AI Co-Pilot that reads recent reviews for any branch and returns a grounded management brief with quoted evidence.
Target users: branch managers and regional ops leads who need a weekly operational pulse.
Most rewarding finding: P1 said unprompted — 'If I were a branch manager, I'd run this every Monday before my team huddle.' That validated our entire design direction. And 4 out of 5 users said they'd use the staff briefing in a real operational context.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our method — who we tested with, what tasks we gave them, and how we measured both success and experience.
Participants: 5 people recruited from UIUC. We deliberately recruited a mix — MSIM students, a Business Analytics student, a Data Science student, and an MBA Operations student — to represent the range of people who might use an analytics tool like this. Two had food service experience; three did not.
We ran in-person think-aloud sessions of about 25 minutes each in April 2026.
Seven tasks covered the full user journey: from finding top cities in the dashboard all the way through generating AI insights, downloading the staff briefing, and adjusting the time range to regenerate.
Quantitative metrics: task success rate, assisted rate, failed rate, mean time-on-task, SUS (10-item usability scale), UMUX-Lite (2-item perceived usability), and a custom 5-item AI Trust survey.
Qualitative: think-aloud observation notes, post-task satisfaction, and a debrief interview probing the most and least useful features.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a four-stage in-person study. Here is exactly how each session went:
STEP 1 — Introduction (~5 min): We introduced ourselves, explained the think-aloud method (say everything you're thinking out loud), and made clear there are no right or wrong answers — we're testing the app, not the participant. We obtained verbal consent and answered any setup questions.
STEP 2 — Task Completion (~10 min): Participants used the live Streamlit app on a laptop. We gave them one task card at a time, observed silently, and took notes on hesitations, errors, and any think-aloud commentary. Sessions were screen and audio recorded.
STEP 3 — Survey (~5 min): After completing all 7 tasks, participants filled out: the 10-item SUS scale, the 2-item UMUX-Lite, our custom 5-item AI Trust questionnaire, and an overall satisfaction rating.
STEP 4 — Interview (~5 min): Semi-structured debrief. We asked: What was most useful? What was most frustrating? What would you change? Would you use this in a real role?
All 5 sessions were completed in April 2026 on the UIUC campus.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through the numbers.
Top-line KPIs: 80% overall task success rate across all 7 tasks. SUS score of 75.5 — this falls in the 'Good' band (benchmark is 71). UMUX-Lite was 65.0, slightly below the 70 benchmark, which we'll discuss. AI Trust score was 76%, above our 60% target.
Task breakdown highlights:
— T1 (find most-reviewed city) and T5 (generate AI insights) were perfect 100% success — zero assists, zero failures.
— T3 (city filter) and T4 (navigate to Co-Pilot) had 60% direct success — the two weakest tasks. Both relate to navigation and interaction discoverability, not AI quality.
— T6 (download briefing) was fast at 24 seconds mean — users knew exactly what they wanted once they found it.
— T7 (adjust time range and regenerate) took the longest at 110 seconds but had 80% success — the slider was unfamiliar but learnable.
The UMUX-Lite slightly below benchmark is worth flagging: it measures whether the tool 'meets your needs' and whether it is 'easy to use.' Users scored the 'meets needs' item high but the 'easy to use' item lower — consistent with the navigation discoverability bugs we found. Good outputs, rough interaction vocabulary.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themes came directly from think-aloud observations and debrief interviews.
WHAT WORKED:
1. Evidence-grounded AI outputs: 3 of 5 participants spontaneously commented that seeing the quoted review text alongside each action item made them trust the AI more. P3 said: 'I like that it actually quotes the review in the action item. It feels honest — it's not just making stuff up.' This was our most important design decision — validated.
2. Dashboard clarity: Every single participant understood all four charts without any instruction. Rating distribution, top branches, top cities, worst branches — all self-explanatory. Zero onboarding required.
3. Staff briefing memo: 4 of 5 participants said the ready-to-send staff memo was the feature they'd use most in a real role. P1 specifically described using it on Monday mornings before team huddles.
KEY FRUSTRATIONS:
1. Row-click not discoverable (4/5): The health table rows are clickable and load into the Co-Pilot. Nobody found this. They all reached for the dropdown instead. No hover state, no cursor change, no tooltip — completely invisible affordance.
2. Multiselect deselect-all confusion (3/5): The city filter works by deselecting all to show one city. Counter-intuitive. Users expected a 'Select one city' mode.
3. AI spinner with no time expectation (3/5): The 8-10 second wait while Claude processes reviews caused real anxiety. P5 said it looked like the app had frozen.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these results actually tell us?
FINDING 1 — AI trust is earned through grounding, not labeling:
Users came in skeptical of AI. P4 said he'd trust the summary but would verify action items himself. But by the end of the session, when they saw that each action item quoted the actual review that inspired it, skepticism dropped measurably. The 76% AI trust score — above our 60% success criterion — reflects a design choice, not a model choice. We instructed Claude at the prompt level to never invent complaints absent from the provided reviews. That single constraint changed how users experienced the outputs.
FINDING 2 — Discoverability bugs were hidden behind great content:
Participants in T1 flew through the dashboard — 100% success in 32 seconds. Then T3 hit. Same users, same session, 40% needed assistance on the city filter. The data quality masked the interaction debt. Participants found 4 distinct UX bugs in one 40-minute session — that's a high signal density, and it means our next sprint should be entirely UX-focused.
FINDING 3 — SUS vs. UMUX-Lite gap:
SUS=75.5 is a validated 'Good' rating. But UMUX-Lite=65 is below the 70 acceptable threshold. Both instruments measure usability, but from different angles. SUS correlates with learnability; UMUX-Lite captures fit-to-need. Our tool is learnable — once you understand the interaction model, it works. But the interaction model itself needs to be made more obvious on first contact.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transparent about the boundaries of what this study can and cannot claim.
1. SMALL SAMPLE (N=5): With 5 participants we can identify usability issues — and we found plenty — but we cannot claim statistical significance. These are directional findings. A production evaluation would need 20+ participants, ideally real branch managers, to validate.
2. ECOLOGICAL VALIDITY: Our participants used the app in a quiet lab setting with unlimited time. Real managers are interrupted, stressed, and often accessing tools on mobile between tasks. Lab results will overestimate real-world task success rates. We'd recommend a 2-week diary study for follow-up.
3. MODEL UNPREDICTABILITY: Claude Haiku's outputs are not deterministic. In edge cases — a branch with only one review, non-English reviews, spam — the model may behave inconsistently. We've mitigated this with a 20-review cap and evidence-grounding, but it's not eliminated.
4. PRIVACY &amp; DATA ETHICS: We're careful here. Only review text and star ratings are sent to the API — no reviewer names, no addresses, no IDs. All LLM calls are logged locally in SQLite and never sent anywhere. All 5 study participants gave verbal consent.
5. J-SHAPED BIAS: The Kaggle dataset has a known J-shaped distribution — 1-star and 5-star reviews are over-represented. This means our AI summaries may reflect extreme sentiment more than the median customer experience. Any aggregate averages should be paired with distribution visualizations — which our dashboard provides.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two takeaways and a look forward.
TAKEAWAY 1 — Evidence-grounded AI beats black-box AI for trust:
Every design decision we made — the evidence citations in action items, the 20-review cap, the anti-hallucination prompt — was aimed at this. Users don't want AI to tell them what to do. They want AI to show them what the data says and let them decide. When we did that, trust scores followed.
TAKEAWAY 2 — Human-AI collaboration means the human stays in control:
All 5 users wanted final sign-off. Nobody wanted the app to send the briefing automatically. 4 out of 5 said they'd adopt it precisely because it augments their judgment rather than replacing it. That's the right design philosophy for operational AI tools.
CONTRIBUTION: We've shown that grounding LLM outputs in retrieved evidence — rather than relying on training-time generalisation — is a practical, deployable technique that real users respond to positively. This has implications beyond this tool.
FUTURE IMPROVEMENTS (briefly):
— UX: Row hover tooltips, editable briefing text before download, progress bar with ETA.
— Data: Connect to the real-time Google Maps API, add sentiment trend over time, enable competitor benchmarking.
— AI/Technical: Multi-branch comparison mode, GPT-4o fallback, cost-per-call visibility dashboard.
— Deployment: Auth layer for branch manager accounts, role-based access control, mobile-responsive layout.
[Transition: 'Happy to take questions — we have 2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ACKNOWLEDGMENTS &amp; CONTRIBUTIONS (not presented — for grading only)
TEAM RESPONSIBILITIES:
— Pranav C: Backend architecture, Anthropic Claude API integration, LLM prompt engineering, SQLite logging schema, data_loader.py pipeline.
— Jeet T: Streamlit UI layout, McDonald's CSS theming, insight card HTML rendering, staff briefing download feature.
— Ashish G: Data engineering (Kaggle ingestion, rating parsing, address splitting), Matplotlib/Seaborn charts, branch health table, trend calculation logic, user study logistics and coordination.
— All Members jointly: User study design, survey instruments (SUS, UMUX-Lite, AI Trust), qualitative analysis, CP4 Evaluation.md, and this presentation.
AI TOOLS USED:
— Claude Haiku (claude-haiku-4-5-20251001): Production model inside the SMCC app for all insight generation.
— Anthropic Claude (claude.ai): Used throughout the project for prompt engineering iteration, code debugging assistance, and drafting sections of the CP4 report.
— GitHub Copilot: IDE code suggestions during development. All accepted suggestions were reviewed, tested, and manually validated by the team.
— Streamlit, Kaggle/kagglehub: Standard libraries, no AI involvement.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The live app is running right now at mcd-command-centre.streamlit.app — feel free to try it during Q&amp;A.
We're happy to take questions on any aspect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C72C"/>
        </a:solidFill>
        <a:effectLst/>
      </p:bgPr>
    </p:bg>
    <p:spTree>
      <p:nvGrpSpPr>
        <p:cNvPr id="1" name=""/>
        <p:cNvGrpSpPr/>
        <p:nvPr/>
      </p:nvGrpSpPr>
      <p:grpSpPr>
        <a:xfrm>
          <a:off x="0" y="0"/>
          <a:ext cx="0" cy="0"/>
          <a:chOff x="0" y="0"/>
          <a:chExt cx="0" cy="0"/>
        </a:xfrm>
      </p:grpSpPr>
      <p:sp>
        <p:nvSpPr>
          <p:cNvPr id="2" name="Shape 0"/>
          <p:cNvSpPr/>
          <p:nvPr/>
        </p:nvSpPr>
        <p:spPr>
          <a:xfrm>
            <a:off x="5303520" y="327032"/>
            <a:ext cx="3840480" cy="5143500"/>
          </a:xfrm>
          <a:prstGeom prst="rect">
            <a:avLst/>
          </a:prstGeom>
          <a:solidFill>
            <a:srgbClr val="DA291C"/>
          </a:solidFill>
          <a:ln w="12700">
            <a:solidFill>
              <a:srgbClr val="DA291C"/>
            </a:solidFill>
            <a:prstDash val="solid"/>
          </a:ln>
        </p:spPr>
        <p:txBody>
          <a:bodyPr/>
          <a:lstStyle/>
          <a:p>
            <a:endParaRPr lang="en-US"/>
          </a:p>
        </p:txBody>
      </p:sp>
      <p:sp>
        <p:nvSpPr>
          <p:cNvPr id="3" name="Shape 1"/>
          <p:cNvSpPr/>
          <p:nvPr/>
        </p:nvSpPr>
        <p:spPr>
          <a:xfrm>
            <a:off x="5074920" y="0"/>
            <a:ext cx="475488" cy="5143500"/>
          </a:xfrm>
          <a:prstGeom prst="rect">
            <a:avLst/>
          </a:prstGeom>
          <a:solidFill>
            <a:srgbClr val="FFFFFF"/>
          </a:solidFill>
          <a:ln w="12700">
            <a:solidFill>
              <a:srgbClr val="FFFFF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4114800" y="146304"/>
            <a:ext cx="914400" cy="914400"/>
          </a:xfrm>
          <a:prstGeom prst="rect">
            <a:avLst/>
          </a:prstGeom>
        </p:spPr>
      </p:pic>
      <p:pic>
        <p:nvPicPr>
          <p:cNvPr id="7" name="Image 1" descr="preencoded.png"/>
          <p:cNvPicPr>
            <a:picLocks noChangeAspect="1"/>
          </p:cNvPicPr>
          <p:nvPr/>
        </p:nvPicPr>
        <p:blipFill>
          <a:blip r:embed="rId4"/>
          <a:stretch>
            <a:fillRect/>
          </a:stretch>
        </p:blipFill>
        <p:spPr>
          <a:xfrm>
            <a:off x="7882128" y="4033124"/>
            <a:ext cx="1124712" cy="1124712"/>
          </a:xfrm>
          <a:prstGeom prst="rect">
            <a:avLst/>
          </a:prstGeom>
        </p:spPr>
      </p:pic>
      <p:sp>
        <p:nvSpPr>
          <p:cNvPr id="8" name="Text 4"/>
          <p:cNvSpPr/>
          <p:nvPr/>
        </p:nvSpPr>
        <p:spPr>
          <a:xfrm>
            <a:off x="365760" y="457200"/>
            <a:ext cx="4572000" cy="777240"/>
          </a:xfrm>
          <a:prstGeom prst="rect">
            <a:avLst/>
          </a:prstGeom>
          <a:noFill/>
          <a:ln/>
        </p:spPr>
        <p:txBody>
          <a:bodyPr wrap="square" lIns="0" tIns="0" rIns="0" bIns="0" rtlCol="0" anchor="ctr"/>
          <a:lstStyle/>
          <a:p>
            <a:pPr marL="0" indent="0">
              <a:buNone/>
            </a:pPr>
            <a:r>
              <a:rPr lang="en-US" sz="4400" b="1" dirty="0">
                <a:solidFill>
                  <a:srgbClr val="DA291C"/>
                </a:solidFill>
                <a:latin typeface="Arial Black" pitchFamily="34" charset="0"/>
                <a:ea typeface="Arial Black" pitchFamily="34" charset="-122"/>
                <a:cs typeface="Arial Black" pitchFamily="34" charset="-120"/>
              </a:rPr>
              <a:t>McDonald's</a:t>
            </a:r>
            <a:endParaRPr lang="en-US" sz="4400" dirty="0"/>
          </a:p>
        </p:txBody>
      </p:sp>
      <p:sp>
        <p:nvSpPr>
          <p:cNvPr id="9" name="Text 5"/>
          <p:cNvSpPr/>
          <p:nvPr/>
        </p:nvSpPr>
        <p:spPr>
          <a:xfrm>
            <a:off x="365760" y="1261872"/>
            <a:ext cx="4572000" cy="1234440"/>
          </a:xfrm>
          <a:prstGeom prst="rect">
            <a:avLst/>
          </a:prstGeom>
          <a:noFill/>
          <a:ln/>
        </p:spPr>
        <p:txBody>
          <a:bodyPr wrap="square" lIns="0" tIns="0" rIns="0" bIns="0" rtlCol="0" anchor="ctr"/>
          <a:lstStyle/>
          <a:p>
            <a:pPr marL="0" indent="0">
              <a:buNone/>
            </a:pPr>
            <a:r>
              <a:rPr lang="en-US" sz="2600" b="1" dirty="0">
                <a:solidFill>
                  <a:srgbClr val="1A1A1A"/>
                </a:solidFill>
                <a:latin typeface="Arial Black" pitchFamily="34" charset="0"/>
                <a:ea typeface="Arial Black" pitchFamily="34" charset="-122"/>
                <a:cs typeface="Arial Black" pitchFamily="34" charset="-120"/>
              </a:rPr>
              <a:t>Social Media</a:t>
            </a:r>
            <a:endParaRPr lang="en-US" sz="2600" dirty="0"/>
          </a:p>
          <a:p>
            <a:pPr marL="0" indent="0">
              <a:buNone/>
            </a:pPr>
            <a:r>
              <a:rPr lang="en-US" sz="2600" b="1" dirty="0">
                <a:solidFill>
                  <a:srgbClr val="1A1A1A"/>
                </a:solidFill>
                <a:latin typeface="Arial Black" pitchFamily="34" charset="0"/>
                <a:ea typeface="Arial Black" pitchFamily="34" charset="-122"/>
                <a:cs typeface="Arial Black" pitchFamily="34" charset="-120"/>
              </a:rPr>
              <a:t>Command Centre</a:t>
            </a:r>
            <a:endParaRPr lang="en-US" sz="2600" dirty="0"/>
          </a:p>
        </p:txBody>
      </p:sp>
      <p:sp>
        <p:nvSpPr>
          <p:cNvPr id="10" name="Shape 6"/>
          <p:cNvSpPr/>
          <p:nvPr/>
        </p:nvSpPr>
        <p:spPr>
          <a:xfrm>
            <a:off x="365760" y="2606040"/>
            <a:ext cx="4114800" cy="329184"/>
          </a:xfrm>
          <a:prstGeom prst="rect">
            <a:avLst/>
          </a:prstGeom>
          <a:solidFill>
            <a:srgbClr val="DA291C"/>
          </a:solidFill>
          <a:ln w="12700">
            <a:solidFill>
              <a:srgbClr val="DA291C"/>
            </a:solidFill>
            <a:prstDash val="solid"/>
          </a:ln>
        </p:spPr>
        <p:txBody>
          <a:bodyPr/>
          <a:lstStyle/>
          <a:p>
            <a:endParaRPr lang="en-US"/>
          </a:p>
        </p:txBody>
      </p:sp>
      <p:sp>
        <p:nvSpPr>
          <p:cNvPr id="11" name="Text 7"/>
          <p:cNvSpPr/>
          <p:nvPr/>
        </p:nvSpPr>
        <p:spPr>
          <a:xfrm>
            <a:off x="365760" y="2615184"/>
            <a:ext cx="411480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Checkpoint #4 — Final Evaluation &amp; Findings</a:t>
            </a:r>
            <a:endParaRPr lang="en-US" sz="1100" dirty="0"/>
          </a:p>
        </p:txBody>
      </p:sp>
      <p:sp>
        <p:nvSpPr>
          <p:cNvPr id="12" name="Shape 8"/>
          <p:cNvSpPr/>
          <p:nvPr/>
        </p:nvSpPr>
        <p:spPr>
          <a:xfrm>
            <a:off x="365760" y="3063240"/>
            <a:ext cx="4480560" cy="1371600"/>
          </a:xfrm>
          <a:prstGeom prst="rect">
            <a:avLst/>
          </a:prstGeom>
          <a:solidFill>
            <a:srgbClr val="FFFFFF"/>
          </a:solidFill>
          <a:ln w="19050">
            <a:solidFill>
              <a:srgbClr val="DA291C"/>
            </a:solidFill>
            <a:prstDash val="solid"/>
          </a:ln>
          <a:effectLst>
            <a:outerShdw blurRad="63500" dist="25400" dir="8100000" algn="bl" rotWithShape="0">
              <a:srgbClr val="000000">
                <a:alpha val="12000"/>
              </a:srgbClr>
            </a:outerShdw>
          </a:effectLst>
        </p:spPr>
        <p:txBody>
          <a:bodyPr/>
          <a:lstStyle/>
          <a:p>
            <a:endParaRPr lang="en-US"/>
          </a:p>
        </p:txBody>
      </p:sp>
      <p:sp>
        <p:nvSpPr>
          <p:cNvPr id="13" name="Text 9"/>
          <p:cNvSpPr/>
          <p:nvPr/>
        </p:nvSpPr>
        <p:spPr>
          <a:xfrm>
            <a:off x="548640" y="3127248"/>
            <a:ext cx="914400" cy="256032"/>
          </a:xfrm>
          <a:prstGeom prst="rect">
            <a:avLst/>
          </a:prstGeom>
          <a:noFill/>
          <a:ln/>
        </p:spPr>
        <p:txBody>
          <a:bodyPr wrap="square" lIns="0" tIns="0" rIns="0" bIns="0" rtlCol="0" anchor="ctr"/>
          <a:lstStyle/>
          <a:p>
            <a:pPr marL="0" indent="0">
              <a:buNone/>
            </a:pPr>
            <a:r>
              <a:rPr lang="en-US" sz="1000" b="1" kern="0" spc="200" dirty="0">
                <a:solidFill>
                  <a:srgbClr val="DA291C"/>
                </a:solidFill>
                <a:latin typeface="Calibri" pitchFamily="34" charset="0"/>
                <a:ea typeface="Calibri" pitchFamily="34" charset="-122"/>
                <a:cs typeface="Calibri" pitchFamily="34" charset="-120"/>
              </a:rPr>
              <a:t>TEAM</a:t>
            </a:r>
            <a:endParaRPr lang="en-US" sz="1000" dirty="0"/>
          </a:p>
        </p:txBody>
      </p:sp>
      <p:sp>
        <p:nvSpPr>
          <p:cNvPr id="14" name="Text 10"/>
          <p:cNvSpPr/>
          <p:nvPr/>
        </p:nvSpPr>
        <p:spPr>
          <a:xfrm>
            <a:off x="548640" y="3438144"/>
            <a:ext cx="1371600" cy="256032"/>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Pranav C</a:t>
            </a:r>
            <a:endParaRPr lang="en-US" sz="1100" dirty="0"/>
          </a:p>
        </p:txBody>
      </p:sp>
      <p:sp>
        <p:nvSpPr>
          <p:cNvPr id="15" name="Text 11"/>
          <p:cNvSpPr/>
          <p:nvPr/>
        </p:nvSpPr>
        <p:spPr>
          <a:xfrm>
            <a:off x="1965960" y="3438144"/>
            <a:ext cx="2651760" cy="256032"/>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Backend &amp; AI Integration</a:t>
            </a:r>
            <a:endParaRPr lang="en-US" sz="1100" dirty="0"/>
          </a:p>
        </p:txBody>
      </p:sp>
      <p:sp>
        <p:nvSpPr>
          <p:cNvPr id="16" name="Text 12"/>
          <p:cNvSpPr/>
          <p:nvPr/>
        </p:nvSpPr>
        <p:spPr>
          <a:xfrm>
            <a:off x="548640" y="3712464"/>
            <a:ext cx="1371600" cy="256032"/>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Jeet T</a:t>
            </a:r>
            <a:endParaRPr lang="en-US" sz="1100" dirty="0"/>
          </a:p>
        </p:txBody>
      </p:sp>
      <p:sp>
        <p:nvSpPr>
          <p:cNvPr id="17" name="Text 13"/>
          <p:cNvSpPr/>
          <p:nvPr/>
        </p:nvSpPr>
        <p:spPr>
          <a:xfrm>
            <a:off x="1965960" y="3712464"/>
            <a:ext cx="2651760" cy="256032"/>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Frontend &amp; UI/UX</a:t>
            </a:r>
            <a:endParaRPr lang="en-US" sz="1100" dirty="0"/>
          </a:p>
        </p:txBody>
      </p:sp>
      <p:sp>
        <p:nvSpPr>
          <p:cNvPr id="18" name="Text 14"/>
          <p:cNvSpPr/>
          <p:nvPr/>
        </p:nvSpPr>
        <p:spPr>
          <a:xfrm>
            <a:off x="548640" y="3986784"/>
            <a:ext cx="1371600" cy="256032"/>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Ashish G</a:t>
            </a:r>
            <a:endParaRPr lang="en-US" sz="1100" dirty="0"/>
          </a:p>
        </p:txBody>
      </p:sp>
      <p:sp>
        <p:nvSpPr>
          <p:cNvPr id="19" name="Text 15"/>
          <p:cNvSpPr/>
          <p:nvPr/>
        </p:nvSpPr>
        <p:spPr>
          <a:xfrm>
            <a:off x="1965960" y="3986784"/>
            <a:ext cx="2651760" cy="256032"/>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Data Engineering &amp; Visualizations</a:t>
            </a:r>
            <a:endParaRPr lang="en-US" sz="1100" dirty="0"/>
          </a:p>
        </p:txBody>
      </p:sp>
      <p:sp>
        <p:nvSpPr>
          <p:cNvPr id="20" name="Text 16"/>
          <p:cNvSpPr/>
          <p:nvPr/>
        </p:nvSpPr>
        <p:spPr>
          <a:xfrm>
            <a:off x="5349240" y="365760"/>
            <a:ext cx="3566160" cy="320040"/>
          </a:xfrm>
          <a:prstGeom prst="rect">
            <a:avLst/>
          </a:prstGeom>
          <a:noFill/>
          <a:ln/>
        </p:spPr>
        <p:txBody>
          <a:bodyPr wrap="square" lIns="0" tIns="0" rIns="0" bIns="0" rtlCol="0" anchor="ctr"/>
          <a:lstStyle/>
          <a:p>
            <a:pPr marL="0" indent="0" algn="ctr">
              <a:buNone/>
            </a:pPr>
            <a:r>
              <a:rPr lang="en-US" sz="1200" b="1" dirty="0">
                <a:solidFill>
                  <a:srgbClr val="FFC72C"/>
                </a:solidFill>
                <a:latin typeface="Calibri" pitchFamily="34" charset="0"/>
                <a:ea typeface="Calibri" pitchFamily="34" charset="-122"/>
                <a:cs typeface="Calibri" pitchFamily="34" charset="-120"/>
              </a:rPr>
              <a:t>IS492 · Spring 2026</a:t>
            </a:r>
            <a:endParaRPr lang="en-US" sz="1200" dirty="0"/>
          </a:p>
        </p:txBody>
      </p:sp>
      <p:sp>
        <p:nvSpPr>
          <p:cNvPr id="21" name="Text 17"/>
          <p:cNvSpPr/>
          <p:nvPr/>
        </p:nvSpPr>
        <p:spPr>
          <a:xfrm>
            <a:off x="5349240" y="685800"/>
            <a:ext cx="3566160" cy="256032"/>
          </a:xfrm>
          <a:prstGeom prst="rect">
            <a:avLst/>
          </a:prstGeom>
          <a:noFill/>
          <a:ln/>
        </p:spPr>
        <p:txBody>
          <a:bodyPr wrap="square" lIns="0" tIns="0" rIns="0" bIns="0" rtlCol="0" anchor="ctr"/>
          <a:lstStyle/>
          <a:p>
            <a:pPr algn="ctr"/>
            <a:r>
              <a:rPr lang="en-US" sz="1000" kern="0" spc="300" dirty="0">
                <a:solidFill>
                  <a:srgbClr val="FFFFFF"/>
                </a:solidFill>
                <a:latin typeface="Calibri" pitchFamily="34" charset="0"/>
                <a:ea typeface="Calibri" pitchFamily="34" charset="-122"/>
                <a:cs typeface="Calibri" pitchFamily="34" charset="-120"/>
              </a:rPr>
              <a:t>MSIM’26 UIUC</a:t>
            </a:r>
            <a:endParaRPr lang="en-US" sz="1000" dirty="0"/>
          </a:p>
        </p:txBody>
      </p:sp>
      <p:sp>
        <p:nvSpPr>
          <p:cNvPr id="22" name="Shape 18"/>
          <p:cNvSpPr/>
          <p:nvPr/>
        </p:nvSpPr>
        <p:spPr>
          <a:xfrm>
            <a:off x="5532120" y="1280160"/>
            <a:ext cx="3200400" cy="1188720"/>
          </a:xfrm>
          <a:prstGeom prst="rect">
            <a:avLst/>
          </a:prstGeom>
          <a:solidFill>
            <a:srgbClr val="FFC72C"/>
          </a:solidFill>
          <a:ln w="12700">
            <a:solidFill>
              <a:srgbClr val="FFC72C"/>
            </a:solidFill>
            <a:prstDash val="solid"/>
          </a:ln>
          <a:effectLst>
            <a:outerShdw blurRad="76200" dist="25400" dir="8100000" algn="bl" rotWithShape="0">
              <a:srgbClr val="DA291C">
                <a:alpha val="18000"/>
              </a:srgbClr>
            </a:outerShdw>
          </a:effectLst>
        </p:spPr>
        <p:txBody>
          <a:bodyPr/>
          <a:lstStyle/>
          <a:p>
            <a:endParaRPr lang="en-US"/>
          </a:p>
        </p:txBody>
      </p:sp>
      <p:sp>
        <p:nvSpPr>
          <p:cNvPr id="23" name="Text 19"/>
          <p:cNvSpPr/>
          <p:nvPr/>
        </p:nvSpPr>
        <p:spPr>
          <a:xfrm>
            <a:off x="5669280" y="1371600"/>
            <a:ext cx="2926080" cy="274320"/>
          </a:xfrm>
          <a:prstGeom prst="rect">
            <a:avLst/>
          </a:prstGeom>
          <a:noFill/>
          <a:ln/>
        </p:spPr>
        <p:txBody>
          <a:bodyPr wrap="square" lIns="0" tIns="0" rIns="0" bIns="0" rtlCol="0" anchor="ctr"/>
          <a:lstStyle/>
          <a:p>
            <a:pPr marL="0" indent="0">
              <a:buNone/>
            </a:pPr>
            <a:r>
              <a:rPr lang="en-US" sz="1000" b="1" kern="0" spc="200" dirty="0">
                <a:solidFill>
                  <a:srgbClr val="DA291C"/>
                </a:solidFill>
                <a:latin typeface="Calibri" pitchFamily="34" charset="0"/>
                <a:ea typeface="Calibri" pitchFamily="34" charset="-122"/>
                <a:cs typeface="Calibri" pitchFamily="34" charset="-120"/>
              </a:rPr>
              <a:t>🌐  LIVE DEMO</a:t>
            </a:r>
            <a:endParaRPr lang="en-US" sz="1000" dirty="0"/>
          </a:p>
        </p:txBody>
      </p:sp>
      <p:sp>
        <p:nvSpPr>
          <p:cNvPr id="24" name="Text 20"/>
          <p:cNvSpPr/>
          <p:nvPr/>
        </p:nvSpPr>
        <p:spPr>
          <a:xfrm>
            <a:off x="5669280" y="1682496"/>
            <a:ext cx="2926080" cy="658368"/>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mcd-command-centre</a:t>
            </a:r>
            <a:endParaRPr lang="en-US" sz="1150" dirty="0"/>
          </a:p>
          <a:p>
            <a:pPr marL="0" indent="0">
              <a:buNone/>
            </a:pPr>
            <a:r>
              <a:rPr lang="en-US" sz="1150" b="1" dirty="0">
                <a:solidFill>
                  <a:srgbClr val="1A1A1A"/>
                </a:solidFill>
                <a:latin typeface="Calibri" pitchFamily="34" charset="0"/>
                <a:ea typeface="Calibri" pitchFamily="34" charset="-122"/>
                <a:cs typeface="Calibri" pitchFamily="34" charset="-120"/>
              </a:rPr>
              <a:t>.streamlit.app</a:t>
            </a:r>
            <a:endParaRPr lang="en-US" sz="1150" dirty="0"/>
          </a:p>
        </p:txBody>
      </p:sp>
      <p:sp>
        <p:nvSpPr>
          <p:cNvPr id="25" name="Shape 21"/>
          <p:cNvSpPr/>
          <p:nvPr/>
        </p:nvSpPr>
        <p:spPr>
          <a:xfrm>
            <a:off x="5532120" y="2697480"/>
            <a:ext cx="3200400" cy="1188720"/>
          </a:xfrm>
          <a:prstGeom prst="rect">
            <a:avLst/>
          </a:prstGeom>
          <a:solidFill>
            <a:srgbClr val="FFC72C"/>
          </a:solidFill>
          <a:ln w="12700">
            <a:solidFill>
              <a:srgbClr val="FFC72C"/>
            </a:solidFill>
            <a:prstDash val="solid"/>
          </a:ln>
          <a:effectLst>
            <a:outerShdw blurRad="76200" dist="25400" dir="8100000" algn="bl" rotWithShape="0">
              <a:srgbClr val="DA291C">
                <a:alpha val="18000"/>
              </a:srgbClr>
            </a:outerShdw>
          </a:effectLst>
        </p:spPr>
        <p:txBody>
          <a:bodyPr/>
          <a:lstStyle/>
          <a:p>
            <a:endParaRPr lang="en-US"/>
          </a:p>
        </p:txBody>
      </p:sp>
      <p:sp>
        <p:nvSpPr>
          <p:cNvPr id="26" name="Text 22"/>
          <p:cNvSpPr/>
          <p:nvPr/>
        </p:nvSpPr>
        <p:spPr>
          <a:xfrm>
            <a:off x="5669280" y="2788920"/>
            <a:ext cx="2926080" cy="274320"/>
          </a:xfrm>
          <a:prstGeom prst="rect">
            <a:avLst/>
          </a:prstGeom>
          <a:noFill/>
          <a:ln/>
        </p:spPr>
        <p:txBody>
          <a:bodyPr wrap="square" lIns="0" tIns="0" rIns="0" bIns="0" rtlCol="0" anchor="ctr"/>
          <a:lstStyle/>
          <a:p>
            <a:pPr marL="0" indent="0">
              <a:buNone/>
            </a:pPr>
            <a:r>
              <a:rPr lang="en-US" sz="1000" b="1" kern="0" spc="200" dirty="0">
                <a:solidFill>
                  <a:srgbClr val="DA291C"/>
                </a:solidFill>
                <a:latin typeface="Calibri" pitchFamily="34" charset="0"/>
                <a:ea typeface="Calibri" pitchFamily="34" charset="-122"/>
                <a:cs typeface="Calibri" pitchFamily="34" charset="-120"/>
              </a:rPr>
              <a:t>⌥  GITHUB</a:t>
            </a:r>
            <a:endParaRPr lang="en-US" sz="1000" dirty="0"/>
          </a:p>
        </p:txBody>
      </p:sp>
      <p:sp>
        <p:nvSpPr>
          <p:cNvPr id="27" name="Text 23"/>
          <p:cNvSpPr/>
          <p:nvPr/>
        </p:nvSpPr>
        <p:spPr>
          <a:xfrm>
            <a:off x="5669280" y="3099816"/>
            <a:ext cx="2926080" cy="658368"/>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IS492-SP26/team-project-</a:t>
            </a:r>
            <a:endParaRPr lang="en-US" sz="1150" dirty="0"/>
          </a:p>
          <a:p>
            <a:pPr marL="0" indent="0">
              <a:buNone/>
            </a:pPr>
            <a:r>
              <a:rPr lang="en-US" sz="1150" b="1" dirty="0">
                <a:solidFill>
                  <a:srgbClr val="1A1A1A"/>
                </a:solidFill>
                <a:latin typeface="Calibri" pitchFamily="34" charset="0"/>
                <a:ea typeface="Calibri" pitchFamily="34" charset="-122"/>
                <a:cs typeface="Calibri" pitchFamily="34" charset="-120"/>
              </a:rPr>
              <a:t>social-media-command-centre</a:t>
            </a:r>
            <a:endParaRPr lang="en-US" sz="1150" dirty="0"/>
          </a:p>
        </p:txBody>
      </p:sp>
      <p:sp>
        <p:nvSpPr>
          <p:cNvPr id="28" name="Shape 24"/>
          <p:cNvSpPr/>
          <p:nvPr/>
        </p:nvSpPr>
        <p:spPr>
          <a:xfrm>
            <a:off x="0" y="4919472"/>
            <a:ext cx="9144000" cy="219456"/>
          </a:xfrm>
          <a:prstGeom prst="rect">
            <a:avLst/>
          </a:prstGeom>
          <a:solidFill>
            <a:srgbClr val="1A1A1A"/>
          </a:solidFill>
          <a:ln w="12700">
            <a:solidFill>
              <a:srgbClr val="1A1A1A"/>
            </a:solidFill>
            <a:prstDash val="solid"/>
          </a:ln>
        </p:spPr>
        <p:txBody>
          <a:bodyPr/>
          <a:lstStyle/>
          <a:p>
            <a:endParaRPr lang="en-US"/>
          </a:p>
        </p:txBody>
      </p:sp>
      <p:sp>
        <p:nvSpPr>
          <p:cNvPr id="29" name="Text 25"/>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900" dirty="0">
                <a:solidFill>
                  <a:srgbClr val="FFC72C"/>
                </a:solidFill>
                <a:latin typeface="Calibri" pitchFamily="34" charset="0"/>
                <a:ea typeface="Calibri" pitchFamily="34" charset="-122"/>
                <a:cs typeface="Calibri" pitchFamily="34" charset="-120"/>
              </a:rPr>
              <a:t>University of Illinois Urbana-Champaign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C72C"/>
          </a:solidFill>
          <a:ln w="12700">
            <a:solidFill>
              <a:srgbClr val="FFC72C"/>
            </a:solidFill>
            <a:prstDash val="solid"/>
          </a:ln>
        </p:spPr>
        <p:txBody>
          <a:bodyPr/>
          <a:lstStyle/>
          <a:p>
            <a:endParaRPr lang="en-US"/>
          </a:p>
        </p:txBody>
      </p:sp>
      <p:sp>
        <p:nvSpPr>
          <p:cNvPr id="3" name="Shape 1"/>
          <p:cNvSpPr/>
          <p:nvPr/>
        </p:nvSpPr>
        <p:spPr>
          <a:xfrm>
            <a:off x="0" y="896112"/>
            <a:ext cx="9144000" cy="73152"/>
          </a:xfrm>
          <a:prstGeom prst="rect">
            <a:avLst/>
          </a:prstGeom>
          <a:solidFill>
            <a:srgbClr val="DA291C"/>
          </a:solidFill>
          <a:ln w="12700">
            <a:solidFill>
              <a:srgbClr val="DA291C"/>
            </a:solidFill>
            <a:prstDash val="solid"/>
          </a:ln>
        </p:spPr>
        <p:txBody>
          <a:bodyPr/>
          <a:lstStyle/>
          <a:p>
            <a:endParaRPr lang="en-US"/>
          </a:p>
        </p:txBody>
      </p:sp>
      <p:sp>
        <p:nvSpPr>
          <p:cNvPr id="4" name="Text 2"/>
          <p:cNvSpPr/>
          <p:nvPr/>
        </p:nvSpPr>
        <p:spPr>
          <a:xfrm>
            <a:off x="411480" y="73152"/>
            <a:ext cx="8046720" cy="658368"/>
          </a:xfrm>
          <a:prstGeom prst="rect">
            <a:avLst/>
          </a:prstGeom>
          <a:noFill/>
          <a:ln/>
        </p:spPr>
        <p:txBody>
          <a:bodyPr wrap="square" lIns="0" tIns="0" rIns="0" bIns="0" rtlCol="0" anchor="ctr"/>
          <a:lstStyle/>
          <a:p>
            <a:pPr marL="0" indent="0">
              <a:buNone/>
            </a:pPr>
            <a:r>
              <a:rPr lang="en-US" sz="3000" b="1" dirty="0">
                <a:solidFill>
                  <a:srgbClr val="1A1A1A"/>
                </a:solidFill>
                <a:latin typeface="Arial Black" pitchFamily="34" charset="0"/>
                <a:ea typeface="Arial Black" pitchFamily="34" charset="-122"/>
                <a:cs typeface="Arial Black" pitchFamily="34" charset="-120"/>
              </a:rPr>
              <a:t>Recap &amp; Final Goals</a:t>
            </a:r>
            <a:endParaRPr lang="en-US" sz="3000" dirty="0"/>
          </a:p>
        </p:txBody>
      </p:sp>
      <p:sp>
        <p:nvSpPr>
          <p:cNvPr id="5" name="Text 3"/>
          <p:cNvSpPr/>
          <p:nvPr/>
        </p:nvSpPr>
        <p:spPr>
          <a:xfrm>
            <a:off x="5029200" y="658368"/>
            <a:ext cx="3886200" cy="256032"/>
          </a:xfrm>
          <a:prstGeom prst="rect">
            <a:avLst/>
          </a:prstGeom>
          <a:noFill/>
          <a:ln/>
        </p:spPr>
        <p:txBody>
          <a:bodyPr wrap="square" lIns="0" tIns="0" rIns="0" bIns="0" rtlCol="0" anchor="ctr"/>
          <a:lstStyle/>
          <a:p>
            <a:pPr marL="0" indent="0" algn="r">
              <a:buNone/>
            </a:pPr>
            <a:r>
              <a:rPr lang="en-US" sz="850" b="1" kern="0" spc="200" dirty="0">
                <a:solidFill>
                  <a:srgbClr val="DA291C"/>
                </a:solidFill>
                <a:latin typeface="Calibri" pitchFamily="34" charset="0"/>
                <a:ea typeface="Calibri" pitchFamily="34" charset="-122"/>
                <a:cs typeface="Calibri" pitchFamily="34" charset="-120"/>
              </a:rPr>
              <a:t>CHECKPOINT 4</a:t>
            </a:r>
            <a:endParaRPr lang="en-US" sz="850" dirty="0"/>
          </a:p>
        </p:txBody>
      </p:sp>
      <p:sp>
        <p:nvSpPr>
          <p:cNvPr id="6" name="Shape 4"/>
          <p:cNvSpPr/>
          <p:nvPr/>
        </p:nvSpPr>
        <p:spPr>
          <a:xfrm>
            <a:off x="320040" y="1097280"/>
            <a:ext cx="8503920" cy="1115568"/>
          </a:xfrm>
          <a:prstGeom prst="rect">
            <a:avLst/>
          </a:prstGeom>
          <a:solidFill>
            <a:srgbClr val="FFC72C"/>
          </a:solidFill>
          <a:ln w="1270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7" name="Shape 5"/>
          <p:cNvSpPr/>
          <p:nvPr/>
        </p:nvSpPr>
        <p:spPr>
          <a:xfrm>
            <a:off x="320040" y="1097280"/>
            <a:ext cx="91440" cy="1115568"/>
          </a:xfrm>
          <a:prstGeom prst="rect">
            <a:avLst/>
          </a:prstGeom>
          <a:solidFill>
            <a:srgbClr val="DA291C"/>
          </a:solidFill>
          <a:ln w="12700">
            <a:solidFill>
              <a:srgbClr val="DA291C"/>
            </a:solidFill>
            <a:prstDash val="solid"/>
          </a:ln>
        </p:spPr>
        <p:txBody>
          <a:bodyPr/>
          <a:lstStyle/>
          <a:p>
            <a:endParaRPr lang="en-US"/>
          </a:p>
        </p:txBody>
      </p:sp>
      <p:sp>
        <p:nvSpPr>
          <p:cNvPr id="8" name="Text 6"/>
          <p:cNvSpPr/>
          <p:nvPr/>
        </p:nvSpPr>
        <p:spPr>
          <a:xfrm>
            <a:off x="530352" y="1161288"/>
            <a:ext cx="3200400" cy="256032"/>
          </a:xfrm>
          <a:prstGeom prst="rect">
            <a:avLst/>
          </a:prstGeom>
          <a:noFill/>
          <a:ln/>
        </p:spPr>
        <p:txBody>
          <a:bodyPr wrap="square" lIns="0" tIns="0" rIns="0" bIns="0" rtlCol="0" anchor="ctr"/>
          <a:lstStyle/>
          <a:p>
            <a:pPr marL="0" indent="0">
              <a:buNone/>
            </a:pPr>
            <a:r>
              <a:rPr lang="en-US" sz="1100" b="1" kern="0" spc="100" dirty="0">
                <a:solidFill>
                  <a:srgbClr val="DA291C"/>
                </a:solidFill>
                <a:latin typeface="Calibri" pitchFamily="34" charset="0"/>
                <a:ea typeface="Calibri" pitchFamily="34" charset="-122"/>
                <a:cs typeface="Calibri" pitchFamily="34" charset="-120"/>
              </a:rPr>
              <a:t>Problem Statement</a:t>
            </a:r>
            <a:endParaRPr lang="en-US" sz="1100" dirty="0"/>
          </a:p>
        </p:txBody>
      </p:sp>
      <p:sp>
        <p:nvSpPr>
          <p:cNvPr id="9" name="Text 7"/>
          <p:cNvSpPr/>
          <p:nvPr/>
        </p:nvSpPr>
        <p:spPr>
          <a:xfrm>
            <a:off x="530352" y="1435608"/>
            <a:ext cx="8138160" cy="713232"/>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32,736 customer reviews go largely unread by McDonald's branch management, and no existing tool transforms that feedback into direct operational action — current analytics flatten rich review signals into a single aggregate star rating that misleads decision-makers.</a:t>
            </a:r>
            <a:endParaRPr lang="en-US" sz="1300" dirty="0"/>
          </a:p>
        </p:txBody>
      </p:sp>
      <p:sp>
        <p:nvSpPr>
          <p:cNvPr id="10" name="Shape 8"/>
          <p:cNvSpPr/>
          <p:nvPr/>
        </p:nvSpPr>
        <p:spPr>
          <a:xfrm>
            <a:off x="320040" y="2359152"/>
            <a:ext cx="4069080" cy="2212848"/>
          </a:xfrm>
          <a:prstGeom prst="rect">
            <a:avLst/>
          </a:prstGeom>
          <a:solidFill>
            <a:srgbClr val="FFFFFF"/>
          </a:solidFill>
          <a:ln w="1524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1" name="Shape 9"/>
          <p:cNvSpPr/>
          <p:nvPr/>
        </p:nvSpPr>
        <p:spPr>
          <a:xfrm>
            <a:off x="320040" y="2359152"/>
            <a:ext cx="4069080" cy="347472"/>
          </a:xfrm>
          <a:prstGeom prst="rect">
            <a:avLst/>
          </a:prstGeom>
          <a:solidFill>
            <a:srgbClr val="DA291C"/>
          </a:solidFill>
          <a:ln w="12700">
            <a:solidFill>
              <a:srgbClr val="DA291C"/>
            </a:solidFill>
            <a:prstDash val="solid"/>
          </a:ln>
        </p:spPr>
        <p:txBody>
          <a:bodyPr/>
          <a:lstStyle/>
          <a:p>
            <a:endParaRPr lang="en-US"/>
          </a:p>
        </p:txBody>
      </p:sp>
      <p:sp>
        <p:nvSpPr>
          <p:cNvPr id="12" name="Text 10"/>
          <p:cNvSpPr/>
          <p:nvPr/>
        </p:nvSpPr>
        <p:spPr>
          <a:xfrm>
            <a:off x="457200" y="2386584"/>
            <a:ext cx="3749040" cy="274320"/>
          </a:xfrm>
          <a:prstGeom prst="rect">
            <a:avLst/>
          </a:prstGeom>
          <a:noFill/>
          <a:ln/>
        </p:spPr>
        <p:txBody>
          <a:bodyPr wrap="square" lIns="0" tIns="0" rIns="0" bIns="0"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  TARGET USERS</a:t>
            </a:r>
            <a:endParaRPr lang="en-US" sz="1100" dirty="0"/>
          </a:p>
        </p:txBody>
      </p:sp>
      <p:sp>
        <p:nvSpPr>
          <p:cNvPr id="13" name="Shape 11"/>
          <p:cNvSpPr/>
          <p:nvPr/>
        </p:nvSpPr>
        <p:spPr>
          <a:xfrm>
            <a:off x="475488" y="2852928"/>
            <a:ext cx="201168" cy="201168"/>
          </a:xfrm>
          <a:prstGeom prst="ellipse">
            <a:avLst/>
          </a:prstGeom>
          <a:solidFill>
            <a:srgbClr val="FFC72C"/>
          </a:solidFill>
          <a:ln w="12700">
            <a:solidFill>
              <a:srgbClr val="FFC72C"/>
            </a:solidFill>
            <a:prstDash val="solid"/>
          </a:ln>
        </p:spPr>
        <p:txBody>
          <a:bodyPr/>
          <a:lstStyle/>
          <a:p>
            <a:endParaRPr lang="en-US"/>
          </a:p>
        </p:txBody>
      </p:sp>
      <p:sp>
        <p:nvSpPr>
          <p:cNvPr id="14" name="Text 12"/>
          <p:cNvSpPr/>
          <p:nvPr/>
        </p:nvSpPr>
        <p:spPr>
          <a:xfrm>
            <a:off x="777240" y="2834640"/>
            <a:ext cx="3383280" cy="256032"/>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McDonald's Branch Managers</a:t>
            </a:r>
            <a:endParaRPr lang="en-US" sz="1200" dirty="0"/>
          </a:p>
        </p:txBody>
      </p:sp>
      <p:sp>
        <p:nvSpPr>
          <p:cNvPr id="15" name="Shape 13"/>
          <p:cNvSpPr/>
          <p:nvPr/>
        </p:nvSpPr>
        <p:spPr>
          <a:xfrm>
            <a:off x="475488" y="3364992"/>
            <a:ext cx="201168" cy="201168"/>
          </a:xfrm>
          <a:prstGeom prst="ellipse">
            <a:avLst/>
          </a:prstGeom>
          <a:solidFill>
            <a:srgbClr val="FFC72C"/>
          </a:solidFill>
          <a:ln w="12700">
            <a:solidFill>
              <a:srgbClr val="FFC72C"/>
            </a:solidFill>
            <a:prstDash val="solid"/>
          </a:ln>
        </p:spPr>
        <p:txBody>
          <a:bodyPr/>
          <a:lstStyle/>
          <a:p>
            <a:endParaRPr lang="en-US"/>
          </a:p>
        </p:txBody>
      </p:sp>
      <p:sp>
        <p:nvSpPr>
          <p:cNvPr id="16" name="Text 14"/>
          <p:cNvSpPr/>
          <p:nvPr/>
        </p:nvSpPr>
        <p:spPr>
          <a:xfrm>
            <a:off x="777240" y="3346704"/>
            <a:ext cx="3383280" cy="256032"/>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Regional Operations Leads</a:t>
            </a:r>
            <a:endParaRPr lang="en-US" sz="1200" dirty="0"/>
          </a:p>
        </p:txBody>
      </p:sp>
      <p:sp>
        <p:nvSpPr>
          <p:cNvPr id="17" name="Shape 15"/>
          <p:cNvSpPr/>
          <p:nvPr/>
        </p:nvSpPr>
        <p:spPr>
          <a:xfrm>
            <a:off x="475488" y="3877056"/>
            <a:ext cx="201168" cy="201168"/>
          </a:xfrm>
          <a:prstGeom prst="ellipse">
            <a:avLst/>
          </a:prstGeom>
          <a:solidFill>
            <a:srgbClr val="FFC72C"/>
          </a:solidFill>
          <a:ln w="12700">
            <a:solidFill>
              <a:srgbClr val="FFC72C"/>
            </a:solidFill>
            <a:prstDash val="solid"/>
          </a:ln>
        </p:spPr>
        <p:txBody>
          <a:bodyPr/>
          <a:lstStyle/>
          <a:p>
            <a:endParaRPr lang="en-US"/>
          </a:p>
        </p:txBody>
      </p:sp>
      <p:sp>
        <p:nvSpPr>
          <p:cNvPr id="18" name="Text 16"/>
          <p:cNvSpPr/>
          <p:nvPr/>
        </p:nvSpPr>
        <p:spPr>
          <a:xfrm>
            <a:off x="777240" y="3858768"/>
            <a:ext cx="3383280" cy="256032"/>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Analytics-minded staff who review weekly performance</a:t>
            </a:r>
            <a:endParaRPr lang="en-US" sz="1200" dirty="0"/>
          </a:p>
        </p:txBody>
      </p:sp>
      <p:sp>
        <p:nvSpPr>
          <p:cNvPr id="19" name="Shape 17"/>
          <p:cNvSpPr/>
          <p:nvPr/>
        </p:nvSpPr>
        <p:spPr>
          <a:xfrm>
            <a:off x="4572000" y="2359152"/>
            <a:ext cx="4251960" cy="2212848"/>
          </a:xfrm>
          <a:prstGeom prst="rect">
            <a:avLst/>
          </a:prstGeom>
          <a:solidFill>
            <a:srgbClr val="FFFFFF"/>
          </a:solidFill>
          <a:ln w="1524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20" name="Shape 18"/>
          <p:cNvSpPr/>
          <p:nvPr/>
        </p:nvSpPr>
        <p:spPr>
          <a:xfrm>
            <a:off x="4572000" y="2359152"/>
            <a:ext cx="4251960" cy="347472"/>
          </a:xfrm>
          <a:prstGeom prst="rect">
            <a:avLst/>
          </a:prstGeom>
          <a:solidFill>
            <a:srgbClr val="FFC72C"/>
          </a:solidFill>
          <a:ln w="12700">
            <a:solidFill>
              <a:srgbClr val="FFC72C"/>
            </a:solidFill>
            <a:prstDash val="solid"/>
          </a:ln>
        </p:spPr>
        <p:txBody>
          <a:bodyPr/>
          <a:lstStyle/>
          <a:p>
            <a:endParaRPr lang="en-US"/>
          </a:p>
        </p:txBody>
      </p:sp>
      <p:sp>
        <p:nvSpPr>
          <p:cNvPr id="21" name="Text 19"/>
          <p:cNvSpPr/>
          <p:nvPr/>
        </p:nvSpPr>
        <p:spPr>
          <a:xfrm>
            <a:off x="4709160" y="2386584"/>
            <a:ext cx="3931920" cy="274320"/>
          </a:xfrm>
          <a:prstGeom prst="rect">
            <a:avLst/>
          </a:prstGeom>
          <a:noFill/>
          <a:ln/>
        </p:spPr>
        <p:txBody>
          <a:bodyPr wrap="square" lIns="0" tIns="0" rIns="0" bIns="0" rtlCol="0" anchor="ctr"/>
          <a:lstStyle/>
          <a:p>
            <a:pPr marL="0" indent="0">
              <a:buNone/>
            </a:pPr>
            <a:r>
              <a:rPr lang="en-US" sz="1100" b="1" kern="0" spc="100" dirty="0">
                <a:solidFill>
                  <a:srgbClr val="1A1A1A"/>
                </a:solidFill>
                <a:latin typeface="Calibri" pitchFamily="34" charset="0"/>
                <a:ea typeface="Calibri" pitchFamily="34" charset="-122"/>
                <a:cs typeface="Calibri" pitchFamily="34" charset="-120"/>
              </a:rPr>
              <a:t>⭐  MOST REWARDING FINDING</a:t>
            </a:r>
            <a:endParaRPr lang="en-US" sz="1100" dirty="0"/>
          </a:p>
        </p:txBody>
      </p:sp>
      <p:sp>
        <p:nvSpPr>
          <p:cNvPr id="22" name="Shape 20"/>
          <p:cNvSpPr/>
          <p:nvPr/>
        </p:nvSpPr>
        <p:spPr>
          <a:xfrm>
            <a:off x="4709160" y="2816352"/>
            <a:ext cx="3931920" cy="804672"/>
          </a:xfrm>
          <a:prstGeom prst="rect">
            <a:avLst/>
          </a:prstGeom>
          <a:solidFill>
            <a:srgbClr val="FFF3C4"/>
          </a:solidFill>
          <a:ln w="12700">
            <a:solidFill>
              <a:srgbClr val="FFE57A"/>
            </a:solidFill>
            <a:prstDash val="solid"/>
          </a:ln>
        </p:spPr>
        <p:txBody>
          <a:bodyPr/>
          <a:lstStyle/>
          <a:p>
            <a:endParaRPr lang="en-US"/>
          </a:p>
        </p:txBody>
      </p:sp>
      <p:sp>
        <p:nvSpPr>
          <p:cNvPr id="23" name="Text 21"/>
          <p:cNvSpPr/>
          <p:nvPr/>
        </p:nvSpPr>
        <p:spPr>
          <a:xfrm>
            <a:off x="4828032" y="2852928"/>
            <a:ext cx="3694176" cy="731520"/>
          </a:xfrm>
          <a:prstGeom prst="rect">
            <a:avLst/>
          </a:prstGeom>
          <a:noFill/>
          <a:ln/>
        </p:spPr>
        <p:txBody>
          <a:bodyPr wrap="square" lIns="0" tIns="0" rIns="0" bIns="0"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"If I were a branch manager, I'd run this every Monday before my team huddle."</a:t>
            </a:r>
            <a:endParaRPr lang="en-US" sz="1200" dirty="0"/>
          </a:p>
        </p:txBody>
      </p:sp>
      <p:sp>
        <p:nvSpPr>
          <p:cNvPr id="24" name="Text 22"/>
          <p:cNvSpPr/>
          <p:nvPr/>
        </p:nvSpPr>
        <p:spPr>
          <a:xfrm>
            <a:off x="4709160" y="3657600"/>
            <a:ext cx="3931920" cy="237744"/>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 P1, MSIM Student</a:t>
            </a:r>
            <a:endParaRPr lang="en-US" sz="1050" dirty="0"/>
          </a:p>
        </p:txBody>
      </p:sp>
      <p:sp>
        <p:nvSpPr>
          <p:cNvPr id="25" name="Text 23"/>
          <p:cNvSpPr/>
          <p:nvPr/>
        </p:nvSpPr>
        <p:spPr>
          <a:xfrm>
            <a:off x="4709160" y="3931920"/>
            <a:ext cx="3931920" cy="502920"/>
          </a:xfrm>
          <a:prstGeom prst="rect">
            <a:avLst/>
          </a:prstGeom>
          <a:noFill/>
          <a:ln/>
        </p:spPr>
        <p:txBody>
          <a:bodyPr wrap="square" lIns="0" tIns="0" rIns="0" bIns="0" rtlCol="0" anchor="ctr"/>
          <a:lstStyle/>
          <a:p>
            <a:pPr marL="0" indent="0">
              <a:buNone/>
            </a:pPr>
            <a:r>
              <a:rPr lang="en-US" sz="1150" b="1" dirty="0">
                <a:solidFill>
                  <a:srgbClr val="22A855"/>
                </a:solidFill>
                <a:latin typeface="Calibri" pitchFamily="34" charset="0"/>
                <a:ea typeface="Calibri" pitchFamily="34" charset="-122"/>
                <a:cs typeface="Calibri" pitchFamily="34" charset="-120"/>
              </a:rPr>
              <a:t>4/5 users said they'd use the staff briefing memo in a real ops role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C72C"/>
          </a:solidFill>
          <a:ln w="12700">
            <a:solidFill>
              <a:srgbClr val="FFC72C"/>
            </a:solidFill>
            <a:prstDash val="solid"/>
          </a:ln>
        </p:spPr>
        <p:txBody>
          <a:bodyPr/>
          <a:lstStyle/>
          <a:p>
            <a:endParaRPr lang="en-US"/>
          </a:p>
        </p:txBody>
      </p:sp>
      <p:sp>
        <p:nvSpPr>
          <p:cNvPr id="3" name="Shape 1"/>
          <p:cNvSpPr/>
          <p:nvPr/>
        </p:nvSpPr>
        <p:spPr>
          <a:xfrm>
            <a:off x="0" y="896112"/>
            <a:ext cx="9144000" cy="73152"/>
          </a:xfrm>
          <a:prstGeom prst="rect">
            <a:avLst/>
          </a:prstGeom>
          <a:solidFill>
            <a:srgbClr val="DA291C"/>
          </a:solidFill>
          <a:ln w="12700">
            <a:solidFill>
              <a:srgbClr val="DA291C"/>
            </a:solidFill>
            <a:prstDash val="solid"/>
          </a:ln>
        </p:spPr>
        <p:txBody>
          <a:bodyPr/>
          <a:lstStyle/>
          <a:p>
            <a:endParaRPr lang="en-US"/>
          </a:p>
        </p:txBody>
      </p:sp>
      <p:sp>
        <p:nvSpPr>
          <p:cNvPr id="4" name="Text 2"/>
          <p:cNvSpPr/>
          <p:nvPr/>
        </p:nvSpPr>
        <p:spPr>
          <a:xfrm>
            <a:off x="411480" y="73152"/>
            <a:ext cx="8046720" cy="658368"/>
          </a:xfrm>
          <a:prstGeom prst="rect">
            <a:avLst/>
          </a:prstGeom>
          <a:noFill/>
          <a:ln/>
        </p:spPr>
        <p:txBody>
          <a:bodyPr wrap="square" lIns="0" tIns="0" rIns="0" bIns="0" rtlCol="0" anchor="ctr"/>
          <a:lstStyle/>
          <a:p>
            <a:pPr marL="0" indent="0">
              <a:buNone/>
            </a:pPr>
            <a:r>
              <a:rPr lang="en-US" sz="3000" b="1" dirty="0">
                <a:solidFill>
                  <a:srgbClr val="1A1A1A"/>
                </a:solidFill>
                <a:latin typeface="Arial Black" pitchFamily="34" charset="0"/>
                <a:ea typeface="Arial Black" pitchFamily="34" charset="-122"/>
                <a:cs typeface="Arial Black" pitchFamily="34" charset="-120"/>
              </a:rPr>
              <a:t>Evaluation Design Overview</a:t>
            </a:r>
            <a:endParaRPr lang="en-US" sz="3000" dirty="0"/>
          </a:p>
        </p:txBody>
      </p:sp>
      <p:sp>
        <p:nvSpPr>
          <p:cNvPr id="5" name="Text 3"/>
          <p:cNvSpPr/>
          <p:nvPr/>
        </p:nvSpPr>
        <p:spPr>
          <a:xfrm>
            <a:off x="5029200" y="658368"/>
            <a:ext cx="3886200" cy="256032"/>
          </a:xfrm>
          <a:prstGeom prst="rect">
            <a:avLst/>
          </a:prstGeom>
          <a:noFill/>
          <a:ln/>
        </p:spPr>
        <p:txBody>
          <a:bodyPr wrap="square" lIns="0" tIns="0" rIns="0" bIns="0" rtlCol="0" anchor="ctr"/>
          <a:lstStyle/>
          <a:p>
            <a:pPr marL="0" indent="0" algn="r">
              <a:buNone/>
            </a:pPr>
            <a:r>
              <a:rPr lang="en-US" sz="850" b="1" kern="0" spc="200" dirty="0">
                <a:solidFill>
                  <a:srgbClr val="DA291C"/>
                </a:solidFill>
                <a:latin typeface="Calibri" pitchFamily="34" charset="0"/>
                <a:ea typeface="Calibri" pitchFamily="34" charset="-122"/>
                <a:cs typeface="Calibri" pitchFamily="34" charset="-120"/>
              </a:rPr>
              <a:t>METHOD</a:t>
            </a:r>
            <a:endParaRPr lang="en-US" sz="850" dirty="0"/>
          </a:p>
        </p:txBody>
      </p:sp>
      <p:sp>
        <p:nvSpPr>
          <p:cNvPr id="6" name="Shape 4"/>
          <p:cNvSpPr/>
          <p:nvPr/>
        </p:nvSpPr>
        <p:spPr>
          <a:xfrm>
            <a:off x="320040" y="1097280"/>
            <a:ext cx="4160520" cy="1783080"/>
          </a:xfrm>
          <a:prstGeom prst="rect">
            <a:avLst/>
          </a:prstGeom>
          <a:solidFill>
            <a:srgbClr val="FFFFFF"/>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7" name="Shape 5"/>
          <p:cNvSpPr/>
          <p:nvPr/>
        </p:nvSpPr>
        <p:spPr>
          <a:xfrm>
            <a:off x="320040" y="1097280"/>
            <a:ext cx="4160520" cy="329184"/>
          </a:xfrm>
          <a:prstGeom prst="rect">
            <a:avLst/>
          </a:prstGeom>
          <a:solidFill>
            <a:srgbClr val="FFC72C"/>
          </a:solidFill>
          <a:ln w="12700">
            <a:solidFill>
              <a:srgbClr val="FFC72C"/>
            </a:solidFill>
            <a:prstDash val="solid"/>
          </a:ln>
        </p:spPr>
        <p:txBody>
          <a:bodyPr/>
          <a:lstStyle/>
          <a:p>
            <a:endParaRPr lang="en-US"/>
          </a:p>
        </p:txBody>
      </p:sp>
      <p:sp>
        <p:nvSpPr>
          <p:cNvPr id="8" name="Text 6"/>
          <p:cNvSpPr/>
          <p:nvPr/>
        </p:nvSpPr>
        <p:spPr>
          <a:xfrm>
            <a:off x="457200" y="1133856"/>
            <a:ext cx="3840480" cy="256032"/>
          </a:xfrm>
          <a:prstGeom prst="rect">
            <a:avLst/>
          </a:prstGeom>
          <a:noFill/>
          <a:ln/>
        </p:spPr>
        <p:txBody>
          <a:bodyPr wrap="square" lIns="0" tIns="0" rIns="0" bIns="0" rtlCol="0" anchor="ctr"/>
          <a:lstStyle/>
          <a:p>
            <a:pPr marL="0" indent="0">
              <a:buNone/>
            </a:pPr>
            <a:r>
              <a:rPr lang="en-US" sz="1100" b="1" kern="0" spc="100" dirty="0">
                <a:solidFill>
                  <a:srgbClr val="DA291C"/>
                </a:solidFill>
                <a:latin typeface="Calibri" pitchFamily="34" charset="0"/>
                <a:ea typeface="Calibri" pitchFamily="34" charset="-122"/>
                <a:cs typeface="Calibri" pitchFamily="34" charset="-120"/>
              </a:rPr>
              <a:t>👥  PARTICIPANTS</a:t>
            </a:r>
            <a:endParaRPr lang="en-US" sz="1100" dirty="0"/>
          </a:p>
        </p:txBody>
      </p:sp>
      <p:sp>
        <p:nvSpPr>
          <p:cNvPr id="9" name="Text 7"/>
          <p:cNvSpPr/>
          <p:nvPr/>
        </p:nvSpPr>
        <p:spPr>
          <a:xfrm>
            <a:off x="484632" y="1499616"/>
            <a:ext cx="3794760" cy="1298448"/>
          </a:xfrm>
          <a:prstGeom prst="rect">
            <a:avLst/>
          </a:prstGeom>
          <a:noFill/>
          <a:ln/>
        </p:spPr>
        <p:txBody>
          <a:bodyPr wrap="square" lIns="0" tIns="0" rIns="0" bIns="0" rtlCol="0" anchor="ctr"/>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N = 5 participants</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In-person think-aloud sessions</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~25 minutes each</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MSIM, Business Analytics, Data Science, MBA (Ops)</a:t>
            </a:r>
            <a:endParaRPr lang="en-US" sz="1100" dirty="0"/>
          </a:p>
        </p:txBody>
      </p:sp>
      <p:sp>
        <p:nvSpPr>
          <p:cNvPr id="10" name="Shape 8"/>
          <p:cNvSpPr/>
          <p:nvPr/>
        </p:nvSpPr>
        <p:spPr>
          <a:xfrm>
            <a:off x="4663440" y="1097280"/>
            <a:ext cx="4160520" cy="1783080"/>
          </a:xfrm>
          <a:prstGeom prst="rect">
            <a:avLst/>
          </a:prstGeom>
          <a:solidFill>
            <a:srgbClr val="FFFFFF"/>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1" name="Shape 9"/>
          <p:cNvSpPr/>
          <p:nvPr/>
        </p:nvSpPr>
        <p:spPr>
          <a:xfrm>
            <a:off x="4663440" y="1097280"/>
            <a:ext cx="4160520" cy="329184"/>
          </a:xfrm>
          <a:prstGeom prst="rect">
            <a:avLst/>
          </a:prstGeom>
          <a:solidFill>
            <a:srgbClr val="FFC72C"/>
          </a:solidFill>
          <a:ln w="12700">
            <a:solidFill>
              <a:srgbClr val="FFC72C"/>
            </a:solidFill>
            <a:prstDash val="solid"/>
          </a:ln>
        </p:spPr>
        <p:txBody>
          <a:bodyPr/>
          <a:lstStyle/>
          <a:p>
            <a:endParaRPr lang="en-US"/>
          </a:p>
        </p:txBody>
      </p:sp>
      <p:sp>
        <p:nvSpPr>
          <p:cNvPr id="12" name="Text 10"/>
          <p:cNvSpPr/>
          <p:nvPr/>
        </p:nvSpPr>
        <p:spPr>
          <a:xfrm>
            <a:off x="4800600" y="1133856"/>
            <a:ext cx="3840480" cy="256032"/>
          </a:xfrm>
          <a:prstGeom prst="rect">
            <a:avLst/>
          </a:prstGeom>
          <a:noFill/>
          <a:ln/>
        </p:spPr>
        <p:txBody>
          <a:bodyPr wrap="square" lIns="0" tIns="0" rIns="0" bIns="0" rtlCol="0" anchor="ctr"/>
          <a:lstStyle/>
          <a:p>
            <a:pPr marL="0" indent="0">
              <a:buNone/>
            </a:pPr>
            <a:r>
              <a:rPr lang="en-US" sz="1100" b="1" kern="0" spc="100" dirty="0">
                <a:solidFill>
                  <a:srgbClr val="DA291C"/>
                </a:solidFill>
                <a:latin typeface="Calibri" pitchFamily="34" charset="0"/>
                <a:ea typeface="Calibri" pitchFamily="34" charset="-122"/>
                <a:cs typeface="Calibri" pitchFamily="34" charset="-120"/>
              </a:rPr>
              <a:t>📋  STUDY TASKS (7 TASKS)</a:t>
            </a:r>
            <a:endParaRPr lang="en-US" sz="1100" dirty="0"/>
          </a:p>
        </p:txBody>
      </p:sp>
      <p:sp>
        <p:nvSpPr>
          <p:cNvPr id="13" name="Text 11"/>
          <p:cNvSpPr/>
          <p:nvPr/>
        </p:nvSpPr>
        <p:spPr>
          <a:xfrm>
            <a:off x="4828032" y="1499616"/>
            <a:ext cx="3794760" cy="1298448"/>
          </a:xfrm>
          <a:prstGeom prst="rect">
            <a:avLst/>
          </a:prstGeom>
          <a:noFill/>
          <a:ln/>
        </p:spPr>
        <p:txBody>
          <a:bodyPr wrap="square" lIns="0" tIns="0" rIns="0" bIns="0" rtlCol="0" anchor="ctr"/>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T1: Find most-reviewed city</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T2: Identify worst branch</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T3: City filter interaction</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T4: Navigate to Co-Pilot</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T5: Generate AI insights</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T6: Download staff briefing</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T7: Adjust time range &amp; regenerate</a:t>
            </a:r>
            <a:endParaRPr lang="en-US" sz="1100" dirty="0"/>
          </a:p>
        </p:txBody>
      </p:sp>
      <p:sp>
        <p:nvSpPr>
          <p:cNvPr id="14" name="Shape 12"/>
          <p:cNvSpPr/>
          <p:nvPr/>
        </p:nvSpPr>
        <p:spPr>
          <a:xfrm>
            <a:off x="320040" y="2944368"/>
            <a:ext cx="4160520" cy="1783080"/>
          </a:xfrm>
          <a:prstGeom prst="rect">
            <a:avLst/>
          </a:prstGeom>
          <a:solidFill>
            <a:srgbClr val="FFFFFF"/>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5" name="Shape 13"/>
          <p:cNvSpPr/>
          <p:nvPr/>
        </p:nvSpPr>
        <p:spPr>
          <a:xfrm>
            <a:off x="320040" y="2944368"/>
            <a:ext cx="4160520" cy="329184"/>
          </a:xfrm>
          <a:prstGeom prst="rect">
            <a:avLst/>
          </a:prstGeom>
          <a:solidFill>
            <a:srgbClr val="FFC72C"/>
          </a:solidFill>
          <a:ln w="12700">
            <a:solidFill>
              <a:srgbClr val="FFC72C"/>
            </a:solidFill>
            <a:prstDash val="solid"/>
          </a:ln>
        </p:spPr>
        <p:txBody>
          <a:bodyPr/>
          <a:lstStyle/>
          <a:p>
            <a:endParaRPr lang="en-US"/>
          </a:p>
        </p:txBody>
      </p:sp>
      <p:sp>
        <p:nvSpPr>
          <p:cNvPr id="16" name="Text 14"/>
          <p:cNvSpPr/>
          <p:nvPr/>
        </p:nvSpPr>
        <p:spPr>
          <a:xfrm>
            <a:off x="457200" y="2980944"/>
            <a:ext cx="3840480" cy="256032"/>
          </a:xfrm>
          <a:prstGeom prst="rect">
            <a:avLst/>
          </a:prstGeom>
          <a:noFill/>
          <a:ln/>
        </p:spPr>
        <p:txBody>
          <a:bodyPr wrap="square" lIns="0" tIns="0" rIns="0" bIns="0" rtlCol="0" anchor="ctr"/>
          <a:lstStyle/>
          <a:p>
            <a:pPr marL="0" indent="0">
              <a:buNone/>
            </a:pPr>
            <a:r>
              <a:rPr lang="en-US" sz="1100" b="1" kern="0" spc="100" dirty="0">
                <a:solidFill>
                  <a:srgbClr val="1A1A1A"/>
                </a:solidFill>
                <a:latin typeface="Calibri" pitchFamily="34" charset="0"/>
                <a:ea typeface="Calibri" pitchFamily="34" charset="-122"/>
                <a:cs typeface="Calibri" pitchFamily="34" charset="-120"/>
              </a:rPr>
              <a:t>📊  QUANTITATIVE METRICS</a:t>
            </a:r>
            <a:endParaRPr lang="en-US" sz="1100" dirty="0"/>
          </a:p>
        </p:txBody>
      </p:sp>
      <p:sp>
        <p:nvSpPr>
          <p:cNvPr id="17" name="Text 15"/>
          <p:cNvSpPr/>
          <p:nvPr/>
        </p:nvSpPr>
        <p:spPr>
          <a:xfrm>
            <a:off x="484632" y="3346704"/>
            <a:ext cx="3794760" cy="1298448"/>
          </a:xfrm>
          <a:prstGeom prst="rect">
            <a:avLst/>
          </a:prstGeom>
          <a:noFill/>
          <a:ln/>
        </p:spPr>
        <p:txBody>
          <a:bodyPr wrap="square" lIns="0" tIns="0" rIns="0" bIns="0" rtlCol="0" anchor="ctr"/>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Task success / assisted / failed rates</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Mean time-on-task (seconds)</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SUS — System Usability Scale</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UMUX-Lite score</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AI Trust Score (5-point survey)</a:t>
            </a:r>
            <a:endParaRPr lang="en-US" sz="1100" dirty="0"/>
          </a:p>
        </p:txBody>
      </p:sp>
      <p:sp>
        <p:nvSpPr>
          <p:cNvPr id="18" name="Shape 16"/>
          <p:cNvSpPr/>
          <p:nvPr/>
        </p:nvSpPr>
        <p:spPr>
          <a:xfrm>
            <a:off x="4663440" y="2944368"/>
            <a:ext cx="4160520" cy="1783080"/>
          </a:xfrm>
          <a:prstGeom prst="rect">
            <a:avLst/>
          </a:prstGeom>
          <a:solidFill>
            <a:srgbClr val="FFFFFF"/>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9" name="Shape 17"/>
          <p:cNvSpPr/>
          <p:nvPr/>
        </p:nvSpPr>
        <p:spPr>
          <a:xfrm>
            <a:off x="4663440" y="2944368"/>
            <a:ext cx="4160520" cy="329184"/>
          </a:xfrm>
          <a:prstGeom prst="rect">
            <a:avLst/>
          </a:prstGeom>
          <a:solidFill>
            <a:srgbClr val="FFC72C"/>
          </a:solidFill>
          <a:ln w="12700">
            <a:solidFill>
              <a:srgbClr val="FFC72C"/>
            </a:solidFill>
            <a:prstDash val="solid"/>
          </a:ln>
        </p:spPr>
        <p:txBody>
          <a:bodyPr/>
          <a:lstStyle/>
          <a:p>
            <a:endParaRPr lang="en-US"/>
          </a:p>
        </p:txBody>
      </p:sp>
      <p:sp>
        <p:nvSpPr>
          <p:cNvPr id="20" name="Text 18"/>
          <p:cNvSpPr/>
          <p:nvPr/>
        </p:nvSpPr>
        <p:spPr>
          <a:xfrm>
            <a:off x="4800600" y="2980944"/>
            <a:ext cx="3840480" cy="256032"/>
          </a:xfrm>
          <a:prstGeom prst="rect">
            <a:avLst/>
          </a:prstGeom>
          <a:noFill/>
          <a:ln/>
        </p:spPr>
        <p:txBody>
          <a:bodyPr wrap="square" lIns="0" tIns="0" rIns="0" bIns="0" rtlCol="0" anchor="ctr"/>
          <a:lstStyle/>
          <a:p>
            <a:pPr marL="0" indent="0">
              <a:buNone/>
            </a:pPr>
            <a:r>
              <a:rPr lang="en-US" sz="1100" b="1" kern="0" spc="100" dirty="0">
                <a:solidFill>
                  <a:srgbClr val="1A1A1A"/>
                </a:solidFill>
                <a:latin typeface="Calibri" pitchFamily="34" charset="0"/>
                <a:ea typeface="Calibri" pitchFamily="34" charset="-122"/>
                <a:cs typeface="Calibri" pitchFamily="34" charset="-120"/>
              </a:rPr>
              <a:t>💬  QUALITATIVE METRICS</a:t>
            </a:r>
            <a:endParaRPr lang="en-US" sz="1100" dirty="0"/>
          </a:p>
        </p:txBody>
      </p:sp>
      <p:sp>
        <p:nvSpPr>
          <p:cNvPr id="21" name="Text 19"/>
          <p:cNvSpPr/>
          <p:nvPr/>
        </p:nvSpPr>
        <p:spPr>
          <a:xfrm>
            <a:off x="4828032" y="3346704"/>
            <a:ext cx="3794760" cy="1298448"/>
          </a:xfrm>
          <a:prstGeom prst="rect">
            <a:avLst/>
          </a:prstGeom>
          <a:noFill/>
          <a:ln/>
        </p:spPr>
        <p:txBody>
          <a:bodyPr wrap="square" lIns="0" tIns="0" rIns="0" bIns="0" rtlCol="0" anchor="ctr"/>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Think-aloud observation notes</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Post-task satisfaction rating</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Open-ended interview themes</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Usefulness &amp; trust probes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C72C"/>
          </a:solidFill>
          <a:ln w="12700">
            <a:solidFill>
              <a:srgbClr val="FFC72C"/>
            </a:solidFill>
            <a:prstDash val="solid"/>
          </a:ln>
        </p:spPr>
        <p:txBody>
          <a:bodyPr/>
          <a:lstStyle/>
          <a:p>
            <a:endParaRPr lang="en-US"/>
          </a:p>
        </p:txBody>
      </p:sp>
      <p:sp>
        <p:nvSpPr>
          <p:cNvPr id="3" name="Shape 1"/>
          <p:cNvSpPr/>
          <p:nvPr/>
        </p:nvSpPr>
        <p:spPr>
          <a:xfrm>
            <a:off x="0" y="896112"/>
            <a:ext cx="9144000" cy="73152"/>
          </a:xfrm>
          <a:prstGeom prst="rect">
            <a:avLst/>
          </a:prstGeom>
          <a:solidFill>
            <a:srgbClr val="DA291C"/>
          </a:solidFill>
          <a:ln w="12700">
            <a:solidFill>
              <a:srgbClr val="DA291C"/>
            </a:solidFill>
            <a:prstDash val="solid"/>
          </a:ln>
        </p:spPr>
        <p:txBody>
          <a:bodyPr/>
          <a:lstStyle/>
          <a:p>
            <a:endParaRPr lang="en-US"/>
          </a:p>
        </p:txBody>
      </p:sp>
      <p:sp>
        <p:nvSpPr>
          <p:cNvPr id="4" name="Text 2"/>
          <p:cNvSpPr/>
          <p:nvPr/>
        </p:nvSpPr>
        <p:spPr>
          <a:xfrm>
            <a:off x="411480" y="73152"/>
            <a:ext cx="8046720" cy="658368"/>
          </a:xfrm>
          <a:prstGeom prst="rect">
            <a:avLst/>
          </a:prstGeom>
          <a:noFill/>
          <a:ln/>
        </p:spPr>
        <p:txBody>
          <a:bodyPr wrap="square" lIns="0" tIns="0" rIns="0" bIns="0" rtlCol="0" anchor="ctr"/>
          <a:lstStyle/>
          <a:p>
            <a:pPr marL="0" indent="0">
              <a:buNone/>
            </a:pPr>
            <a:r>
              <a:rPr lang="en-US" sz="3000" b="1" dirty="0">
                <a:solidFill>
                  <a:srgbClr val="1A1A1A"/>
                </a:solidFill>
                <a:latin typeface="Arial Black" pitchFamily="34" charset="0"/>
                <a:ea typeface="Arial Black" pitchFamily="34" charset="-122"/>
                <a:cs typeface="Arial Black" pitchFamily="34" charset="-120"/>
              </a:rPr>
              <a:t>Study Materials &amp; Protocol</a:t>
            </a:r>
            <a:endParaRPr lang="en-US" sz="3000" dirty="0"/>
          </a:p>
        </p:txBody>
      </p:sp>
      <p:sp>
        <p:nvSpPr>
          <p:cNvPr id="5" name="Text 3"/>
          <p:cNvSpPr/>
          <p:nvPr/>
        </p:nvSpPr>
        <p:spPr>
          <a:xfrm>
            <a:off x="5029200" y="658368"/>
            <a:ext cx="3886200" cy="256032"/>
          </a:xfrm>
          <a:prstGeom prst="rect">
            <a:avLst/>
          </a:prstGeom>
          <a:noFill/>
          <a:ln/>
        </p:spPr>
        <p:txBody>
          <a:bodyPr wrap="square" lIns="0" tIns="0" rIns="0" bIns="0" rtlCol="0" anchor="ctr"/>
          <a:lstStyle/>
          <a:p>
            <a:pPr marL="0" indent="0" algn="r">
              <a:buNone/>
            </a:pPr>
            <a:r>
              <a:rPr lang="en-US" sz="850" b="1" kern="0" spc="200" dirty="0">
                <a:solidFill>
                  <a:srgbClr val="DA291C"/>
                </a:solidFill>
                <a:latin typeface="Calibri" pitchFamily="34" charset="0"/>
                <a:ea typeface="Calibri" pitchFamily="34" charset="-122"/>
                <a:cs typeface="Calibri" pitchFamily="34" charset="-120"/>
              </a:rPr>
              <a:t>HOW WE RAN THE STUDY</a:t>
            </a:r>
            <a:endParaRPr lang="en-US" sz="850" dirty="0"/>
          </a:p>
        </p:txBody>
      </p:sp>
      <p:sp>
        <p:nvSpPr>
          <p:cNvPr id="6" name="Shape 4"/>
          <p:cNvSpPr/>
          <p:nvPr/>
        </p:nvSpPr>
        <p:spPr>
          <a:xfrm>
            <a:off x="969264" y="2103120"/>
            <a:ext cx="7205472" cy="54864"/>
          </a:xfrm>
          <a:prstGeom prst="rect">
            <a:avLst/>
          </a:prstGeom>
          <a:solidFill>
            <a:srgbClr val="FFC72C"/>
          </a:solidFill>
          <a:ln w="12700">
            <a:solidFill>
              <a:srgbClr val="FFC72C"/>
            </a:solidFill>
            <a:prstDash val="solid"/>
          </a:ln>
        </p:spPr>
        <p:txBody>
          <a:bodyPr/>
          <a:lstStyle/>
          <a:p>
            <a:endParaRPr lang="en-US"/>
          </a:p>
        </p:txBody>
      </p:sp>
      <p:sp>
        <p:nvSpPr>
          <p:cNvPr id="7" name="Shape 5"/>
          <p:cNvSpPr/>
          <p:nvPr/>
        </p:nvSpPr>
        <p:spPr>
          <a:xfrm>
            <a:off x="320040" y="1097280"/>
            <a:ext cx="1938528" cy="3520440"/>
          </a:xfrm>
          <a:prstGeom prst="rect">
            <a:avLst/>
          </a:prstGeom>
          <a:solidFill>
            <a:srgbClr val="FFFFFF"/>
          </a:solidFill>
          <a:ln w="2540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8" name="Shape 6"/>
          <p:cNvSpPr/>
          <p:nvPr/>
        </p:nvSpPr>
        <p:spPr>
          <a:xfrm>
            <a:off x="320040" y="1097280"/>
            <a:ext cx="1938528" cy="73152"/>
          </a:xfrm>
          <a:prstGeom prst="rect">
            <a:avLst/>
          </a:prstGeom>
          <a:solidFill>
            <a:srgbClr val="FFC72C"/>
          </a:solidFill>
          <a:ln w="12700">
            <a:solidFill>
              <a:srgbClr val="FFC72C"/>
            </a:solidFill>
            <a:prstDash val="solid"/>
          </a:ln>
        </p:spPr>
        <p:txBody>
          <a:bodyPr/>
          <a:lstStyle/>
          <a:p>
            <a:endParaRPr lang="en-US"/>
          </a:p>
        </p:txBody>
      </p:sp>
      <p:sp>
        <p:nvSpPr>
          <p:cNvPr id="9" name="Shape 7"/>
          <p:cNvSpPr/>
          <p:nvPr/>
        </p:nvSpPr>
        <p:spPr>
          <a:xfrm>
            <a:off x="969264" y="1508760"/>
            <a:ext cx="658368" cy="658368"/>
          </a:xfrm>
          <a:prstGeom prst="ellipse">
            <a:avLst/>
          </a:prstGeom>
          <a:solidFill>
            <a:srgbClr val="DA291C"/>
          </a:solidFill>
          <a:ln w="12700">
            <a:solidFill>
              <a:srgbClr val="DA291C"/>
            </a:solidFill>
            <a:prstDash val="solid"/>
          </a:ln>
        </p:spPr>
        <p:txBody>
          <a:bodyPr/>
          <a:lstStyle/>
          <a:p>
            <a:endParaRPr lang="en-US"/>
          </a:p>
        </p:txBody>
      </p:sp>
      <p:sp>
        <p:nvSpPr>
          <p:cNvPr id="10" name="Text 8"/>
          <p:cNvSpPr/>
          <p:nvPr/>
        </p:nvSpPr>
        <p:spPr>
          <a:xfrm>
            <a:off x="969264" y="1508760"/>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11" name="Shape 9"/>
          <p:cNvSpPr/>
          <p:nvPr/>
        </p:nvSpPr>
        <p:spPr>
          <a:xfrm>
            <a:off x="320040" y="2286000"/>
            <a:ext cx="1938528" cy="347472"/>
          </a:xfrm>
          <a:prstGeom prst="rect">
            <a:avLst/>
          </a:prstGeom>
          <a:solidFill>
            <a:srgbClr val="FFC72C"/>
          </a:solidFill>
          <a:ln w="12700">
            <a:solidFill>
              <a:srgbClr val="FFC72C"/>
            </a:solidFill>
            <a:prstDash val="solid"/>
          </a:ln>
        </p:spPr>
        <p:txBody>
          <a:bodyPr/>
          <a:lstStyle/>
          <a:p>
            <a:endParaRPr lang="en-US"/>
          </a:p>
        </p:txBody>
      </p:sp>
      <p:sp>
        <p:nvSpPr>
          <p:cNvPr id="12" name="Text 10"/>
          <p:cNvSpPr/>
          <p:nvPr/>
        </p:nvSpPr>
        <p:spPr>
          <a:xfrm>
            <a:off x="320040" y="2304288"/>
            <a:ext cx="1938528" cy="310896"/>
          </a:xfrm>
          <a:prstGeom prst="rect">
            <a:avLst/>
          </a:prstGeom>
          <a:noFill/>
          <a:ln/>
        </p:spPr>
        <p:txBody>
          <a:bodyPr wrap="square" lIns="0" tIns="0" rIns="0" bIns="0" rtlCol="0" anchor="ctr"/>
          <a:lstStyle/>
          <a:p>
            <a:pPr marL="0" indent="0" algn="ctr">
              <a:buNone/>
            </a:pPr>
            <a:r>
              <a:rPr lang="en-US" sz="1250" b="1" dirty="0">
                <a:solidFill>
                  <a:srgbClr val="1A1A1A"/>
                </a:solidFill>
                <a:latin typeface="Calibri" pitchFamily="34" charset="0"/>
                <a:ea typeface="Calibri" pitchFamily="34" charset="-122"/>
                <a:cs typeface="Calibri" pitchFamily="34" charset="-120"/>
              </a:rPr>
              <a:t>Introduction</a:t>
            </a:r>
            <a:endParaRPr lang="en-US" sz="1250" dirty="0"/>
          </a:p>
        </p:txBody>
      </p:sp>
      <p:sp>
        <p:nvSpPr>
          <p:cNvPr id="13" name="Text 11"/>
          <p:cNvSpPr/>
          <p:nvPr/>
        </p:nvSpPr>
        <p:spPr>
          <a:xfrm>
            <a:off x="457200" y="2743200"/>
            <a:ext cx="1664208" cy="1737360"/>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Consent briefing</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Study goals explained</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Think-aloud method</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No right/wrong answers</a:t>
            </a:r>
            <a:endParaRPr lang="en-US" sz="1100" dirty="0"/>
          </a:p>
        </p:txBody>
      </p:sp>
      <p:sp>
        <p:nvSpPr>
          <p:cNvPr id="14" name="Shape 12"/>
          <p:cNvSpPr/>
          <p:nvPr/>
        </p:nvSpPr>
        <p:spPr>
          <a:xfrm>
            <a:off x="2496312" y="1097280"/>
            <a:ext cx="1938528" cy="3520440"/>
          </a:xfrm>
          <a:prstGeom prst="rect">
            <a:avLst/>
          </a:prstGeom>
          <a:solidFill>
            <a:srgbClr val="FFFFFF"/>
          </a:solidFill>
          <a:ln w="2540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5" name="Shape 13"/>
          <p:cNvSpPr/>
          <p:nvPr/>
        </p:nvSpPr>
        <p:spPr>
          <a:xfrm>
            <a:off x="2496312" y="1097280"/>
            <a:ext cx="1938528" cy="73152"/>
          </a:xfrm>
          <a:prstGeom prst="rect">
            <a:avLst/>
          </a:prstGeom>
          <a:solidFill>
            <a:srgbClr val="FFC72C"/>
          </a:solidFill>
          <a:ln w="12700">
            <a:solidFill>
              <a:srgbClr val="FFC72C"/>
            </a:solidFill>
            <a:prstDash val="solid"/>
          </a:ln>
        </p:spPr>
        <p:txBody>
          <a:bodyPr/>
          <a:lstStyle/>
          <a:p>
            <a:endParaRPr lang="en-US"/>
          </a:p>
        </p:txBody>
      </p:sp>
      <p:sp>
        <p:nvSpPr>
          <p:cNvPr id="16" name="Shape 14"/>
          <p:cNvSpPr/>
          <p:nvPr/>
        </p:nvSpPr>
        <p:spPr>
          <a:xfrm>
            <a:off x="3145536" y="1508760"/>
            <a:ext cx="658368" cy="658368"/>
          </a:xfrm>
          <a:prstGeom prst="ellipse">
            <a:avLst/>
          </a:prstGeom>
          <a:solidFill>
            <a:srgbClr val="DA291C"/>
          </a:solidFill>
          <a:ln w="12700">
            <a:solidFill>
              <a:srgbClr val="DA291C"/>
            </a:solidFill>
            <a:prstDash val="solid"/>
          </a:ln>
        </p:spPr>
        <p:txBody>
          <a:bodyPr/>
          <a:lstStyle/>
          <a:p>
            <a:endParaRPr lang="en-US"/>
          </a:p>
        </p:txBody>
      </p:sp>
      <p:sp>
        <p:nvSpPr>
          <p:cNvPr id="17" name="Text 15"/>
          <p:cNvSpPr/>
          <p:nvPr/>
        </p:nvSpPr>
        <p:spPr>
          <a:xfrm>
            <a:off x="3145536" y="1508760"/>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18" name="Shape 16"/>
          <p:cNvSpPr/>
          <p:nvPr/>
        </p:nvSpPr>
        <p:spPr>
          <a:xfrm>
            <a:off x="2496312" y="2286000"/>
            <a:ext cx="1938528" cy="347472"/>
          </a:xfrm>
          <a:prstGeom prst="rect">
            <a:avLst/>
          </a:prstGeom>
          <a:solidFill>
            <a:srgbClr val="FFC72C"/>
          </a:solidFill>
          <a:ln w="12700">
            <a:solidFill>
              <a:srgbClr val="FFC72C"/>
            </a:solidFill>
            <a:prstDash val="solid"/>
          </a:ln>
        </p:spPr>
        <p:txBody>
          <a:bodyPr/>
          <a:lstStyle/>
          <a:p>
            <a:endParaRPr lang="en-US"/>
          </a:p>
        </p:txBody>
      </p:sp>
      <p:sp>
        <p:nvSpPr>
          <p:cNvPr id="19" name="Text 17"/>
          <p:cNvSpPr/>
          <p:nvPr/>
        </p:nvSpPr>
        <p:spPr>
          <a:xfrm>
            <a:off x="2496312" y="2304288"/>
            <a:ext cx="1938528" cy="310896"/>
          </a:xfrm>
          <a:prstGeom prst="rect">
            <a:avLst/>
          </a:prstGeom>
          <a:noFill/>
          <a:ln/>
        </p:spPr>
        <p:txBody>
          <a:bodyPr wrap="square" lIns="0" tIns="0" rIns="0" bIns="0" rtlCol="0" anchor="ctr"/>
          <a:lstStyle/>
          <a:p>
            <a:pPr marL="0" indent="0" algn="ctr">
              <a:buNone/>
            </a:pPr>
            <a:r>
              <a:rPr lang="en-US" sz="1250" b="1" dirty="0">
                <a:solidFill>
                  <a:srgbClr val="1A1A1A"/>
                </a:solidFill>
                <a:latin typeface="Calibri" pitchFamily="34" charset="0"/>
                <a:ea typeface="Calibri" pitchFamily="34" charset="-122"/>
                <a:cs typeface="Calibri" pitchFamily="34" charset="-120"/>
              </a:rPr>
              <a:t>Task Completion</a:t>
            </a:r>
            <a:endParaRPr lang="en-US" sz="1250" dirty="0"/>
          </a:p>
        </p:txBody>
      </p:sp>
      <p:sp>
        <p:nvSpPr>
          <p:cNvPr id="20" name="Text 18"/>
          <p:cNvSpPr/>
          <p:nvPr/>
        </p:nvSpPr>
        <p:spPr>
          <a:xfrm>
            <a:off x="2633472" y="2743200"/>
            <a:ext cx="1664208" cy="1737360"/>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7 structured tasks</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Live app (Streamlit)</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Observer notes silently</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Screen + audio recorded</a:t>
            </a:r>
            <a:endParaRPr lang="en-US" sz="1100" dirty="0"/>
          </a:p>
        </p:txBody>
      </p:sp>
      <p:sp>
        <p:nvSpPr>
          <p:cNvPr id="21" name="Shape 19"/>
          <p:cNvSpPr/>
          <p:nvPr/>
        </p:nvSpPr>
        <p:spPr>
          <a:xfrm>
            <a:off x="4672584" y="1097280"/>
            <a:ext cx="1938528" cy="3520440"/>
          </a:xfrm>
          <a:prstGeom prst="rect">
            <a:avLst/>
          </a:prstGeom>
          <a:solidFill>
            <a:srgbClr val="FFFFFF"/>
          </a:solidFill>
          <a:ln w="2540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22" name="Shape 20"/>
          <p:cNvSpPr/>
          <p:nvPr/>
        </p:nvSpPr>
        <p:spPr>
          <a:xfrm>
            <a:off x="4672584" y="1097280"/>
            <a:ext cx="1938528" cy="73152"/>
          </a:xfrm>
          <a:prstGeom prst="rect">
            <a:avLst/>
          </a:prstGeom>
          <a:solidFill>
            <a:srgbClr val="FFC72C"/>
          </a:solidFill>
          <a:ln w="12700">
            <a:solidFill>
              <a:srgbClr val="FFC72C"/>
            </a:solidFill>
            <a:prstDash val="solid"/>
          </a:ln>
        </p:spPr>
        <p:txBody>
          <a:bodyPr/>
          <a:lstStyle/>
          <a:p>
            <a:endParaRPr lang="en-US"/>
          </a:p>
        </p:txBody>
      </p:sp>
      <p:sp>
        <p:nvSpPr>
          <p:cNvPr id="23" name="Shape 21"/>
          <p:cNvSpPr/>
          <p:nvPr/>
        </p:nvSpPr>
        <p:spPr>
          <a:xfrm>
            <a:off x="5321808" y="1508760"/>
            <a:ext cx="658368" cy="658368"/>
          </a:xfrm>
          <a:prstGeom prst="ellipse">
            <a:avLst/>
          </a:prstGeom>
          <a:solidFill>
            <a:srgbClr val="DA291C"/>
          </a:solidFill>
          <a:ln w="12700">
            <a:solidFill>
              <a:srgbClr val="DA291C"/>
            </a:solidFill>
            <a:prstDash val="solid"/>
          </a:ln>
        </p:spPr>
        <p:txBody>
          <a:bodyPr/>
          <a:lstStyle/>
          <a:p>
            <a:endParaRPr lang="en-US"/>
          </a:p>
        </p:txBody>
      </p:sp>
      <p:sp>
        <p:nvSpPr>
          <p:cNvPr id="24" name="Text 22"/>
          <p:cNvSpPr/>
          <p:nvPr/>
        </p:nvSpPr>
        <p:spPr>
          <a:xfrm>
            <a:off x="5321808" y="1508760"/>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25" name="Shape 23"/>
          <p:cNvSpPr/>
          <p:nvPr/>
        </p:nvSpPr>
        <p:spPr>
          <a:xfrm>
            <a:off x="4672584" y="2286000"/>
            <a:ext cx="1938528" cy="347472"/>
          </a:xfrm>
          <a:prstGeom prst="rect">
            <a:avLst/>
          </a:prstGeom>
          <a:solidFill>
            <a:srgbClr val="FFC72C"/>
          </a:solidFill>
          <a:ln w="12700">
            <a:solidFill>
              <a:srgbClr val="FFC72C"/>
            </a:solidFill>
            <a:prstDash val="solid"/>
          </a:ln>
        </p:spPr>
        <p:txBody>
          <a:bodyPr/>
          <a:lstStyle/>
          <a:p>
            <a:endParaRPr lang="en-US"/>
          </a:p>
        </p:txBody>
      </p:sp>
      <p:sp>
        <p:nvSpPr>
          <p:cNvPr id="26" name="Text 24"/>
          <p:cNvSpPr/>
          <p:nvPr/>
        </p:nvSpPr>
        <p:spPr>
          <a:xfrm>
            <a:off x="4672584" y="2304288"/>
            <a:ext cx="1938528" cy="310896"/>
          </a:xfrm>
          <a:prstGeom prst="rect">
            <a:avLst/>
          </a:prstGeom>
          <a:noFill/>
          <a:ln/>
        </p:spPr>
        <p:txBody>
          <a:bodyPr wrap="square" lIns="0" tIns="0" rIns="0" bIns="0" rtlCol="0" anchor="ctr"/>
          <a:lstStyle/>
          <a:p>
            <a:pPr marL="0" indent="0" algn="ctr">
              <a:buNone/>
            </a:pPr>
            <a:r>
              <a:rPr lang="en-US" sz="1250" b="1" dirty="0">
                <a:solidFill>
                  <a:srgbClr val="1A1A1A"/>
                </a:solidFill>
                <a:latin typeface="Calibri" pitchFamily="34" charset="0"/>
                <a:ea typeface="Calibri" pitchFamily="34" charset="-122"/>
                <a:cs typeface="Calibri" pitchFamily="34" charset="-120"/>
              </a:rPr>
              <a:t>Survey</a:t>
            </a:r>
            <a:endParaRPr lang="en-US" sz="1250" dirty="0"/>
          </a:p>
        </p:txBody>
      </p:sp>
      <p:sp>
        <p:nvSpPr>
          <p:cNvPr id="27" name="Text 25"/>
          <p:cNvSpPr/>
          <p:nvPr/>
        </p:nvSpPr>
        <p:spPr>
          <a:xfrm>
            <a:off x="4809744" y="2743200"/>
            <a:ext cx="1664208" cy="1737360"/>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SUS (10 questions)</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UMUX-Lite (2 items)</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AI Trust (custom 5-item)</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Satisfaction ratings</a:t>
            </a:r>
            <a:endParaRPr lang="en-US" sz="1100" dirty="0"/>
          </a:p>
        </p:txBody>
      </p:sp>
      <p:sp>
        <p:nvSpPr>
          <p:cNvPr id="28" name="Shape 26"/>
          <p:cNvSpPr/>
          <p:nvPr/>
        </p:nvSpPr>
        <p:spPr>
          <a:xfrm>
            <a:off x="6848856" y="1097280"/>
            <a:ext cx="1938528" cy="3520440"/>
          </a:xfrm>
          <a:prstGeom prst="rect">
            <a:avLst/>
          </a:prstGeom>
          <a:solidFill>
            <a:srgbClr val="FFFFFF"/>
          </a:solidFill>
          <a:ln w="2540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29" name="Shape 27"/>
          <p:cNvSpPr/>
          <p:nvPr/>
        </p:nvSpPr>
        <p:spPr>
          <a:xfrm>
            <a:off x="6848856" y="1097280"/>
            <a:ext cx="1938528" cy="73152"/>
          </a:xfrm>
          <a:prstGeom prst="rect">
            <a:avLst/>
          </a:prstGeom>
          <a:solidFill>
            <a:srgbClr val="FFC72C"/>
          </a:solidFill>
          <a:ln w="12700">
            <a:solidFill>
              <a:srgbClr val="FFC72C"/>
            </a:solidFill>
            <a:prstDash val="solid"/>
          </a:ln>
        </p:spPr>
        <p:txBody>
          <a:bodyPr/>
          <a:lstStyle/>
          <a:p>
            <a:endParaRPr lang="en-US"/>
          </a:p>
        </p:txBody>
      </p:sp>
      <p:sp>
        <p:nvSpPr>
          <p:cNvPr id="30" name="Shape 28"/>
          <p:cNvSpPr/>
          <p:nvPr/>
        </p:nvSpPr>
        <p:spPr>
          <a:xfrm>
            <a:off x="7498080" y="1508760"/>
            <a:ext cx="658368" cy="658368"/>
          </a:xfrm>
          <a:prstGeom prst="ellipse">
            <a:avLst/>
          </a:prstGeom>
          <a:solidFill>
            <a:srgbClr val="DA291C"/>
          </a:solidFill>
          <a:ln w="12700">
            <a:solidFill>
              <a:srgbClr val="DA291C"/>
            </a:solidFill>
            <a:prstDash val="solid"/>
          </a:ln>
        </p:spPr>
        <p:txBody>
          <a:bodyPr/>
          <a:lstStyle/>
          <a:p>
            <a:endParaRPr lang="en-US"/>
          </a:p>
        </p:txBody>
      </p:sp>
      <p:sp>
        <p:nvSpPr>
          <p:cNvPr id="31" name="Text 29"/>
          <p:cNvSpPr/>
          <p:nvPr/>
        </p:nvSpPr>
        <p:spPr>
          <a:xfrm>
            <a:off x="7498080" y="1508760"/>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32" name="Shape 30"/>
          <p:cNvSpPr/>
          <p:nvPr/>
        </p:nvSpPr>
        <p:spPr>
          <a:xfrm>
            <a:off x="6848856" y="2286000"/>
            <a:ext cx="1938528" cy="347472"/>
          </a:xfrm>
          <a:prstGeom prst="rect">
            <a:avLst/>
          </a:prstGeom>
          <a:solidFill>
            <a:srgbClr val="FFC72C"/>
          </a:solidFill>
          <a:ln w="12700">
            <a:solidFill>
              <a:srgbClr val="FFC72C"/>
            </a:solidFill>
            <a:prstDash val="solid"/>
          </a:ln>
        </p:spPr>
        <p:txBody>
          <a:bodyPr/>
          <a:lstStyle/>
          <a:p>
            <a:endParaRPr lang="en-US"/>
          </a:p>
        </p:txBody>
      </p:sp>
      <p:sp>
        <p:nvSpPr>
          <p:cNvPr id="33" name="Text 31"/>
          <p:cNvSpPr/>
          <p:nvPr/>
        </p:nvSpPr>
        <p:spPr>
          <a:xfrm>
            <a:off x="6848856" y="2304288"/>
            <a:ext cx="1938528" cy="310896"/>
          </a:xfrm>
          <a:prstGeom prst="rect">
            <a:avLst/>
          </a:prstGeom>
          <a:noFill/>
          <a:ln/>
        </p:spPr>
        <p:txBody>
          <a:bodyPr wrap="square" lIns="0" tIns="0" rIns="0" bIns="0" rtlCol="0" anchor="ctr"/>
          <a:lstStyle/>
          <a:p>
            <a:pPr marL="0" indent="0" algn="ctr">
              <a:buNone/>
            </a:pPr>
            <a:r>
              <a:rPr lang="en-US" sz="1250" b="1" dirty="0">
                <a:solidFill>
                  <a:srgbClr val="1A1A1A"/>
                </a:solidFill>
                <a:latin typeface="Calibri" pitchFamily="34" charset="0"/>
                <a:ea typeface="Calibri" pitchFamily="34" charset="-122"/>
                <a:cs typeface="Calibri" pitchFamily="34" charset="-120"/>
              </a:rPr>
              <a:t>Interview</a:t>
            </a:r>
            <a:endParaRPr lang="en-US" sz="1250" dirty="0"/>
          </a:p>
        </p:txBody>
      </p:sp>
      <p:sp>
        <p:nvSpPr>
          <p:cNvPr id="34" name="Text 32"/>
          <p:cNvSpPr/>
          <p:nvPr/>
        </p:nvSpPr>
        <p:spPr>
          <a:xfrm>
            <a:off x="6986016" y="2743200"/>
            <a:ext cx="1664208" cy="1737360"/>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Open-ended debrief</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Most/least useful parts</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Feature improvement ideas</a:t>
            </a:r>
            <a:endParaRPr lang="en-US" sz="1100" dirty="0"/>
          </a:p>
          <a:p>
            <a:pPr marL="0" indent="0">
              <a:buNone/>
            </a:pPr>
            <a:r>
              <a:rPr lang="en-US" sz="1100" dirty="0">
                <a:solidFill>
                  <a:srgbClr val="1A1A1A"/>
                </a:solidFill>
                <a:latin typeface="Calibri" pitchFamily="34" charset="0"/>
                <a:ea typeface="Calibri" pitchFamily="34" charset="-122"/>
                <a:cs typeface="Calibri" pitchFamily="34" charset="-120"/>
              </a:rPr>
              <a:t>Future usage intent</a:t>
            </a:r>
            <a:endParaRPr lang="en-US" sz="1100" dirty="0"/>
          </a:p>
        </p:txBody>
      </p:sp>
      <p:sp>
        <p:nvSpPr>
          <p:cNvPr id="35" name="Shape 33"/>
          <p:cNvSpPr/>
          <p:nvPr/>
        </p:nvSpPr>
        <p:spPr>
          <a:xfrm>
            <a:off x="0" y="4846320"/>
            <a:ext cx="9144000" cy="292608"/>
          </a:xfrm>
          <a:prstGeom prst="rect">
            <a:avLst/>
          </a:prstGeom>
          <a:solidFill>
            <a:srgbClr val="FFC72C"/>
          </a:solidFill>
          <a:ln w="12700">
            <a:solidFill>
              <a:srgbClr val="FFC72C"/>
            </a:solidFill>
            <a:prstDash val="solid"/>
          </a:ln>
        </p:spPr>
        <p:txBody>
          <a:bodyPr/>
          <a:lstStyle/>
          <a:p>
            <a:endParaRPr lang="en-US"/>
          </a:p>
        </p:txBody>
      </p:sp>
      <p:sp>
        <p:nvSpPr>
          <p:cNvPr id="36" name="Text 34"/>
          <p:cNvSpPr/>
          <p:nvPr/>
        </p:nvSpPr>
        <p:spPr>
          <a:xfrm>
            <a:off x="274320" y="4873752"/>
            <a:ext cx="8595360" cy="237744"/>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Interface: Live Streamlit app at mcd-command-centre.streamlit.app  ·  April 2026  ·  UIUC campus, in-person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C72C"/>
          </a:solidFill>
          <a:ln w="12700">
            <a:solidFill>
              <a:srgbClr val="FFC72C"/>
            </a:solidFill>
            <a:prstDash val="solid"/>
          </a:ln>
        </p:spPr>
        <p:txBody>
          <a:bodyPr/>
          <a:lstStyle/>
          <a:p>
            <a:endParaRPr lang="en-US"/>
          </a:p>
        </p:txBody>
      </p:sp>
      <p:sp>
        <p:nvSpPr>
          <p:cNvPr id="3" name="Shape 1"/>
          <p:cNvSpPr/>
          <p:nvPr/>
        </p:nvSpPr>
        <p:spPr>
          <a:xfrm>
            <a:off x="0" y="896112"/>
            <a:ext cx="9144000" cy="73152"/>
          </a:xfrm>
          <a:prstGeom prst="rect">
            <a:avLst/>
          </a:prstGeom>
          <a:solidFill>
            <a:srgbClr val="DA291C"/>
          </a:solidFill>
          <a:ln w="12700">
            <a:solidFill>
              <a:srgbClr val="DA291C"/>
            </a:solidFill>
            <a:prstDash val="solid"/>
          </a:ln>
        </p:spPr>
        <p:txBody>
          <a:bodyPr/>
          <a:lstStyle/>
          <a:p>
            <a:endParaRPr lang="en-US"/>
          </a:p>
        </p:txBody>
      </p:sp>
      <p:sp>
        <p:nvSpPr>
          <p:cNvPr id="4" name="Text 2"/>
          <p:cNvSpPr/>
          <p:nvPr/>
        </p:nvSpPr>
        <p:spPr>
          <a:xfrm>
            <a:off x="411480" y="73152"/>
            <a:ext cx="8046720" cy="658368"/>
          </a:xfrm>
          <a:prstGeom prst="rect">
            <a:avLst/>
          </a:prstGeom>
          <a:noFill/>
          <a:ln/>
        </p:spPr>
        <p:txBody>
          <a:bodyPr wrap="square" lIns="0" tIns="0" rIns="0" bIns="0" rtlCol="0" anchor="ctr"/>
          <a:lstStyle/>
          <a:p>
            <a:pPr marL="0" indent="0">
              <a:buNone/>
            </a:pPr>
            <a:r>
              <a:rPr lang="en-US" sz="3000" b="1" dirty="0">
                <a:solidFill>
                  <a:srgbClr val="1A1A1A"/>
                </a:solidFill>
                <a:latin typeface="Arial Black" pitchFamily="34" charset="0"/>
                <a:ea typeface="Arial Black" pitchFamily="34" charset="-122"/>
                <a:cs typeface="Arial Black" pitchFamily="34" charset="-120"/>
              </a:rPr>
              <a:t>Quantitative Results</a:t>
            </a:r>
            <a:endParaRPr lang="en-US" sz="3000" dirty="0"/>
          </a:p>
        </p:txBody>
      </p:sp>
      <p:sp>
        <p:nvSpPr>
          <p:cNvPr id="5" name="Text 3"/>
          <p:cNvSpPr/>
          <p:nvPr/>
        </p:nvSpPr>
        <p:spPr>
          <a:xfrm>
            <a:off x="5029200" y="658368"/>
            <a:ext cx="3886200" cy="256032"/>
          </a:xfrm>
          <a:prstGeom prst="rect">
            <a:avLst/>
          </a:prstGeom>
          <a:noFill/>
          <a:ln/>
        </p:spPr>
        <p:txBody>
          <a:bodyPr wrap="square" lIns="0" tIns="0" rIns="0" bIns="0" rtlCol="0" anchor="ctr"/>
          <a:lstStyle/>
          <a:p>
            <a:pPr marL="0" indent="0" algn="r">
              <a:buNone/>
            </a:pPr>
            <a:r>
              <a:rPr lang="en-US" sz="850" b="1" kern="0" spc="200" dirty="0">
                <a:solidFill>
                  <a:srgbClr val="DA291C"/>
                </a:solidFill>
                <a:latin typeface="Calibri" pitchFamily="34" charset="0"/>
                <a:ea typeface="Calibri" pitchFamily="34" charset="-122"/>
                <a:cs typeface="Calibri" pitchFamily="34" charset="-120"/>
              </a:rPr>
              <a:t>N = 5  ·  7 TASKS  ·  APRIL 2026</a:t>
            </a:r>
            <a:endParaRPr lang="en-US" sz="850" dirty="0"/>
          </a:p>
        </p:txBody>
      </p:sp>
      <p:sp>
        <p:nvSpPr>
          <p:cNvPr id="6" name="Shape 4"/>
          <p:cNvSpPr/>
          <p:nvPr/>
        </p:nvSpPr>
        <p:spPr>
          <a:xfrm>
            <a:off x="320040" y="1078992"/>
            <a:ext cx="1938528" cy="1207008"/>
          </a:xfrm>
          <a:prstGeom prst="rect">
            <a:avLst/>
          </a:prstGeom>
          <a:solidFill>
            <a:srgbClr val="FFC72C"/>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7" name="Text 5"/>
          <p:cNvSpPr/>
          <p:nvPr/>
        </p:nvSpPr>
        <p:spPr>
          <a:xfrm>
            <a:off x="320040" y="1133856"/>
            <a:ext cx="1938528" cy="658368"/>
          </a:xfrm>
          <a:prstGeom prst="rect">
            <a:avLst/>
          </a:prstGeom>
          <a:noFill/>
          <a:ln/>
        </p:spPr>
        <p:txBody>
          <a:bodyPr wrap="square" lIns="0" tIns="0" rIns="0" bIns="0" rtlCol="0" anchor="ctr"/>
          <a:lstStyle/>
          <a:p>
            <a:pPr marL="0" indent="0" algn="ctr">
              <a:buNone/>
            </a:pPr>
            <a:r>
              <a:rPr lang="en-US" sz="3600" b="1" dirty="0">
                <a:solidFill>
                  <a:srgbClr val="1A1A1A"/>
                </a:solidFill>
                <a:latin typeface="Arial Black" pitchFamily="34" charset="0"/>
                <a:ea typeface="Arial Black" pitchFamily="34" charset="-122"/>
                <a:cs typeface="Arial Black" pitchFamily="34" charset="-120"/>
              </a:rPr>
              <a:t>80%</a:t>
            </a:r>
            <a:endParaRPr lang="en-US" sz="3600" dirty="0"/>
          </a:p>
        </p:txBody>
      </p:sp>
      <p:sp>
        <p:nvSpPr>
          <p:cNvPr id="8" name="Text 6"/>
          <p:cNvSpPr/>
          <p:nvPr/>
        </p:nvSpPr>
        <p:spPr>
          <a:xfrm>
            <a:off x="320040" y="1792224"/>
            <a:ext cx="1938528" cy="438912"/>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Overall Task</a:t>
            </a:r>
            <a:endParaRPr lang="en-US" sz="1000" dirty="0"/>
          </a:p>
          <a:p>
            <a:pPr marL="0" indent="0" algn="ctr">
              <a:buNone/>
            </a:pPr>
            <a:r>
              <a:rPr lang="en-US" sz="1000" dirty="0">
                <a:solidFill>
                  <a:srgbClr val="1A1A1A"/>
                </a:solidFill>
                <a:latin typeface="Calibri" pitchFamily="34" charset="0"/>
                <a:ea typeface="Calibri" pitchFamily="34" charset="-122"/>
                <a:cs typeface="Calibri" pitchFamily="34" charset="-120"/>
              </a:rPr>
              <a:t>Success Rate</a:t>
            </a:r>
            <a:endParaRPr lang="en-US" sz="1000" dirty="0"/>
          </a:p>
        </p:txBody>
      </p:sp>
      <p:sp>
        <p:nvSpPr>
          <p:cNvPr id="9" name="Shape 7"/>
          <p:cNvSpPr/>
          <p:nvPr/>
        </p:nvSpPr>
        <p:spPr>
          <a:xfrm>
            <a:off x="2496312" y="1078992"/>
            <a:ext cx="1938528" cy="1207008"/>
          </a:xfrm>
          <a:prstGeom prst="rect">
            <a:avLst/>
          </a:prstGeom>
          <a:solidFill>
            <a:srgbClr val="FFC72C"/>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0" name="Text 8"/>
          <p:cNvSpPr/>
          <p:nvPr/>
        </p:nvSpPr>
        <p:spPr>
          <a:xfrm>
            <a:off x="2496312" y="1133856"/>
            <a:ext cx="1938528" cy="658368"/>
          </a:xfrm>
          <a:prstGeom prst="rect">
            <a:avLst/>
          </a:prstGeom>
          <a:noFill/>
          <a:ln/>
        </p:spPr>
        <p:txBody>
          <a:bodyPr wrap="square" lIns="0" tIns="0" rIns="0" bIns="0" rtlCol="0" anchor="ctr"/>
          <a:lstStyle/>
          <a:p>
            <a:pPr marL="0" indent="0" algn="ctr">
              <a:buNone/>
            </a:pPr>
            <a:r>
              <a:rPr lang="en-US" sz="3600" b="1" dirty="0">
                <a:solidFill>
                  <a:srgbClr val="1A1A1A"/>
                </a:solidFill>
                <a:latin typeface="Arial Black" pitchFamily="34" charset="0"/>
                <a:ea typeface="Arial Black" pitchFamily="34" charset="-122"/>
                <a:cs typeface="Arial Black" pitchFamily="34" charset="-120"/>
              </a:rPr>
              <a:t>75.5</a:t>
            </a:r>
            <a:endParaRPr lang="en-US" sz="3600" dirty="0"/>
          </a:p>
        </p:txBody>
      </p:sp>
      <p:sp>
        <p:nvSpPr>
          <p:cNvPr id="11" name="Text 9"/>
          <p:cNvSpPr/>
          <p:nvPr/>
        </p:nvSpPr>
        <p:spPr>
          <a:xfrm>
            <a:off x="2496312" y="1792224"/>
            <a:ext cx="1938528" cy="438912"/>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SUS Score</a:t>
            </a:r>
            <a:endParaRPr lang="en-US" sz="1000" dirty="0"/>
          </a:p>
          <a:p>
            <a:pPr marL="0" indent="0" algn="ctr">
              <a:buNone/>
            </a:pPr>
            <a:r>
              <a:rPr lang="en-US" sz="1000" dirty="0">
                <a:solidFill>
                  <a:srgbClr val="1A1A1A"/>
                </a:solidFill>
                <a:latin typeface="Calibri" pitchFamily="34" charset="0"/>
                <a:ea typeface="Calibri" pitchFamily="34" charset="-122"/>
                <a:cs typeface="Calibri" pitchFamily="34" charset="-120"/>
              </a:rPr>
              <a:t>Good ≥ 71</a:t>
            </a:r>
            <a:endParaRPr lang="en-US" sz="1000" dirty="0"/>
          </a:p>
        </p:txBody>
      </p:sp>
      <p:sp>
        <p:nvSpPr>
          <p:cNvPr id="12" name="Shape 10"/>
          <p:cNvSpPr/>
          <p:nvPr/>
        </p:nvSpPr>
        <p:spPr>
          <a:xfrm>
            <a:off x="4672584" y="1078992"/>
            <a:ext cx="1938528" cy="1207008"/>
          </a:xfrm>
          <a:prstGeom prst="rect">
            <a:avLst/>
          </a:prstGeom>
          <a:solidFill>
            <a:srgbClr val="FDECEA"/>
          </a:solidFill>
          <a:ln w="19050">
            <a:solidFill>
              <a:srgbClr val="DA291C"/>
            </a:solidFill>
            <a:prstDash val="solid"/>
          </a:ln>
          <a:effectLst>
            <a:outerShdw blurRad="63500" dist="25400" dir="8100000" algn="bl" rotWithShape="0">
              <a:srgbClr val="000000">
                <a:alpha val="12000"/>
              </a:srgbClr>
            </a:outerShdw>
          </a:effectLst>
        </p:spPr>
        <p:txBody>
          <a:bodyPr/>
          <a:lstStyle/>
          <a:p>
            <a:endParaRPr lang="en-US"/>
          </a:p>
        </p:txBody>
      </p:sp>
      <p:sp>
        <p:nvSpPr>
          <p:cNvPr id="13" name="Text 11"/>
          <p:cNvSpPr/>
          <p:nvPr/>
        </p:nvSpPr>
        <p:spPr>
          <a:xfrm>
            <a:off x="4672584" y="1133856"/>
            <a:ext cx="1938528" cy="658368"/>
          </a:xfrm>
          <a:prstGeom prst="rect">
            <a:avLst/>
          </a:prstGeom>
          <a:noFill/>
          <a:ln/>
        </p:spPr>
        <p:txBody>
          <a:bodyPr wrap="square" lIns="0" tIns="0" rIns="0" bIns="0" rtlCol="0" anchor="ctr"/>
          <a:lstStyle/>
          <a:p>
            <a:pPr marL="0" indent="0" algn="ctr">
              <a:buNone/>
            </a:pPr>
            <a:r>
              <a:rPr lang="en-US" sz="3600" b="1" dirty="0">
                <a:solidFill>
                  <a:srgbClr val="DA291C"/>
                </a:solidFill>
                <a:latin typeface="Arial Black" pitchFamily="34" charset="0"/>
                <a:ea typeface="Arial Black" pitchFamily="34" charset="-122"/>
                <a:cs typeface="Arial Black" pitchFamily="34" charset="-120"/>
              </a:rPr>
              <a:t>65.0</a:t>
            </a:r>
            <a:endParaRPr lang="en-US" sz="3600" dirty="0"/>
          </a:p>
        </p:txBody>
      </p:sp>
      <p:sp>
        <p:nvSpPr>
          <p:cNvPr id="14" name="Text 12"/>
          <p:cNvSpPr/>
          <p:nvPr/>
        </p:nvSpPr>
        <p:spPr>
          <a:xfrm>
            <a:off x="4672584" y="1792224"/>
            <a:ext cx="1938528" cy="438912"/>
          </a:xfrm>
          <a:prstGeom prst="rect">
            <a:avLst/>
          </a:prstGeom>
          <a:noFill/>
          <a:ln/>
        </p:spPr>
        <p:txBody>
          <a:bodyPr wrap="square" lIns="0" tIns="0" rIns="0" bIns="0" rtlCol="0" anchor="ctr"/>
          <a:lstStyle/>
          <a:p>
            <a:pPr marL="0" indent="0" algn="ctr">
              <a:buNone/>
            </a:pPr>
            <a:r>
              <a:rPr lang="en-US" sz="1000" dirty="0">
                <a:solidFill>
                  <a:srgbClr val="DA291C"/>
                </a:solidFill>
                <a:latin typeface="Calibri" pitchFamily="34" charset="0"/>
                <a:ea typeface="Calibri" pitchFamily="34" charset="-122"/>
                <a:cs typeface="Calibri" pitchFamily="34" charset="-120"/>
              </a:rPr>
              <a:t>UMUX-Lite</a:t>
            </a:r>
            <a:endParaRPr lang="en-US" sz="1000" dirty="0"/>
          </a:p>
          <a:p>
            <a:pPr marL="0" indent="0" algn="ctr">
              <a:buNone/>
            </a:pPr>
            <a:r>
              <a:rPr lang="en-US" sz="1000" dirty="0">
                <a:solidFill>
                  <a:srgbClr val="DA291C"/>
                </a:solidFill>
                <a:latin typeface="Calibri" pitchFamily="34" charset="0"/>
                <a:ea typeface="Calibri" pitchFamily="34" charset="-122"/>
                <a:cs typeface="Calibri" pitchFamily="34" charset="-120"/>
              </a:rPr>
              <a:t>Benchmark 70</a:t>
            </a:r>
            <a:endParaRPr lang="en-US" sz="1000" dirty="0"/>
          </a:p>
        </p:txBody>
      </p:sp>
      <p:sp>
        <p:nvSpPr>
          <p:cNvPr id="15" name="Shape 13"/>
          <p:cNvSpPr/>
          <p:nvPr/>
        </p:nvSpPr>
        <p:spPr>
          <a:xfrm>
            <a:off x="6848856" y="1078992"/>
            <a:ext cx="1938528" cy="1207008"/>
          </a:xfrm>
          <a:prstGeom prst="rect">
            <a:avLst/>
          </a:prstGeom>
          <a:solidFill>
            <a:srgbClr val="FFC72C"/>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6" name="Text 14"/>
          <p:cNvSpPr/>
          <p:nvPr/>
        </p:nvSpPr>
        <p:spPr>
          <a:xfrm>
            <a:off x="6848856" y="1133856"/>
            <a:ext cx="1938528" cy="658368"/>
          </a:xfrm>
          <a:prstGeom prst="rect">
            <a:avLst/>
          </a:prstGeom>
          <a:noFill/>
          <a:ln/>
        </p:spPr>
        <p:txBody>
          <a:bodyPr wrap="square" lIns="0" tIns="0" rIns="0" bIns="0" rtlCol="0" anchor="ctr"/>
          <a:lstStyle/>
          <a:p>
            <a:pPr marL="0" indent="0" algn="ctr">
              <a:buNone/>
            </a:pPr>
            <a:r>
              <a:rPr lang="en-US" sz="3600" b="1" dirty="0">
                <a:solidFill>
                  <a:srgbClr val="1A1A1A"/>
                </a:solidFill>
                <a:latin typeface="Arial Black" pitchFamily="34" charset="0"/>
                <a:ea typeface="Arial Black" pitchFamily="34" charset="-122"/>
                <a:cs typeface="Arial Black" pitchFamily="34" charset="-120"/>
              </a:rPr>
              <a:t>76%</a:t>
            </a:r>
            <a:endParaRPr lang="en-US" sz="3600" dirty="0"/>
          </a:p>
        </p:txBody>
      </p:sp>
      <p:sp>
        <p:nvSpPr>
          <p:cNvPr id="17" name="Text 15"/>
          <p:cNvSpPr/>
          <p:nvPr/>
        </p:nvSpPr>
        <p:spPr>
          <a:xfrm>
            <a:off x="6848856" y="1792224"/>
            <a:ext cx="1938528" cy="438912"/>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AI Trust</a:t>
            </a:r>
            <a:endParaRPr lang="en-US" sz="1000" dirty="0"/>
          </a:p>
          <a:p>
            <a:pPr marL="0" indent="0" algn="ctr">
              <a:buNone/>
            </a:pPr>
            <a:r>
              <a:rPr lang="en-US" sz="1000" dirty="0">
                <a:solidFill>
                  <a:srgbClr val="1A1A1A"/>
                </a:solidFill>
                <a:latin typeface="Calibri" pitchFamily="34" charset="0"/>
                <a:ea typeface="Calibri" pitchFamily="34" charset="-122"/>
                <a:cs typeface="Calibri" pitchFamily="34" charset="-120"/>
              </a:rPr>
              <a:t>Score</a:t>
            </a:r>
            <a:endParaRPr lang="en-US" sz="1000" dirty="0"/>
          </a:p>
        </p:txBody>
      </p:sp>
      <p:sp>
        <p:nvSpPr>
          <p:cNvPr id="18" name="Text 16"/>
          <p:cNvSpPr/>
          <p:nvPr/>
        </p:nvSpPr>
        <p:spPr>
          <a:xfrm>
            <a:off x="320040" y="2414016"/>
            <a:ext cx="4572000"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Task-by-Task Results</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2724912"/>
          <a:ext cx="8503920" cy="2278380"/>
        </p:xfrm>
        <a:graphic>
          <a:graphicData uri="http://schemas.openxmlformats.org/drawingml/2006/table">
            <a:tbl>
              <a:tblPr/>
              <a:tblGrid>
                <a:gridCol w="3200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246888">
                <a:tc>
                  <a:txBody>
                    <a:bodyPr/>
                    <a:lstStyle/>
                    <a:p>
                      <a:pPr marL="0" indent="0">
                        <a:buNone/>
                      </a:pPr>
                      <a:r>
                        <a:rPr lang="en-US" sz="1100" b="1" dirty="0">
                          <a:solidFill>
                            <a:srgbClr val="FFFFFF"/>
                          </a:solidFill>
                        </a:rPr>
                        <a:t>Task</a:t>
                      </a:r>
                      <a:endParaRPr lang="en-US" sz="110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DA291C"/>
                    </a:solidFill>
                  </a:tcPr>
                </a:tc>
                <a:tc>
                  <a:txBody>
                    <a:bodyPr/>
                    <a:lstStyle/>
                    <a:p>
                      <a:pPr marL="0" indent="0" algn="ctr">
                        <a:buNone/>
                      </a:pPr>
                      <a:r>
                        <a:rPr lang="en-US" sz="1100" b="1" dirty="0">
                          <a:solidFill>
                            <a:srgbClr val="FFFFFF"/>
                          </a:solidFill>
                        </a:rPr>
                        <a:t>Success %</a:t>
                      </a:r>
                      <a:endParaRPr lang="en-US" sz="110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DA291C"/>
                    </a:solidFill>
                  </a:tcPr>
                </a:tc>
                <a:tc>
                  <a:txBody>
                    <a:bodyPr/>
                    <a:lstStyle/>
                    <a:p>
                      <a:pPr marL="0" indent="0" algn="ctr">
                        <a:buNone/>
                      </a:pPr>
                      <a:r>
                        <a:rPr lang="en-US" sz="1100" b="1" dirty="0">
                          <a:solidFill>
                            <a:srgbClr val="FFFFFF"/>
                          </a:solidFill>
                        </a:rPr>
                        <a:t>Assisted %</a:t>
                      </a:r>
                      <a:endParaRPr lang="en-US" sz="110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DA291C"/>
                    </a:solidFill>
                  </a:tcPr>
                </a:tc>
                <a:tc>
                  <a:txBody>
                    <a:bodyPr/>
                    <a:lstStyle/>
                    <a:p>
                      <a:pPr marL="0" indent="0" algn="ctr">
                        <a:buNone/>
                      </a:pPr>
                      <a:r>
                        <a:rPr lang="en-US" sz="1100" b="1" dirty="0">
                          <a:solidFill>
                            <a:srgbClr val="FFFFFF"/>
                          </a:solidFill>
                        </a:rPr>
                        <a:t>Failed %</a:t>
                      </a:r>
                      <a:endParaRPr lang="en-US" sz="110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DA291C"/>
                    </a:solidFill>
                  </a:tcPr>
                </a:tc>
                <a:tc>
                  <a:txBody>
                    <a:bodyPr/>
                    <a:lstStyle/>
                    <a:p>
                      <a:pPr marL="0" indent="0" algn="ctr">
                        <a:buNone/>
                      </a:pPr>
                      <a:r>
                        <a:rPr lang="en-US" sz="1100" b="1" dirty="0">
                          <a:solidFill>
                            <a:srgbClr val="FFFFFF"/>
                          </a:solidFill>
                        </a:rPr>
                        <a:t>Mean Time</a:t>
                      </a:r>
                      <a:endParaRPr lang="en-US" sz="110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DA291C"/>
                    </a:solidFill>
                  </a:tcPr>
                </a:tc>
                <a:extLst>
                  <a:ext uri="{0D108BD9-81ED-4DB2-BD59-A6C34878D82A}">
                    <a16:rowId xmlns:a16="http://schemas.microsoft.com/office/drawing/2014/main" val="10000"/>
                  </a:ext>
                </a:extLst>
              </a:tr>
              <a:tr h="246888">
                <a:tc>
                  <a:txBody>
                    <a:bodyPr/>
                    <a:lstStyle/>
                    <a:p>
                      <a:pPr marL="0" indent="0" algn="l">
                        <a:buNone/>
                      </a:pPr>
                      <a:r>
                        <a:rPr lang="en-US" sz="1050" dirty="0">
                          <a:solidFill>
                            <a:srgbClr val="1A1A1A"/>
                          </a:solidFill>
                        </a:rPr>
                        <a:t>T1 — Find most-reviewed city</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100%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32s</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extLst>
                  <a:ext uri="{0D108BD9-81ED-4DB2-BD59-A6C34878D82A}">
                    <a16:rowId xmlns:a16="http://schemas.microsoft.com/office/drawing/2014/main" val="10001"/>
                  </a:ext>
                </a:extLst>
              </a:tr>
              <a:tr h="246888">
                <a:tc>
                  <a:txBody>
                    <a:bodyPr/>
                    <a:lstStyle/>
                    <a:p>
                      <a:pPr marL="0" indent="0" algn="l">
                        <a:buNone/>
                      </a:pPr>
                      <a:r>
                        <a:rPr lang="en-US" sz="1050" dirty="0">
                          <a:solidFill>
                            <a:srgbClr val="1A1A1A"/>
                          </a:solidFill>
                        </a:rPr>
                        <a:t>T2 — Identify worst branch</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80%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20%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44s</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extLst>
                  <a:ext uri="{0D108BD9-81ED-4DB2-BD59-A6C34878D82A}">
                    <a16:rowId xmlns:a16="http://schemas.microsoft.com/office/drawing/2014/main" val="10002"/>
                  </a:ext>
                </a:extLst>
              </a:tr>
              <a:tr h="246888">
                <a:tc>
                  <a:txBody>
                    <a:bodyPr/>
                    <a:lstStyle/>
                    <a:p>
                      <a:pPr marL="0" indent="0" algn="l">
                        <a:buNone/>
                      </a:pPr>
                      <a:r>
                        <a:rPr lang="en-US" sz="1050" dirty="0">
                          <a:solidFill>
                            <a:srgbClr val="1A1A1A"/>
                          </a:solidFill>
                        </a:rPr>
                        <a:t>T3 — Filter to single city</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60%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20%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20%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94s</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extLst>
                  <a:ext uri="{0D108BD9-81ED-4DB2-BD59-A6C34878D82A}">
                    <a16:rowId xmlns:a16="http://schemas.microsoft.com/office/drawing/2014/main" val="10003"/>
                  </a:ext>
                </a:extLst>
              </a:tr>
              <a:tr h="246888">
                <a:tc>
                  <a:txBody>
                    <a:bodyPr/>
                    <a:lstStyle/>
                    <a:p>
                      <a:pPr marL="0" indent="0" algn="l">
                        <a:buNone/>
                      </a:pPr>
                      <a:r>
                        <a:rPr lang="en-US" sz="1050" dirty="0">
                          <a:solidFill>
                            <a:srgbClr val="1A1A1A"/>
                          </a:solidFill>
                        </a:rPr>
                        <a:t>T4 — Navigate Co-Pilot</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60%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40%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97s</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extLst>
                  <a:ext uri="{0D108BD9-81ED-4DB2-BD59-A6C34878D82A}">
                    <a16:rowId xmlns:a16="http://schemas.microsoft.com/office/drawing/2014/main" val="10004"/>
                  </a:ext>
                </a:extLst>
              </a:tr>
              <a:tr h="246888">
                <a:tc>
                  <a:txBody>
                    <a:bodyPr/>
                    <a:lstStyle/>
                    <a:p>
                      <a:pPr marL="0" indent="0" algn="l">
                        <a:buNone/>
                      </a:pPr>
                      <a:r>
                        <a:rPr lang="en-US" sz="1050" dirty="0">
                          <a:solidFill>
                            <a:srgbClr val="1A1A1A"/>
                          </a:solidFill>
                        </a:rPr>
                        <a:t>T5 — Generate AI insights</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100%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93s</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extLst>
                  <a:ext uri="{0D108BD9-81ED-4DB2-BD59-A6C34878D82A}">
                    <a16:rowId xmlns:a16="http://schemas.microsoft.com/office/drawing/2014/main" val="10005"/>
                  </a:ext>
                </a:extLst>
              </a:tr>
              <a:tr h="246888">
                <a:tc>
                  <a:txBody>
                    <a:bodyPr/>
                    <a:lstStyle/>
                    <a:p>
                      <a:pPr marL="0" indent="0" algn="l">
                        <a:buNone/>
                      </a:pPr>
                      <a:r>
                        <a:rPr lang="en-US" sz="1050" dirty="0">
                          <a:solidFill>
                            <a:srgbClr val="1A1A1A"/>
                          </a:solidFill>
                        </a:rPr>
                        <a:t>T6 — Download staff briefing</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80%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20%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tc>
                  <a:txBody>
                    <a:bodyPr/>
                    <a:lstStyle/>
                    <a:p>
                      <a:pPr marL="0" indent="0" algn="ctr">
                        <a:buNone/>
                      </a:pPr>
                      <a:r>
                        <a:rPr lang="en-US" sz="1050" dirty="0">
                          <a:solidFill>
                            <a:srgbClr val="3A3A3A"/>
                          </a:solidFill>
                        </a:rPr>
                        <a:t>24s</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DF5"/>
                    </a:solidFill>
                  </a:tcPr>
                </a:tc>
                <a:extLst>
                  <a:ext uri="{0D108BD9-81ED-4DB2-BD59-A6C34878D82A}">
                    <a16:rowId xmlns:a16="http://schemas.microsoft.com/office/drawing/2014/main" val="10006"/>
                  </a:ext>
                </a:extLst>
              </a:tr>
              <a:tr h="246888">
                <a:tc>
                  <a:txBody>
                    <a:bodyPr/>
                    <a:lstStyle/>
                    <a:p>
                      <a:pPr marL="0" indent="0" algn="l">
                        <a:buNone/>
                      </a:pPr>
                      <a:r>
                        <a:rPr lang="en-US" sz="1050" dirty="0">
                          <a:solidFill>
                            <a:srgbClr val="1A1A1A"/>
                          </a:solidFill>
                        </a:rPr>
                        <a:t>T7 — Adjust time range + regen</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80%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20%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0%</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tc>
                  <a:txBody>
                    <a:bodyPr/>
                    <a:lstStyle/>
                    <a:p>
                      <a:pPr marL="0" indent="0" algn="ctr">
                        <a:buNone/>
                      </a:pPr>
                      <a:r>
                        <a:rPr lang="en-US" sz="1050" dirty="0">
                          <a:solidFill>
                            <a:srgbClr val="3A3A3A"/>
                          </a:solidFill>
                        </a:rPr>
                        <a:t>110s</a:t>
                      </a:r>
                      <a:endParaRPr lang="en-US" sz="105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F8E1"/>
                    </a:solidFill>
                  </a:tcPr>
                </a:tc>
                <a:extLst>
                  <a:ext uri="{0D108BD9-81ED-4DB2-BD59-A6C34878D82A}">
                    <a16:rowId xmlns:a16="http://schemas.microsoft.com/office/drawing/2014/main" val="10007"/>
                  </a:ext>
                </a:extLst>
              </a:tr>
              <a:tr h="246888">
                <a:tc>
                  <a:txBody>
                    <a:bodyPr/>
                    <a:lstStyle/>
                    <a:p>
                      <a:pPr marL="0" indent="0">
                        <a:buNone/>
                      </a:pPr>
                      <a:r>
                        <a:rPr lang="en-US" sz="1100" b="1" dirty="0">
                          <a:solidFill>
                            <a:srgbClr val="1A1A1A"/>
                          </a:solidFill>
                        </a:rPr>
                        <a:t>Overall</a:t>
                      </a:r>
                      <a:endParaRPr lang="en-US" sz="110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C72C"/>
                    </a:solidFill>
                  </a:tcPr>
                </a:tc>
                <a:tc>
                  <a:txBody>
                    <a:bodyPr/>
                    <a:lstStyle/>
                    <a:p>
                      <a:pPr marL="0" indent="0" algn="ctr">
                        <a:buNone/>
                      </a:pPr>
                      <a:r>
                        <a:rPr lang="en-US" sz="1100" b="1" dirty="0">
                          <a:solidFill>
                            <a:srgbClr val="1A1A1A"/>
                          </a:solidFill>
                        </a:rPr>
                        <a:t>80%</a:t>
                      </a:r>
                      <a:endParaRPr lang="en-US" sz="110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C72C"/>
                    </a:solidFill>
                  </a:tcPr>
                </a:tc>
                <a:tc>
                  <a:txBody>
                    <a:bodyPr/>
                    <a:lstStyle/>
                    <a:p>
                      <a:pPr marL="0" indent="0" algn="ctr">
                        <a:buNone/>
                      </a:pPr>
                      <a:r>
                        <a:rPr lang="en-US" sz="1100" b="1" dirty="0">
                          <a:solidFill>
                            <a:srgbClr val="1A1A1A"/>
                          </a:solidFill>
                        </a:rPr>
                        <a:t>17%</a:t>
                      </a:r>
                      <a:endParaRPr lang="en-US" sz="110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C72C"/>
                    </a:solidFill>
                  </a:tcPr>
                </a:tc>
                <a:tc>
                  <a:txBody>
                    <a:bodyPr/>
                    <a:lstStyle/>
                    <a:p>
                      <a:pPr marL="0" indent="0" algn="ctr">
                        <a:buNone/>
                      </a:pPr>
                      <a:r>
                        <a:rPr lang="en-US" sz="1100" b="1" dirty="0">
                          <a:solidFill>
                            <a:srgbClr val="DA291C"/>
                          </a:solidFill>
                        </a:rPr>
                        <a:t>3%</a:t>
                      </a:r>
                      <a:endParaRPr lang="en-US" sz="110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C72C"/>
                    </a:solidFill>
                  </a:tcPr>
                </a:tc>
                <a:tc>
                  <a:txBody>
                    <a:bodyPr/>
                    <a:lstStyle/>
                    <a:p>
                      <a:pPr marL="0" indent="0" algn="ctr">
                        <a:buNone/>
                      </a:pPr>
                      <a:r>
                        <a:rPr lang="en-US" sz="1100" b="1" dirty="0">
                          <a:solidFill>
                            <a:srgbClr val="1A1A1A"/>
                          </a:solidFill>
                        </a:rPr>
                        <a:t>71s</a:t>
                      </a:r>
                      <a:endParaRPr lang="en-US" sz="1100" dirty="0"/>
                    </a:p>
                  </a:txBody>
                  <a:tcPr>
                    <a:lnL w="8890" cap="flat" cmpd="sng" algn="ctr">
                      <a:solidFill>
                        <a:srgbClr val="FFE066"/>
                      </a:solidFill>
                      <a:prstDash val="solid"/>
                      <a:round/>
                      <a:headEnd type="none" w="med" len="med"/>
                      <a:tailEnd type="none" w="med" len="med"/>
                    </a:lnL>
                    <a:lnR w="8890" cap="flat" cmpd="sng" algn="ctr">
                      <a:solidFill>
                        <a:srgbClr val="FFE066"/>
                      </a:solidFill>
                      <a:prstDash val="solid"/>
                      <a:round/>
                      <a:headEnd type="none" w="med" len="med"/>
                      <a:tailEnd type="none" w="med" len="med"/>
                    </a:lnR>
                    <a:lnT w="8890" cap="flat" cmpd="sng" algn="ctr">
                      <a:solidFill>
                        <a:srgbClr val="FFE066"/>
                      </a:solidFill>
                      <a:prstDash val="solid"/>
                      <a:round/>
                      <a:headEnd type="none" w="med" len="med"/>
                      <a:tailEnd type="none" w="med" len="med"/>
                    </a:lnT>
                    <a:lnB w="8890" cap="flat" cmpd="sng" algn="ctr">
                      <a:solidFill>
                        <a:srgbClr val="FFE066"/>
                      </a:solidFill>
                      <a:prstDash val="solid"/>
                      <a:round/>
                      <a:headEnd type="none" w="med" len="med"/>
                      <a:tailEnd type="none" w="med" len="med"/>
                    </a:lnB>
                    <a:solidFill>
                      <a:srgbClr val="FFC72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C72C"/>
          </a:solidFill>
          <a:ln w="12700">
            <a:solidFill>
              <a:srgbClr val="FFC72C"/>
            </a:solidFill>
            <a:prstDash val="solid"/>
          </a:ln>
        </p:spPr>
        <p:txBody>
          <a:bodyPr/>
          <a:lstStyle/>
          <a:p>
            <a:endParaRPr lang="en-US"/>
          </a:p>
        </p:txBody>
      </p:sp>
      <p:sp>
        <p:nvSpPr>
          <p:cNvPr id="3" name="Shape 1"/>
          <p:cNvSpPr/>
          <p:nvPr/>
        </p:nvSpPr>
        <p:spPr>
          <a:xfrm>
            <a:off x="0" y="896112"/>
            <a:ext cx="9144000" cy="73152"/>
          </a:xfrm>
          <a:prstGeom prst="rect">
            <a:avLst/>
          </a:prstGeom>
          <a:solidFill>
            <a:srgbClr val="DA291C"/>
          </a:solidFill>
          <a:ln w="12700">
            <a:solidFill>
              <a:srgbClr val="DA291C"/>
            </a:solidFill>
            <a:prstDash val="solid"/>
          </a:ln>
        </p:spPr>
        <p:txBody>
          <a:bodyPr/>
          <a:lstStyle/>
          <a:p>
            <a:endParaRPr lang="en-US"/>
          </a:p>
        </p:txBody>
      </p:sp>
      <p:sp>
        <p:nvSpPr>
          <p:cNvPr id="4" name="Text 2"/>
          <p:cNvSpPr/>
          <p:nvPr/>
        </p:nvSpPr>
        <p:spPr>
          <a:xfrm>
            <a:off x="411480" y="73152"/>
            <a:ext cx="8046720" cy="658368"/>
          </a:xfrm>
          <a:prstGeom prst="rect">
            <a:avLst/>
          </a:prstGeom>
          <a:noFill/>
          <a:ln/>
        </p:spPr>
        <p:txBody>
          <a:bodyPr wrap="square" lIns="0" tIns="0" rIns="0" bIns="0" rtlCol="0" anchor="ctr"/>
          <a:lstStyle/>
          <a:p>
            <a:pPr marL="0" indent="0">
              <a:buNone/>
            </a:pPr>
            <a:r>
              <a:rPr lang="en-US" sz="3000" b="1" dirty="0">
                <a:solidFill>
                  <a:srgbClr val="1A1A1A"/>
                </a:solidFill>
                <a:latin typeface="Arial Black" pitchFamily="34" charset="0"/>
                <a:ea typeface="Arial Black" pitchFamily="34" charset="-122"/>
                <a:cs typeface="Arial Black" pitchFamily="34" charset="-120"/>
              </a:rPr>
              <a:t>Qualitative Insights</a:t>
            </a:r>
            <a:endParaRPr lang="en-US" sz="3000" dirty="0"/>
          </a:p>
        </p:txBody>
      </p:sp>
      <p:sp>
        <p:nvSpPr>
          <p:cNvPr id="5" name="Text 3"/>
          <p:cNvSpPr/>
          <p:nvPr/>
        </p:nvSpPr>
        <p:spPr>
          <a:xfrm>
            <a:off x="5029200" y="658368"/>
            <a:ext cx="3886200" cy="256032"/>
          </a:xfrm>
          <a:prstGeom prst="rect">
            <a:avLst/>
          </a:prstGeom>
          <a:noFill/>
          <a:ln/>
        </p:spPr>
        <p:txBody>
          <a:bodyPr wrap="square" lIns="0" tIns="0" rIns="0" bIns="0" rtlCol="0" anchor="ctr"/>
          <a:lstStyle/>
          <a:p>
            <a:pPr marL="0" indent="0" algn="r">
              <a:buNone/>
            </a:pPr>
            <a:r>
              <a:rPr lang="en-US" sz="850" b="1" kern="0" spc="200" dirty="0">
                <a:solidFill>
                  <a:srgbClr val="DA291C"/>
                </a:solidFill>
                <a:latin typeface="Calibri" pitchFamily="34" charset="0"/>
                <a:ea typeface="Calibri" pitchFamily="34" charset="-122"/>
                <a:cs typeface="Calibri" pitchFamily="34" charset="-120"/>
              </a:rPr>
              <a:t>THEMES FROM THINK-ALOUD SESSIONS</a:t>
            </a:r>
            <a:endParaRPr lang="en-US" sz="850" dirty="0"/>
          </a:p>
        </p:txBody>
      </p:sp>
      <p:sp>
        <p:nvSpPr>
          <p:cNvPr id="6" name="Shape 4"/>
          <p:cNvSpPr/>
          <p:nvPr/>
        </p:nvSpPr>
        <p:spPr>
          <a:xfrm>
            <a:off x="320040" y="1097280"/>
            <a:ext cx="4160520" cy="347472"/>
          </a:xfrm>
          <a:prstGeom prst="rect">
            <a:avLst/>
          </a:prstGeom>
          <a:solidFill>
            <a:srgbClr val="FFC72C"/>
          </a:solidFill>
          <a:ln w="12700">
            <a:solidFill>
              <a:srgbClr val="FFC72C"/>
            </a:solidFill>
            <a:prstDash val="solid"/>
          </a:ln>
        </p:spPr>
        <p:txBody>
          <a:bodyPr/>
          <a:lstStyle/>
          <a:p>
            <a:endParaRPr lang="en-US"/>
          </a:p>
        </p:txBody>
      </p:sp>
      <p:sp>
        <p:nvSpPr>
          <p:cNvPr id="7" name="Text 5"/>
          <p:cNvSpPr/>
          <p:nvPr/>
        </p:nvSpPr>
        <p:spPr>
          <a:xfrm>
            <a:off x="457200" y="1124712"/>
            <a:ext cx="384048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What Worked</a:t>
            </a:r>
            <a:endParaRPr lang="en-US" sz="1200" dirty="0"/>
          </a:p>
        </p:txBody>
      </p:sp>
      <p:sp>
        <p:nvSpPr>
          <p:cNvPr id="8" name="Shape 6"/>
          <p:cNvSpPr/>
          <p:nvPr/>
        </p:nvSpPr>
        <p:spPr>
          <a:xfrm>
            <a:off x="320040" y="1536192"/>
            <a:ext cx="4160520" cy="914400"/>
          </a:xfrm>
          <a:prstGeom prst="rect">
            <a:avLst/>
          </a:prstGeom>
          <a:solidFill>
            <a:srgbClr val="FFF3C4"/>
          </a:solidFill>
          <a:ln w="15240">
            <a:solidFill>
              <a:srgbClr val="FFE57A"/>
            </a:solidFill>
            <a:prstDash val="solid"/>
          </a:ln>
          <a:effectLst>
            <a:outerShdw blurRad="63500" dist="25400" dir="8100000" algn="bl" rotWithShape="0">
              <a:srgbClr val="000000">
                <a:alpha val="12000"/>
              </a:srgbClr>
            </a:outerShdw>
          </a:effectLst>
        </p:spPr>
        <p:txBody>
          <a:bodyPr/>
          <a:lstStyle/>
          <a:p>
            <a:endParaRPr lang="en-US"/>
          </a:p>
        </p:txBody>
      </p:sp>
      <p:sp>
        <p:nvSpPr>
          <p:cNvPr id="9" name="Shape 7"/>
          <p:cNvSpPr/>
          <p:nvPr/>
        </p:nvSpPr>
        <p:spPr>
          <a:xfrm>
            <a:off x="320040" y="1536192"/>
            <a:ext cx="91440" cy="914400"/>
          </a:xfrm>
          <a:prstGeom prst="rect">
            <a:avLst/>
          </a:prstGeom>
          <a:solidFill>
            <a:srgbClr val="FFC72C"/>
          </a:solidFill>
          <a:ln w="12700">
            <a:solidFill>
              <a:srgbClr val="FFC72C"/>
            </a:solidFill>
            <a:prstDash val="solid"/>
          </a:ln>
        </p:spPr>
        <p:txBody>
          <a:bodyPr/>
          <a:lstStyle/>
          <a:p>
            <a:endParaRPr lang="en-US"/>
          </a:p>
        </p:txBody>
      </p:sp>
      <p:sp>
        <p:nvSpPr>
          <p:cNvPr id="10" name="Text 8"/>
          <p:cNvSpPr/>
          <p:nvPr/>
        </p:nvSpPr>
        <p:spPr>
          <a:xfrm>
            <a:off x="530352" y="1609344"/>
            <a:ext cx="3749040" cy="274320"/>
          </a:xfrm>
          <a:prstGeom prst="rect">
            <a:avLst/>
          </a:prstGeom>
          <a:noFill/>
          <a:ln/>
        </p:spPr>
        <p:txBody>
          <a:bodyPr wrap="square" lIns="0" tIns="0" rIns="0" bIns="0" rtlCol="0" anchor="ctr"/>
          <a:lstStyle/>
          <a:p>
            <a:pPr marL="0" indent="0">
              <a:buNone/>
            </a:pPr>
            <a:r>
              <a:rPr lang="en-US" sz="1200" b="1" dirty="0">
                <a:solidFill>
                  <a:srgbClr val="DA291C"/>
                </a:solidFill>
                <a:latin typeface="Calibri" pitchFamily="34" charset="0"/>
                <a:ea typeface="Calibri" pitchFamily="34" charset="-122"/>
                <a:cs typeface="Calibri" pitchFamily="34" charset="-120"/>
              </a:rPr>
              <a:t>Evidence-grounded AI outputs</a:t>
            </a:r>
            <a:endParaRPr lang="en-US" sz="1200" dirty="0"/>
          </a:p>
        </p:txBody>
      </p:sp>
      <p:sp>
        <p:nvSpPr>
          <p:cNvPr id="11" name="Text 9"/>
          <p:cNvSpPr/>
          <p:nvPr/>
        </p:nvSpPr>
        <p:spPr>
          <a:xfrm>
            <a:off x="530352" y="1901952"/>
            <a:ext cx="3749040" cy="475488"/>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3/5 users specifically praised action items that quoted actual reviews — increased trust significantly.</a:t>
            </a:r>
            <a:endParaRPr lang="en-US" sz="1100" dirty="0"/>
          </a:p>
        </p:txBody>
      </p:sp>
      <p:sp>
        <p:nvSpPr>
          <p:cNvPr id="12" name="Shape 10"/>
          <p:cNvSpPr/>
          <p:nvPr/>
        </p:nvSpPr>
        <p:spPr>
          <a:xfrm>
            <a:off x="320040" y="2542032"/>
            <a:ext cx="4160520" cy="914400"/>
          </a:xfrm>
          <a:prstGeom prst="rect">
            <a:avLst/>
          </a:prstGeom>
          <a:solidFill>
            <a:srgbClr val="FFF3C4"/>
          </a:solidFill>
          <a:ln w="15240">
            <a:solidFill>
              <a:srgbClr val="FFE57A"/>
            </a:solidFill>
            <a:prstDash val="solid"/>
          </a:ln>
          <a:effectLst>
            <a:outerShdw blurRad="63500" dist="25400" dir="8100000" algn="bl" rotWithShape="0">
              <a:srgbClr val="000000">
                <a:alpha val="12000"/>
              </a:srgbClr>
            </a:outerShdw>
          </a:effectLst>
        </p:spPr>
        <p:txBody>
          <a:bodyPr/>
          <a:lstStyle/>
          <a:p>
            <a:endParaRPr lang="en-US"/>
          </a:p>
        </p:txBody>
      </p:sp>
      <p:sp>
        <p:nvSpPr>
          <p:cNvPr id="13" name="Shape 11"/>
          <p:cNvSpPr/>
          <p:nvPr/>
        </p:nvSpPr>
        <p:spPr>
          <a:xfrm>
            <a:off x="320040" y="2542032"/>
            <a:ext cx="91440" cy="914400"/>
          </a:xfrm>
          <a:prstGeom prst="rect">
            <a:avLst/>
          </a:prstGeom>
          <a:solidFill>
            <a:srgbClr val="FFC72C"/>
          </a:solidFill>
          <a:ln w="12700">
            <a:solidFill>
              <a:srgbClr val="FFC72C"/>
            </a:solidFill>
            <a:prstDash val="solid"/>
          </a:ln>
        </p:spPr>
        <p:txBody>
          <a:bodyPr/>
          <a:lstStyle/>
          <a:p>
            <a:endParaRPr lang="en-US"/>
          </a:p>
        </p:txBody>
      </p:sp>
      <p:sp>
        <p:nvSpPr>
          <p:cNvPr id="14" name="Text 12"/>
          <p:cNvSpPr/>
          <p:nvPr/>
        </p:nvSpPr>
        <p:spPr>
          <a:xfrm>
            <a:off x="530352" y="2615184"/>
            <a:ext cx="3749040" cy="274320"/>
          </a:xfrm>
          <a:prstGeom prst="rect">
            <a:avLst/>
          </a:prstGeom>
          <a:noFill/>
          <a:ln/>
        </p:spPr>
        <p:txBody>
          <a:bodyPr wrap="square" lIns="0" tIns="0" rIns="0" bIns="0" rtlCol="0" anchor="ctr"/>
          <a:lstStyle/>
          <a:p>
            <a:pPr marL="0" indent="0">
              <a:buNone/>
            </a:pPr>
            <a:r>
              <a:rPr lang="en-US" sz="1200" b="1" dirty="0">
                <a:solidFill>
                  <a:srgbClr val="DA291C"/>
                </a:solidFill>
                <a:latin typeface="Calibri" pitchFamily="34" charset="0"/>
                <a:ea typeface="Calibri" pitchFamily="34" charset="-122"/>
                <a:cs typeface="Calibri" pitchFamily="34" charset="-120"/>
              </a:rPr>
              <a:t>Dashboard clarity</a:t>
            </a:r>
            <a:endParaRPr lang="en-US" sz="1200" dirty="0"/>
          </a:p>
        </p:txBody>
      </p:sp>
      <p:sp>
        <p:nvSpPr>
          <p:cNvPr id="15" name="Text 13"/>
          <p:cNvSpPr/>
          <p:nvPr/>
        </p:nvSpPr>
        <p:spPr>
          <a:xfrm>
            <a:off x="530352" y="2907792"/>
            <a:ext cx="3749040" cy="475488"/>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All 5 participants understood the visualizations without any instruction — zero learning curve.</a:t>
            </a:r>
            <a:endParaRPr lang="en-US" sz="1100" dirty="0"/>
          </a:p>
        </p:txBody>
      </p:sp>
      <p:sp>
        <p:nvSpPr>
          <p:cNvPr id="16" name="Shape 14"/>
          <p:cNvSpPr/>
          <p:nvPr/>
        </p:nvSpPr>
        <p:spPr>
          <a:xfrm>
            <a:off x="320040" y="3547872"/>
            <a:ext cx="4160520" cy="914400"/>
          </a:xfrm>
          <a:prstGeom prst="rect">
            <a:avLst/>
          </a:prstGeom>
          <a:solidFill>
            <a:srgbClr val="FFF3C4"/>
          </a:solidFill>
          <a:ln w="15240">
            <a:solidFill>
              <a:srgbClr val="FFE57A"/>
            </a:solidFill>
            <a:prstDash val="solid"/>
          </a:ln>
          <a:effectLst>
            <a:outerShdw blurRad="63500" dist="25400" dir="8100000" algn="bl" rotWithShape="0">
              <a:srgbClr val="000000">
                <a:alpha val="12000"/>
              </a:srgbClr>
            </a:outerShdw>
          </a:effectLst>
        </p:spPr>
        <p:txBody>
          <a:bodyPr/>
          <a:lstStyle/>
          <a:p>
            <a:endParaRPr lang="en-US"/>
          </a:p>
        </p:txBody>
      </p:sp>
      <p:sp>
        <p:nvSpPr>
          <p:cNvPr id="17" name="Shape 15"/>
          <p:cNvSpPr/>
          <p:nvPr/>
        </p:nvSpPr>
        <p:spPr>
          <a:xfrm>
            <a:off x="320040" y="3547872"/>
            <a:ext cx="91440" cy="914400"/>
          </a:xfrm>
          <a:prstGeom prst="rect">
            <a:avLst/>
          </a:prstGeom>
          <a:solidFill>
            <a:srgbClr val="FFC72C"/>
          </a:solidFill>
          <a:ln w="12700">
            <a:solidFill>
              <a:srgbClr val="FFC72C"/>
            </a:solidFill>
            <a:prstDash val="solid"/>
          </a:ln>
        </p:spPr>
        <p:txBody>
          <a:bodyPr/>
          <a:lstStyle/>
          <a:p>
            <a:endParaRPr lang="en-US"/>
          </a:p>
        </p:txBody>
      </p:sp>
      <p:sp>
        <p:nvSpPr>
          <p:cNvPr id="18" name="Text 16"/>
          <p:cNvSpPr/>
          <p:nvPr/>
        </p:nvSpPr>
        <p:spPr>
          <a:xfrm>
            <a:off x="530352" y="3621024"/>
            <a:ext cx="3749040" cy="274320"/>
          </a:xfrm>
          <a:prstGeom prst="rect">
            <a:avLst/>
          </a:prstGeom>
          <a:noFill/>
          <a:ln/>
        </p:spPr>
        <p:txBody>
          <a:bodyPr wrap="square" lIns="0" tIns="0" rIns="0" bIns="0" rtlCol="0" anchor="ctr"/>
          <a:lstStyle/>
          <a:p>
            <a:pPr marL="0" indent="0">
              <a:buNone/>
            </a:pPr>
            <a:r>
              <a:rPr lang="en-US" sz="1200" b="1" dirty="0">
                <a:solidFill>
                  <a:srgbClr val="DA291C"/>
                </a:solidFill>
                <a:latin typeface="Calibri" pitchFamily="34" charset="0"/>
                <a:ea typeface="Calibri" pitchFamily="34" charset="-122"/>
                <a:cs typeface="Calibri" pitchFamily="34" charset="-120"/>
              </a:rPr>
              <a:t>Ready-to-send briefing memo</a:t>
            </a:r>
            <a:endParaRPr lang="en-US" sz="1200" dirty="0"/>
          </a:p>
        </p:txBody>
      </p:sp>
      <p:sp>
        <p:nvSpPr>
          <p:cNvPr id="19" name="Text 17"/>
          <p:cNvSpPr/>
          <p:nvPr/>
        </p:nvSpPr>
        <p:spPr>
          <a:xfrm>
            <a:off x="530352" y="3913632"/>
            <a:ext cx="3749040" cy="475488"/>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4/5 said they would use the staff briefing in a real operational context.</a:t>
            </a:r>
            <a:endParaRPr lang="en-US" sz="1100" dirty="0"/>
          </a:p>
        </p:txBody>
      </p:sp>
      <p:sp>
        <p:nvSpPr>
          <p:cNvPr id="20" name="Shape 18"/>
          <p:cNvSpPr/>
          <p:nvPr/>
        </p:nvSpPr>
        <p:spPr>
          <a:xfrm>
            <a:off x="4663440" y="1097280"/>
            <a:ext cx="4160520" cy="347472"/>
          </a:xfrm>
          <a:prstGeom prst="rect">
            <a:avLst/>
          </a:prstGeom>
          <a:solidFill>
            <a:srgbClr val="DA291C"/>
          </a:solidFill>
          <a:ln w="12700">
            <a:solidFill>
              <a:srgbClr val="DA291C"/>
            </a:solidFill>
            <a:prstDash val="solid"/>
          </a:ln>
        </p:spPr>
        <p:txBody>
          <a:bodyPr/>
          <a:lstStyle/>
          <a:p>
            <a:endParaRPr lang="en-US"/>
          </a:p>
        </p:txBody>
      </p:sp>
      <p:sp>
        <p:nvSpPr>
          <p:cNvPr id="21" name="Text 19"/>
          <p:cNvSpPr/>
          <p:nvPr/>
        </p:nvSpPr>
        <p:spPr>
          <a:xfrm>
            <a:off x="4800600" y="1124712"/>
            <a:ext cx="38404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Key Frustrations</a:t>
            </a:r>
            <a:endParaRPr lang="en-US" sz="1200" dirty="0"/>
          </a:p>
        </p:txBody>
      </p:sp>
      <p:sp>
        <p:nvSpPr>
          <p:cNvPr id="22" name="Shape 20"/>
          <p:cNvSpPr/>
          <p:nvPr/>
        </p:nvSpPr>
        <p:spPr>
          <a:xfrm>
            <a:off x="4663440" y="1536192"/>
            <a:ext cx="4160520" cy="914400"/>
          </a:xfrm>
          <a:prstGeom prst="rect">
            <a:avLst/>
          </a:prstGeom>
          <a:solidFill>
            <a:srgbClr val="FFFFFF"/>
          </a:solidFill>
          <a:ln w="15240">
            <a:solidFill>
              <a:srgbClr val="DA291C"/>
            </a:solidFill>
            <a:prstDash val="solid"/>
          </a:ln>
          <a:effectLst>
            <a:outerShdw blurRad="63500" dist="25400" dir="8100000" algn="bl" rotWithShape="0">
              <a:srgbClr val="000000">
                <a:alpha val="12000"/>
              </a:srgbClr>
            </a:outerShdw>
          </a:effectLst>
        </p:spPr>
        <p:txBody>
          <a:bodyPr/>
          <a:lstStyle/>
          <a:p>
            <a:endParaRPr lang="en-US"/>
          </a:p>
        </p:txBody>
      </p:sp>
      <p:sp>
        <p:nvSpPr>
          <p:cNvPr id="23" name="Shape 21"/>
          <p:cNvSpPr/>
          <p:nvPr/>
        </p:nvSpPr>
        <p:spPr>
          <a:xfrm>
            <a:off x="4663440" y="1536192"/>
            <a:ext cx="91440" cy="914400"/>
          </a:xfrm>
          <a:prstGeom prst="rect">
            <a:avLst/>
          </a:prstGeom>
          <a:solidFill>
            <a:srgbClr val="DA291C"/>
          </a:solidFill>
          <a:ln w="12700">
            <a:solidFill>
              <a:srgbClr val="DA291C"/>
            </a:solidFill>
            <a:prstDash val="solid"/>
          </a:ln>
        </p:spPr>
        <p:txBody>
          <a:bodyPr/>
          <a:lstStyle/>
          <a:p>
            <a:endParaRPr lang="en-US"/>
          </a:p>
        </p:txBody>
      </p:sp>
      <p:sp>
        <p:nvSpPr>
          <p:cNvPr id="24" name="Text 22"/>
          <p:cNvSpPr/>
          <p:nvPr/>
        </p:nvSpPr>
        <p:spPr>
          <a:xfrm>
            <a:off x="4864608" y="1609344"/>
            <a:ext cx="3749040" cy="274320"/>
          </a:xfrm>
          <a:prstGeom prst="rect">
            <a:avLst/>
          </a:prstGeom>
          <a:noFill/>
          <a:ln/>
        </p:spPr>
        <p:txBody>
          <a:bodyPr wrap="square" lIns="0" tIns="0" rIns="0" bIns="0" rtlCol="0" anchor="ctr"/>
          <a:lstStyle/>
          <a:p>
            <a:pPr marL="0" indent="0">
              <a:buNone/>
            </a:pPr>
            <a:r>
              <a:rPr lang="en-US" sz="1200" b="1" dirty="0">
                <a:solidFill>
                  <a:srgbClr val="DA291C"/>
                </a:solidFill>
                <a:latin typeface="Calibri" pitchFamily="34" charset="0"/>
                <a:ea typeface="Calibri" pitchFamily="34" charset="-122"/>
                <a:cs typeface="Calibri" pitchFamily="34" charset="-120"/>
              </a:rPr>
              <a:t>Row-click not discoverable (4/5)</a:t>
            </a:r>
            <a:endParaRPr lang="en-US" sz="1200" dirty="0"/>
          </a:p>
        </p:txBody>
      </p:sp>
      <p:sp>
        <p:nvSpPr>
          <p:cNvPr id="25" name="Text 23"/>
          <p:cNvSpPr/>
          <p:nvPr/>
        </p:nvSpPr>
        <p:spPr>
          <a:xfrm>
            <a:off x="4864608" y="1901952"/>
            <a:ext cx="3749040" cy="475488"/>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Health table rows look read-only. No hover affordance. Most tried the dropdown instead.</a:t>
            </a:r>
            <a:endParaRPr lang="en-US" sz="1100" dirty="0"/>
          </a:p>
        </p:txBody>
      </p:sp>
      <p:sp>
        <p:nvSpPr>
          <p:cNvPr id="26" name="Shape 24"/>
          <p:cNvSpPr/>
          <p:nvPr/>
        </p:nvSpPr>
        <p:spPr>
          <a:xfrm>
            <a:off x="4663440" y="2542032"/>
            <a:ext cx="4160520" cy="914400"/>
          </a:xfrm>
          <a:prstGeom prst="rect">
            <a:avLst/>
          </a:prstGeom>
          <a:solidFill>
            <a:srgbClr val="FFFFFF"/>
          </a:solidFill>
          <a:ln w="15240">
            <a:solidFill>
              <a:srgbClr val="DA291C"/>
            </a:solidFill>
            <a:prstDash val="solid"/>
          </a:ln>
          <a:effectLst>
            <a:outerShdw blurRad="63500" dist="25400" dir="8100000" algn="bl" rotWithShape="0">
              <a:srgbClr val="000000">
                <a:alpha val="12000"/>
              </a:srgbClr>
            </a:outerShdw>
          </a:effectLst>
        </p:spPr>
        <p:txBody>
          <a:bodyPr/>
          <a:lstStyle/>
          <a:p>
            <a:endParaRPr lang="en-US"/>
          </a:p>
        </p:txBody>
      </p:sp>
      <p:sp>
        <p:nvSpPr>
          <p:cNvPr id="27" name="Shape 25"/>
          <p:cNvSpPr/>
          <p:nvPr/>
        </p:nvSpPr>
        <p:spPr>
          <a:xfrm>
            <a:off x="4663440" y="2542032"/>
            <a:ext cx="91440" cy="914400"/>
          </a:xfrm>
          <a:prstGeom prst="rect">
            <a:avLst/>
          </a:prstGeom>
          <a:solidFill>
            <a:srgbClr val="DA291C"/>
          </a:solidFill>
          <a:ln w="12700">
            <a:solidFill>
              <a:srgbClr val="DA291C"/>
            </a:solidFill>
            <a:prstDash val="solid"/>
          </a:ln>
        </p:spPr>
        <p:txBody>
          <a:bodyPr/>
          <a:lstStyle/>
          <a:p>
            <a:endParaRPr lang="en-US"/>
          </a:p>
        </p:txBody>
      </p:sp>
      <p:sp>
        <p:nvSpPr>
          <p:cNvPr id="28" name="Text 26"/>
          <p:cNvSpPr/>
          <p:nvPr/>
        </p:nvSpPr>
        <p:spPr>
          <a:xfrm>
            <a:off x="4864608" y="2615184"/>
            <a:ext cx="3749040" cy="274320"/>
          </a:xfrm>
          <a:prstGeom prst="rect">
            <a:avLst/>
          </a:prstGeom>
          <a:noFill/>
          <a:ln/>
        </p:spPr>
        <p:txBody>
          <a:bodyPr wrap="square" lIns="0" tIns="0" rIns="0" bIns="0" rtlCol="0" anchor="ctr"/>
          <a:lstStyle/>
          <a:p>
            <a:pPr marL="0" indent="0">
              <a:buNone/>
            </a:pPr>
            <a:r>
              <a:rPr lang="en-US" sz="1200" b="1" dirty="0">
                <a:solidFill>
                  <a:srgbClr val="DA291C"/>
                </a:solidFill>
                <a:latin typeface="Calibri" pitchFamily="34" charset="0"/>
                <a:ea typeface="Calibri" pitchFamily="34" charset="-122"/>
                <a:cs typeface="Calibri" pitchFamily="34" charset="-120"/>
              </a:rPr>
              <a:t>Multiselect deselect-all confusion (3/5)</a:t>
            </a:r>
            <a:endParaRPr lang="en-US" sz="1200" dirty="0"/>
          </a:p>
        </p:txBody>
      </p:sp>
      <p:sp>
        <p:nvSpPr>
          <p:cNvPr id="29" name="Text 27"/>
          <p:cNvSpPr/>
          <p:nvPr/>
        </p:nvSpPr>
        <p:spPr>
          <a:xfrm>
            <a:off x="4864608" y="2907792"/>
            <a:ext cx="3749040" cy="475488"/>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Users didn't realize they had to clear all cities before selecting one city.</a:t>
            </a:r>
            <a:endParaRPr lang="en-US" sz="1100" dirty="0"/>
          </a:p>
        </p:txBody>
      </p:sp>
      <p:sp>
        <p:nvSpPr>
          <p:cNvPr id="30" name="Shape 28"/>
          <p:cNvSpPr/>
          <p:nvPr/>
        </p:nvSpPr>
        <p:spPr>
          <a:xfrm>
            <a:off x="4663440" y="3547872"/>
            <a:ext cx="4160520" cy="914400"/>
          </a:xfrm>
          <a:prstGeom prst="rect">
            <a:avLst/>
          </a:prstGeom>
          <a:solidFill>
            <a:srgbClr val="FFFFFF"/>
          </a:solidFill>
          <a:ln w="15240">
            <a:solidFill>
              <a:srgbClr val="DA291C"/>
            </a:solidFill>
            <a:prstDash val="solid"/>
          </a:ln>
          <a:effectLst>
            <a:outerShdw blurRad="63500" dist="25400" dir="8100000" algn="bl" rotWithShape="0">
              <a:srgbClr val="000000">
                <a:alpha val="12000"/>
              </a:srgbClr>
            </a:outerShdw>
          </a:effectLst>
        </p:spPr>
        <p:txBody>
          <a:bodyPr/>
          <a:lstStyle/>
          <a:p>
            <a:endParaRPr lang="en-US"/>
          </a:p>
        </p:txBody>
      </p:sp>
      <p:sp>
        <p:nvSpPr>
          <p:cNvPr id="31" name="Shape 29"/>
          <p:cNvSpPr/>
          <p:nvPr/>
        </p:nvSpPr>
        <p:spPr>
          <a:xfrm>
            <a:off x="4663440" y="3547872"/>
            <a:ext cx="91440" cy="914400"/>
          </a:xfrm>
          <a:prstGeom prst="rect">
            <a:avLst/>
          </a:prstGeom>
          <a:solidFill>
            <a:srgbClr val="DA291C"/>
          </a:solidFill>
          <a:ln w="12700">
            <a:solidFill>
              <a:srgbClr val="DA291C"/>
            </a:solidFill>
            <a:prstDash val="solid"/>
          </a:ln>
        </p:spPr>
        <p:txBody>
          <a:bodyPr/>
          <a:lstStyle/>
          <a:p>
            <a:endParaRPr lang="en-US"/>
          </a:p>
        </p:txBody>
      </p:sp>
      <p:sp>
        <p:nvSpPr>
          <p:cNvPr id="32" name="Text 30"/>
          <p:cNvSpPr/>
          <p:nvPr/>
        </p:nvSpPr>
        <p:spPr>
          <a:xfrm>
            <a:off x="4864608" y="3621024"/>
            <a:ext cx="3749040" cy="274320"/>
          </a:xfrm>
          <a:prstGeom prst="rect">
            <a:avLst/>
          </a:prstGeom>
          <a:noFill/>
          <a:ln/>
        </p:spPr>
        <p:txBody>
          <a:bodyPr wrap="square" lIns="0" tIns="0" rIns="0" bIns="0" rtlCol="0" anchor="ctr"/>
          <a:lstStyle/>
          <a:p>
            <a:pPr marL="0" indent="0">
              <a:buNone/>
            </a:pPr>
            <a:r>
              <a:rPr lang="en-US" sz="1200" b="1" dirty="0">
                <a:solidFill>
                  <a:srgbClr val="DA291C"/>
                </a:solidFill>
                <a:latin typeface="Calibri" pitchFamily="34" charset="0"/>
                <a:ea typeface="Calibri" pitchFamily="34" charset="-122"/>
                <a:cs typeface="Calibri" pitchFamily="34" charset="-120"/>
              </a:rPr>
              <a:t>AI spinner — no time expectation (3/5)</a:t>
            </a:r>
            <a:endParaRPr lang="en-US" sz="1200" dirty="0"/>
          </a:p>
        </p:txBody>
      </p:sp>
      <p:sp>
        <p:nvSpPr>
          <p:cNvPr id="33" name="Text 31"/>
          <p:cNvSpPr/>
          <p:nvPr/>
        </p:nvSpPr>
        <p:spPr>
          <a:xfrm>
            <a:off x="4864608" y="3913632"/>
            <a:ext cx="3749040" cy="475488"/>
          </a:xfrm>
          <a:prstGeom prst="rect">
            <a:avLst/>
          </a:prstGeom>
          <a:noFill/>
          <a:ln/>
        </p:spPr>
        <p:txBody>
          <a:bodyPr wrap="square" lIns="0" tIns="0" rIns="0" bIns="0" rtlCol="0" anchor="ctr"/>
          <a:lstStyle/>
          <a:p>
            <a:pPr marL="0" indent="0">
              <a:buNone/>
            </a:pPr>
            <a:r>
              <a:rPr lang="en-US" sz="1100" i="1" dirty="0">
                <a:solidFill>
                  <a:srgbClr val="1A1A1A"/>
                </a:solidFill>
                <a:latin typeface="Calibri" pitchFamily="34" charset="0"/>
                <a:ea typeface="Calibri" pitchFamily="34" charset="-122"/>
                <a:cs typeface="Calibri" pitchFamily="34" charset="-120"/>
              </a:rPr>
              <a:t>"It just said Analysing reviews... then nothing for 8 seconds. I thought it froze."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C72C"/>
          </a:solidFill>
          <a:ln w="12700">
            <a:solidFill>
              <a:srgbClr val="FFC72C"/>
            </a:solidFill>
            <a:prstDash val="solid"/>
          </a:ln>
        </p:spPr>
        <p:txBody>
          <a:bodyPr/>
          <a:lstStyle/>
          <a:p>
            <a:endParaRPr lang="en-US"/>
          </a:p>
        </p:txBody>
      </p:sp>
      <p:sp>
        <p:nvSpPr>
          <p:cNvPr id="3" name="Shape 1"/>
          <p:cNvSpPr/>
          <p:nvPr/>
        </p:nvSpPr>
        <p:spPr>
          <a:xfrm>
            <a:off x="0" y="896112"/>
            <a:ext cx="9144000" cy="73152"/>
          </a:xfrm>
          <a:prstGeom prst="rect">
            <a:avLst/>
          </a:prstGeom>
          <a:solidFill>
            <a:srgbClr val="DA291C"/>
          </a:solidFill>
          <a:ln w="12700">
            <a:solidFill>
              <a:srgbClr val="DA291C"/>
            </a:solidFill>
            <a:prstDash val="solid"/>
          </a:ln>
        </p:spPr>
        <p:txBody>
          <a:bodyPr/>
          <a:lstStyle/>
          <a:p>
            <a:endParaRPr lang="en-US"/>
          </a:p>
        </p:txBody>
      </p:sp>
      <p:sp>
        <p:nvSpPr>
          <p:cNvPr id="4" name="Text 2"/>
          <p:cNvSpPr/>
          <p:nvPr/>
        </p:nvSpPr>
        <p:spPr>
          <a:xfrm>
            <a:off x="411480" y="73152"/>
            <a:ext cx="8046720" cy="658368"/>
          </a:xfrm>
          <a:prstGeom prst="rect">
            <a:avLst/>
          </a:prstGeom>
          <a:noFill/>
          <a:ln/>
        </p:spPr>
        <p:txBody>
          <a:bodyPr wrap="square" lIns="0" tIns="0" rIns="0" bIns="0" rtlCol="0" anchor="ctr"/>
          <a:lstStyle/>
          <a:p>
            <a:pPr marL="0" indent="0">
              <a:buNone/>
            </a:pPr>
            <a:r>
              <a:rPr lang="en-US" sz="3000" b="1" dirty="0">
                <a:solidFill>
                  <a:srgbClr val="1A1A1A"/>
                </a:solidFill>
                <a:latin typeface="Arial Black" pitchFamily="34" charset="0"/>
                <a:ea typeface="Arial Black" pitchFamily="34" charset="-122"/>
                <a:cs typeface="Arial Black" pitchFamily="34" charset="-120"/>
              </a:rPr>
              <a:t>Interpretation &amp; Discussion</a:t>
            </a:r>
            <a:endParaRPr lang="en-US" sz="3000" dirty="0"/>
          </a:p>
        </p:txBody>
      </p:sp>
      <p:sp>
        <p:nvSpPr>
          <p:cNvPr id="5" name="Text 3"/>
          <p:cNvSpPr/>
          <p:nvPr/>
        </p:nvSpPr>
        <p:spPr>
          <a:xfrm>
            <a:off x="5029200" y="658368"/>
            <a:ext cx="3886200" cy="256032"/>
          </a:xfrm>
          <a:prstGeom prst="rect">
            <a:avLst/>
          </a:prstGeom>
          <a:noFill/>
          <a:ln/>
        </p:spPr>
        <p:txBody>
          <a:bodyPr wrap="square" lIns="0" tIns="0" rIns="0" bIns="0" rtlCol="0" anchor="ctr"/>
          <a:lstStyle/>
          <a:p>
            <a:pPr marL="0" indent="0" algn="r">
              <a:buNone/>
            </a:pPr>
            <a:r>
              <a:rPr lang="en-US" sz="850" b="1" kern="0" spc="200" dirty="0">
                <a:solidFill>
                  <a:srgbClr val="DA291C"/>
                </a:solidFill>
                <a:latin typeface="Calibri" pitchFamily="34" charset="0"/>
                <a:ea typeface="Calibri" pitchFamily="34" charset="-122"/>
                <a:cs typeface="Calibri" pitchFamily="34" charset="-120"/>
              </a:rPr>
              <a:t>WHAT THE RESULTS MEAN</a:t>
            </a:r>
            <a:endParaRPr lang="en-US" sz="850" dirty="0"/>
          </a:p>
        </p:txBody>
      </p:sp>
      <p:sp>
        <p:nvSpPr>
          <p:cNvPr id="6" name="Shape 4"/>
          <p:cNvSpPr/>
          <p:nvPr/>
        </p:nvSpPr>
        <p:spPr>
          <a:xfrm>
            <a:off x="320040" y="1097280"/>
            <a:ext cx="8503920" cy="1207008"/>
          </a:xfrm>
          <a:prstGeom prst="rect">
            <a:avLst/>
          </a:prstGeom>
          <a:solidFill>
            <a:srgbClr val="FFF3C4"/>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7" name="Shape 5"/>
          <p:cNvSpPr/>
          <p:nvPr/>
        </p:nvSpPr>
        <p:spPr>
          <a:xfrm>
            <a:off x="320040" y="1097280"/>
            <a:ext cx="109728" cy="1207008"/>
          </a:xfrm>
          <a:prstGeom prst="rect">
            <a:avLst/>
          </a:prstGeom>
          <a:solidFill>
            <a:srgbClr val="FFC72C"/>
          </a:solidFill>
          <a:ln w="12700">
            <a:solidFill>
              <a:srgbClr val="FFC72C"/>
            </a:solidFill>
            <a:prstDash val="solid"/>
          </a:ln>
        </p:spPr>
        <p:txBody>
          <a:bodyPr/>
          <a:lstStyle/>
          <a:p>
            <a:endParaRPr lang="en-US"/>
          </a:p>
        </p:txBody>
      </p:sp>
      <p:sp>
        <p:nvSpPr>
          <p:cNvPr id="8" name="Text 6"/>
          <p:cNvSpPr/>
          <p:nvPr/>
        </p:nvSpPr>
        <p:spPr>
          <a:xfrm>
            <a:off x="548640" y="1188720"/>
            <a:ext cx="8138160"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  AI trust is earned through grounding, not just labeling</a:t>
            </a:r>
            <a:endParaRPr lang="en-US" sz="1300" dirty="0"/>
          </a:p>
        </p:txBody>
      </p:sp>
      <p:sp>
        <p:nvSpPr>
          <p:cNvPr id="9" name="Text 7"/>
          <p:cNvSpPr/>
          <p:nvPr/>
        </p:nvSpPr>
        <p:spPr>
          <a:xfrm>
            <a:off x="548640" y="1517904"/>
            <a:ext cx="8138160" cy="71323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A SUS of 75.5 and AI trust score of 76% confirm users found the tool genuinely useful. The key differentiator was evidence citation — users who doubted AI summaries immediately changed their minds when action items quoted actual review text. This validates our core design choice to forbid hallucination at the prompt level.</a:t>
            </a:r>
            <a:endParaRPr lang="en-US" sz="1100" dirty="0"/>
          </a:p>
        </p:txBody>
      </p:sp>
      <p:sp>
        <p:nvSpPr>
          <p:cNvPr id="10" name="Shape 8"/>
          <p:cNvSpPr/>
          <p:nvPr/>
        </p:nvSpPr>
        <p:spPr>
          <a:xfrm>
            <a:off x="320040" y="2395728"/>
            <a:ext cx="8503920" cy="1207008"/>
          </a:xfrm>
          <a:prstGeom prst="rect">
            <a:avLst/>
          </a:prstGeom>
          <a:solidFill>
            <a:srgbClr val="FFFFFF"/>
          </a:solidFill>
          <a:ln w="19050">
            <a:solidFill>
              <a:srgbClr val="DA291C"/>
            </a:solidFill>
            <a:prstDash val="solid"/>
          </a:ln>
          <a:effectLst>
            <a:outerShdw blurRad="63500" dist="25400" dir="8100000" algn="bl" rotWithShape="0">
              <a:srgbClr val="000000">
                <a:alpha val="12000"/>
              </a:srgbClr>
            </a:outerShdw>
          </a:effectLst>
        </p:spPr>
        <p:txBody>
          <a:bodyPr/>
          <a:lstStyle/>
          <a:p>
            <a:endParaRPr lang="en-US"/>
          </a:p>
        </p:txBody>
      </p:sp>
      <p:sp>
        <p:nvSpPr>
          <p:cNvPr id="11" name="Shape 9"/>
          <p:cNvSpPr/>
          <p:nvPr/>
        </p:nvSpPr>
        <p:spPr>
          <a:xfrm>
            <a:off x="320040" y="2395728"/>
            <a:ext cx="109728" cy="1207008"/>
          </a:xfrm>
          <a:prstGeom prst="rect">
            <a:avLst/>
          </a:prstGeom>
          <a:solidFill>
            <a:srgbClr val="DA291C"/>
          </a:solidFill>
          <a:ln w="12700">
            <a:solidFill>
              <a:srgbClr val="DA291C"/>
            </a:solidFill>
            <a:prstDash val="solid"/>
          </a:ln>
        </p:spPr>
        <p:txBody>
          <a:bodyPr/>
          <a:lstStyle/>
          <a:p>
            <a:endParaRPr lang="en-US"/>
          </a:p>
        </p:txBody>
      </p:sp>
      <p:sp>
        <p:nvSpPr>
          <p:cNvPr id="12" name="Text 10"/>
          <p:cNvSpPr/>
          <p:nvPr/>
        </p:nvSpPr>
        <p:spPr>
          <a:xfrm>
            <a:off x="548640" y="2487168"/>
            <a:ext cx="8138160" cy="274320"/>
          </a:xfrm>
          <a:prstGeom prst="rect">
            <a:avLst/>
          </a:prstGeom>
          <a:noFill/>
          <a:ln/>
        </p:spPr>
        <p:txBody>
          <a:bodyPr wrap="square" lIns="0" tIns="0" rIns="0" bIns="0" rtlCol="0" anchor="ctr"/>
          <a:lstStyle/>
          <a:p>
            <a:pPr marL="0" indent="0">
              <a:buNone/>
            </a:pPr>
            <a:r>
              <a:rPr lang="en-US" sz="1300" b="1" dirty="0">
                <a:solidFill>
                  <a:srgbClr val="DA291C"/>
                </a:solidFill>
                <a:latin typeface="Calibri" pitchFamily="34" charset="0"/>
                <a:ea typeface="Calibri" pitchFamily="34" charset="-122"/>
                <a:cs typeface="Calibri" pitchFamily="34" charset="-120"/>
              </a:rPr>
              <a:t>⚠️  Discoverability gaps masked by clean data presentation</a:t>
            </a:r>
            <a:endParaRPr lang="en-US" sz="1300" dirty="0"/>
          </a:p>
        </p:txBody>
      </p:sp>
      <p:sp>
        <p:nvSpPr>
          <p:cNvPr id="13" name="Text 11"/>
          <p:cNvSpPr/>
          <p:nvPr/>
        </p:nvSpPr>
        <p:spPr>
          <a:xfrm>
            <a:off x="548640" y="2816352"/>
            <a:ext cx="8138160" cy="71323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While dashboard comprehension was flawless (100% T1 success), navigation tasks like row-click (T3/T4, 60% success) exposed that users don't explore — they follow visible affordances. Participants found 4 discoverability bugs in a 40-minute session, confirming even experienced analytics users need explicit UI signals.</a:t>
            </a:r>
            <a:endParaRPr lang="en-US" sz="1100" dirty="0"/>
          </a:p>
        </p:txBody>
      </p:sp>
      <p:sp>
        <p:nvSpPr>
          <p:cNvPr id="14" name="Shape 12"/>
          <p:cNvSpPr/>
          <p:nvPr/>
        </p:nvSpPr>
        <p:spPr>
          <a:xfrm>
            <a:off x="320040" y="3694176"/>
            <a:ext cx="8503920" cy="1207008"/>
          </a:xfrm>
          <a:prstGeom prst="rect">
            <a:avLst/>
          </a:prstGeom>
          <a:solidFill>
            <a:srgbClr val="FFFFFF"/>
          </a:solidFill>
          <a:ln w="19050">
            <a:solidFill>
              <a:srgbClr val="DA291C"/>
            </a:solidFill>
            <a:prstDash val="solid"/>
          </a:ln>
          <a:effectLst>
            <a:outerShdw blurRad="63500" dist="25400" dir="8100000" algn="bl" rotWithShape="0">
              <a:srgbClr val="000000">
                <a:alpha val="12000"/>
              </a:srgbClr>
            </a:outerShdw>
          </a:effectLst>
        </p:spPr>
        <p:txBody>
          <a:bodyPr/>
          <a:lstStyle/>
          <a:p>
            <a:endParaRPr lang="en-US"/>
          </a:p>
        </p:txBody>
      </p:sp>
      <p:sp>
        <p:nvSpPr>
          <p:cNvPr id="15" name="Shape 13"/>
          <p:cNvSpPr/>
          <p:nvPr/>
        </p:nvSpPr>
        <p:spPr>
          <a:xfrm>
            <a:off x="320040" y="3694176"/>
            <a:ext cx="109728" cy="1207008"/>
          </a:xfrm>
          <a:prstGeom prst="rect">
            <a:avLst/>
          </a:prstGeom>
          <a:solidFill>
            <a:srgbClr val="3A3A3A"/>
          </a:solidFill>
          <a:ln w="12700">
            <a:solidFill>
              <a:srgbClr val="3A3A3A"/>
            </a:solidFill>
            <a:prstDash val="solid"/>
          </a:ln>
        </p:spPr>
        <p:txBody>
          <a:bodyPr/>
          <a:lstStyle/>
          <a:p>
            <a:endParaRPr lang="en-US"/>
          </a:p>
        </p:txBody>
      </p:sp>
      <p:sp>
        <p:nvSpPr>
          <p:cNvPr id="16" name="Text 14"/>
          <p:cNvSpPr/>
          <p:nvPr/>
        </p:nvSpPr>
        <p:spPr>
          <a:xfrm>
            <a:off x="548640" y="3785616"/>
            <a:ext cx="8138160"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  UMUX-Lite slightly below benchmark signals a gap between perceived usefulness and learnability</a:t>
            </a:r>
            <a:endParaRPr lang="en-US" sz="1300" dirty="0"/>
          </a:p>
        </p:txBody>
      </p:sp>
      <p:sp>
        <p:nvSpPr>
          <p:cNvPr id="17" name="Text 15"/>
          <p:cNvSpPr/>
          <p:nvPr/>
        </p:nvSpPr>
        <p:spPr>
          <a:xfrm>
            <a:off x="548640" y="4114800"/>
            <a:ext cx="8138160" cy="71323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SUS=75.5 (Good) vs UMUX-Lite=65.0 (below 70) suggests users found the tool's outputs valuable but encountered friction learning the interaction model. This is consistent with the row-click and multiselect findings — the data quality shines, but the interaction vocabulary needs work.</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C72C"/>
          </a:solidFill>
          <a:ln w="12700">
            <a:solidFill>
              <a:srgbClr val="FFC72C"/>
            </a:solidFill>
            <a:prstDash val="solid"/>
          </a:ln>
        </p:spPr>
        <p:txBody>
          <a:bodyPr/>
          <a:lstStyle/>
          <a:p>
            <a:endParaRPr lang="en-US"/>
          </a:p>
        </p:txBody>
      </p:sp>
      <p:sp>
        <p:nvSpPr>
          <p:cNvPr id="3" name="Shape 1"/>
          <p:cNvSpPr/>
          <p:nvPr/>
        </p:nvSpPr>
        <p:spPr>
          <a:xfrm>
            <a:off x="0" y="896112"/>
            <a:ext cx="9144000" cy="73152"/>
          </a:xfrm>
          <a:prstGeom prst="rect">
            <a:avLst/>
          </a:prstGeom>
          <a:solidFill>
            <a:srgbClr val="DA291C"/>
          </a:solidFill>
          <a:ln w="12700">
            <a:solidFill>
              <a:srgbClr val="DA291C"/>
            </a:solidFill>
            <a:prstDash val="solid"/>
          </a:ln>
        </p:spPr>
        <p:txBody>
          <a:bodyPr/>
          <a:lstStyle/>
          <a:p>
            <a:endParaRPr lang="en-US"/>
          </a:p>
        </p:txBody>
      </p:sp>
      <p:sp>
        <p:nvSpPr>
          <p:cNvPr id="4" name="Text 2"/>
          <p:cNvSpPr/>
          <p:nvPr/>
        </p:nvSpPr>
        <p:spPr>
          <a:xfrm>
            <a:off x="411480" y="73152"/>
            <a:ext cx="8046720" cy="658368"/>
          </a:xfrm>
          <a:prstGeom prst="rect">
            <a:avLst/>
          </a:prstGeom>
          <a:noFill/>
          <a:ln/>
        </p:spPr>
        <p:txBody>
          <a:bodyPr wrap="square" lIns="0" tIns="0" rIns="0" bIns="0" rtlCol="0" anchor="ctr"/>
          <a:lstStyle/>
          <a:p>
            <a:pPr marL="0" indent="0">
              <a:buNone/>
            </a:pPr>
            <a:r>
              <a:rPr lang="en-US" sz="3000" b="1" dirty="0">
                <a:solidFill>
                  <a:srgbClr val="1A1A1A"/>
                </a:solidFill>
                <a:latin typeface="Arial Black" pitchFamily="34" charset="0"/>
                <a:ea typeface="Arial Black" pitchFamily="34" charset="-122"/>
                <a:cs typeface="Arial Black" pitchFamily="34" charset="-120"/>
              </a:rPr>
              <a:t>Limitations, Risks &amp; Ethics</a:t>
            </a:r>
            <a:endParaRPr lang="en-US" sz="3000" dirty="0"/>
          </a:p>
        </p:txBody>
      </p:sp>
      <p:sp>
        <p:nvSpPr>
          <p:cNvPr id="5" name="Text 3"/>
          <p:cNvSpPr/>
          <p:nvPr/>
        </p:nvSpPr>
        <p:spPr>
          <a:xfrm>
            <a:off x="5029200" y="658368"/>
            <a:ext cx="3886200" cy="256032"/>
          </a:xfrm>
          <a:prstGeom prst="rect">
            <a:avLst/>
          </a:prstGeom>
          <a:noFill/>
          <a:ln/>
        </p:spPr>
        <p:txBody>
          <a:bodyPr wrap="square" lIns="0" tIns="0" rIns="0" bIns="0" rtlCol="0" anchor="ctr"/>
          <a:lstStyle/>
          <a:p>
            <a:pPr marL="0" indent="0" algn="r">
              <a:buNone/>
            </a:pPr>
            <a:r>
              <a:rPr lang="en-US" sz="850" b="1" kern="0" spc="200" dirty="0">
                <a:solidFill>
                  <a:srgbClr val="DA291C"/>
                </a:solidFill>
                <a:latin typeface="Calibri" pitchFamily="34" charset="0"/>
                <a:ea typeface="Calibri" pitchFamily="34" charset="-122"/>
                <a:cs typeface="Calibri" pitchFamily="34" charset="-120"/>
              </a:rPr>
              <a:t>CRITICAL CONSIDERATIONS</a:t>
            </a:r>
            <a:endParaRPr lang="en-US" sz="850" dirty="0"/>
          </a:p>
        </p:txBody>
      </p:sp>
      <p:sp>
        <p:nvSpPr>
          <p:cNvPr id="6" name="Shape 4"/>
          <p:cNvSpPr/>
          <p:nvPr/>
        </p:nvSpPr>
        <p:spPr>
          <a:xfrm>
            <a:off x="320040" y="1097280"/>
            <a:ext cx="4160520" cy="1133856"/>
          </a:xfrm>
          <a:prstGeom prst="rect">
            <a:avLst/>
          </a:prstGeom>
          <a:solidFill>
            <a:srgbClr val="FDECEA"/>
          </a:solidFill>
          <a:ln w="19050">
            <a:solidFill>
              <a:srgbClr val="DA291C"/>
            </a:solidFill>
            <a:prstDash val="solid"/>
          </a:ln>
          <a:effectLst>
            <a:outerShdw blurRad="63500" dist="25400" dir="8100000" algn="bl" rotWithShape="0">
              <a:srgbClr val="000000">
                <a:alpha val="12000"/>
              </a:srgbClr>
            </a:outerShdw>
          </a:effectLst>
        </p:spPr>
        <p:txBody>
          <a:bodyPr/>
          <a:lstStyle/>
          <a:p>
            <a:endParaRPr lang="en-US"/>
          </a:p>
        </p:txBody>
      </p:sp>
      <p:sp>
        <p:nvSpPr>
          <p:cNvPr id="7" name="Shape 5"/>
          <p:cNvSpPr/>
          <p:nvPr/>
        </p:nvSpPr>
        <p:spPr>
          <a:xfrm>
            <a:off x="320040" y="1097280"/>
            <a:ext cx="91440" cy="1133856"/>
          </a:xfrm>
          <a:prstGeom prst="rect">
            <a:avLst/>
          </a:prstGeom>
          <a:solidFill>
            <a:srgbClr val="DA291C"/>
          </a:solidFill>
          <a:ln w="12700">
            <a:solidFill>
              <a:srgbClr val="DA291C"/>
            </a:solidFill>
            <a:prstDash val="solid"/>
          </a:ln>
        </p:spPr>
        <p:txBody>
          <a:bodyPr/>
          <a:lstStyle/>
          <a:p>
            <a:endParaRPr lang="en-US"/>
          </a:p>
        </p:txBody>
      </p:sp>
      <p:sp>
        <p:nvSpPr>
          <p:cNvPr id="8" name="Text 6"/>
          <p:cNvSpPr/>
          <p:nvPr/>
        </p:nvSpPr>
        <p:spPr>
          <a:xfrm>
            <a:off x="521208" y="1188720"/>
            <a:ext cx="3794760" cy="274320"/>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Small Sample Size (N=5)</a:t>
            </a:r>
            <a:endParaRPr lang="en-US" sz="1150" dirty="0"/>
          </a:p>
        </p:txBody>
      </p:sp>
      <p:sp>
        <p:nvSpPr>
          <p:cNvPr id="9" name="Text 7"/>
          <p:cNvSpPr/>
          <p:nvPr/>
        </p:nvSpPr>
        <p:spPr>
          <a:xfrm>
            <a:off x="521208" y="1517904"/>
            <a:ext cx="3794760" cy="658368"/>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Statistical power is low. Results indicate directional insights, not conclusive evidence. Findings need validation with a larger, more diverse group of real branch managers.</a:t>
            </a:r>
            <a:endParaRPr lang="en-US" sz="1050" dirty="0"/>
          </a:p>
        </p:txBody>
      </p:sp>
      <p:sp>
        <p:nvSpPr>
          <p:cNvPr id="10" name="Shape 8"/>
          <p:cNvSpPr/>
          <p:nvPr/>
        </p:nvSpPr>
        <p:spPr>
          <a:xfrm>
            <a:off x="320040" y="2359152"/>
            <a:ext cx="4160520" cy="1133856"/>
          </a:xfrm>
          <a:prstGeom prst="rect">
            <a:avLst/>
          </a:prstGeom>
          <a:solidFill>
            <a:srgbClr val="FFF3C4"/>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1" name="Shape 9"/>
          <p:cNvSpPr/>
          <p:nvPr/>
        </p:nvSpPr>
        <p:spPr>
          <a:xfrm>
            <a:off x="320040" y="2359152"/>
            <a:ext cx="91440" cy="1133856"/>
          </a:xfrm>
          <a:prstGeom prst="rect">
            <a:avLst/>
          </a:prstGeom>
          <a:solidFill>
            <a:srgbClr val="FFC72C"/>
          </a:solidFill>
          <a:ln w="12700">
            <a:solidFill>
              <a:srgbClr val="FFC72C"/>
            </a:solidFill>
            <a:prstDash val="solid"/>
          </a:ln>
        </p:spPr>
        <p:txBody>
          <a:bodyPr/>
          <a:lstStyle/>
          <a:p>
            <a:endParaRPr lang="en-US"/>
          </a:p>
        </p:txBody>
      </p:sp>
      <p:sp>
        <p:nvSpPr>
          <p:cNvPr id="12" name="Text 10"/>
          <p:cNvSpPr/>
          <p:nvPr/>
        </p:nvSpPr>
        <p:spPr>
          <a:xfrm>
            <a:off x="521208" y="2450592"/>
            <a:ext cx="3794760" cy="274320"/>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Ecological Validity Gap</a:t>
            </a:r>
            <a:endParaRPr lang="en-US" sz="1150" dirty="0"/>
          </a:p>
        </p:txBody>
      </p:sp>
      <p:sp>
        <p:nvSpPr>
          <p:cNvPr id="13" name="Text 11"/>
          <p:cNvSpPr/>
          <p:nvPr/>
        </p:nvSpPr>
        <p:spPr>
          <a:xfrm>
            <a:off x="521208" y="2779776"/>
            <a:ext cx="3794760" cy="658368"/>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Study tasks were artificial. Real managers face time pressure, interruptions, and partial data. Lab results likely overestimate performance in operational contexts.</a:t>
            </a:r>
            <a:endParaRPr lang="en-US" sz="1050" dirty="0"/>
          </a:p>
        </p:txBody>
      </p:sp>
      <p:sp>
        <p:nvSpPr>
          <p:cNvPr id="14" name="Shape 12"/>
          <p:cNvSpPr/>
          <p:nvPr/>
        </p:nvSpPr>
        <p:spPr>
          <a:xfrm>
            <a:off x="320040" y="3621024"/>
            <a:ext cx="4160520" cy="1133856"/>
          </a:xfrm>
          <a:prstGeom prst="rect">
            <a:avLst/>
          </a:prstGeom>
          <a:solidFill>
            <a:srgbClr val="FDECEA"/>
          </a:solidFill>
          <a:ln w="19050">
            <a:solidFill>
              <a:srgbClr val="DA291C"/>
            </a:solidFill>
            <a:prstDash val="solid"/>
          </a:ln>
          <a:effectLst>
            <a:outerShdw blurRad="63500" dist="25400" dir="8100000" algn="bl" rotWithShape="0">
              <a:srgbClr val="000000">
                <a:alpha val="12000"/>
              </a:srgbClr>
            </a:outerShdw>
          </a:effectLst>
        </p:spPr>
        <p:txBody>
          <a:bodyPr/>
          <a:lstStyle/>
          <a:p>
            <a:endParaRPr lang="en-US"/>
          </a:p>
        </p:txBody>
      </p:sp>
      <p:sp>
        <p:nvSpPr>
          <p:cNvPr id="15" name="Shape 13"/>
          <p:cNvSpPr/>
          <p:nvPr/>
        </p:nvSpPr>
        <p:spPr>
          <a:xfrm>
            <a:off x="320040" y="3621024"/>
            <a:ext cx="91440" cy="1133856"/>
          </a:xfrm>
          <a:prstGeom prst="rect">
            <a:avLst/>
          </a:prstGeom>
          <a:solidFill>
            <a:srgbClr val="DA291C"/>
          </a:solidFill>
          <a:ln w="12700">
            <a:solidFill>
              <a:srgbClr val="DA291C"/>
            </a:solidFill>
            <a:prstDash val="solid"/>
          </a:ln>
        </p:spPr>
        <p:txBody>
          <a:bodyPr/>
          <a:lstStyle/>
          <a:p>
            <a:endParaRPr lang="en-US"/>
          </a:p>
        </p:txBody>
      </p:sp>
      <p:sp>
        <p:nvSpPr>
          <p:cNvPr id="16" name="Text 14"/>
          <p:cNvSpPr/>
          <p:nvPr/>
        </p:nvSpPr>
        <p:spPr>
          <a:xfrm>
            <a:off x="521208" y="3712464"/>
            <a:ext cx="3794760" cy="274320"/>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Model Unpredictability &amp; Prompt Sensitivity</a:t>
            </a:r>
            <a:endParaRPr lang="en-US" sz="1150" dirty="0"/>
          </a:p>
        </p:txBody>
      </p:sp>
      <p:sp>
        <p:nvSpPr>
          <p:cNvPr id="17" name="Text 15"/>
          <p:cNvSpPr/>
          <p:nvPr/>
        </p:nvSpPr>
        <p:spPr>
          <a:xfrm>
            <a:off x="521208" y="4041648"/>
            <a:ext cx="3794760" cy="658368"/>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Claude Haiku may respond differently to edge cases (single reviews, non-English text, spam). Outputs are not deterministic — identical inputs can produce varied summaries.</a:t>
            </a:r>
            <a:endParaRPr lang="en-US" sz="1050" dirty="0"/>
          </a:p>
        </p:txBody>
      </p:sp>
      <p:sp>
        <p:nvSpPr>
          <p:cNvPr id="18" name="Shape 16"/>
          <p:cNvSpPr/>
          <p:nvPr/>
        </p:nvSpPr>
        <p:spPr>
          <a:xfrm>
            <a:off x="4663440" y="1097280"/>
            <a:ext cx="4160520" cy="1133856"/>
          </a:xfrm>
          <a:prstGeom prst="rect">
            <a:avLst/>
          </a:prstGeom>
          <a:solidFill>
            <a:srgbClr val="FFF3C4"/>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9" name="Shape 17"/>
          <p:cNvSpPr/>
          <p:nvPr/>
        </p:nvSpPr>
        <p:spPr>
          <a:xfrm>
            <a:off x="4663440" y="1097280"/>
            <a:ext cx="91440" cy="1133856"/>
          </a:xfrm>
          <a:prstGeom prst="rect">
            <a:avLst/>
          </a:prstGeom>
          <a:solidFill>
            <a:srgbClr val="FFC72C"/>
          </a:solidFill>
          <a:ln w="12700">
            <a:solidFill>
              <a:srgbClr val="FFC72C"/>
            </a:solidFill>
            <a:prstDash val="solid"/>
          </a:ln>
        </p:spPr>
        <p:txBody>
          <a:bodyPr/>
          <a:lstStyle/>
          <a:p>
            <a:endParaRPr lang="en-US"/>
          </a:p>
        </p:txBody>
      </p:sp>
      <p:sp>
        <p:nvSpPr>
          <p:cNvPr id="20" name="Text 18"/>
          <p:cNvSpPr/>
          <p:nvPr/>
        </p:nvSpPr>
        <p:spPr>
          <a:xfrm>
            <a:off x="4864608" y="1188720"/>
            <a:ext cx="3794760" cy="274320"/>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Privacy &amp; Data Ethics</a:t>
            </a:r>
            <a:endParaRPr lang="en-US" sz="1150" dirty="0"/>
          </a:p>
        </p:txBody>
      </p:sp>
      <p:sp>
        <p:nvSpPr>
          <p:cNvPr id="21" name="Text 19"/>
          <p:cNvSpPr/>
          <p:nvPr/>
        </p:nvSpPr>
        <p:spPr>
          <a:xfrm>
            <a:off x="4864608" y="1517904"/>
            <a:ext cx="3794760" cy="658368"/>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Only review text + star ratings are sent to Claude API — no PII, reviewer names, or location IDs. All LLM calls logged locally (SQLite) and never transmitted externally. Consent obtained from all participants.</a:t>
            </a:r>
            <a:endParaRPr lang="en-US" sz="1050" dirty="0"/>
          </a:p>
        </p:txBody>
      </p:sp>
      <p:sp>
        <p:nvSpPr>
          <p:cNvPr id="22" name="Shape 20"/>
          <p:cNvSpPr/>
          <p:nvPr/>
        </p:nvSpPr>
        <p:spPr>
          <a:xfrm>
            <a:off x="4663440" y="2359152"/>
            <a:ext cx="4160520" cy="1280160"/>
          </a:xfrm>
          <a:prstGeom prst="rect">
            <a:avLst/>
          </a:prstGeom>
          <a:solidFill>
            <a:srgbClr val="FFFFFF"/>
          </a:solidFill>
          <a:ln w="19050">
            <a:solidFill>
              <a:srgbClr val="3A3A3A"/>
            </a:solidFill>
            <a:prstDash val="solid"/>
          </a:ln>
          <a:effectLst>
            <a:outerShdw blurRad="63500" dist="25400" dir="8100000" algn="bl" rotWithShape="0">
              <a:srgbClr val="000000">
                <a:alpha val="12000"/>
              </a:srgbClr>
            </a:outerShdw>
          </a:effectLst>
        </p:spPr>
        <p:txBody>
          <a:bodyPr/>
          <a:lstStyle/>
          <a:p>
            <a:endParaRPr lang="en-US"/>
          </a:p>
        </p:txBody>
      </p:sp>
      <p:sp>
        <p:nvSpPr>
          <p:cNvPr id="23" name="Shape 21"/>
          <p:cNvSpPr/>
          <p:nvPr/>
        </p:nvSpPr>
        <p:spPr>
          <a:xfrm>
            <a:off x="4663440" y="2359152"/>
            <a:ext cx="91440" cy="1280160"/>
          </a:xfrm>
          <a:prstGeom prst="rect">
            <a:avLst/>
          </a:prstGeom>
          <a:solidFill>
            <a:srgbClr val="3A3A3A"/>
          </a:solidFill>
          <a:ln w="12700">
            <a:solidFill>
              <a:srgbClr val="3A3A3A"/>
            </a:solidFill>
            <a:prstDash val="solid"/>
          </a:ln>
        </p:spPr>
        <p:txBody>
          <a:bodyPr/>
          <a:lstStyle/>
          <a:p>
            <a:endParaRPr lang="en-US"/>
          </a:p>
        </p:txBody>
      </p:sp>
      <p:sp>
        <p:nvSpPr>
          <p:cNvPr id="24" name="Text 22"/>
          <p:cNvSpPr/>
          <p:nvPr/>
        </p:nvSpPr>
        <p:spPr>
          <a:xfrm>
            <a:off x="4864608" y="2450592"/>
            <a:ext cx="3794760" cy="274320"/>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J-Shaped Review Bias in Source Data</a:t>
            </a:r>
            <a:endParaRPr lang="en-US" sz="1150" dirty="0"/>
          </a:p>
        </p:txBody>
      </p:sp>
      <p:sp>
        <p:nvSpPr>
          <p:cNvPr id="25" name="Text 23"/>
          <p:cNvSpPr/>
          <p:nvPr/>
        </p:nvSpPr>
        <p:spPr>
          <a:xfrm>
            <a:off x="4864608" y="2779776"/>
            <a:ext cx="3794760" cy="804672"/>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The Kaggle dataset over-represents 1-star and 5-star reviews. AI summaries may be skewed toward extreme sentiment. Aggregate star averages remain misleading without distribution context.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C72C"/>
          </a:solidFill>
          <a:ln w="12700">
            <a:solidFill>
              <a:srgbClr val="FFC72C"/>
            </a:solidFill>
            <a:prstDash val="solid"/>
          </a:ln>
        </p:spPr>
        <p:txBody>
          <a:bodyPr/>
          <a:lstStyle/>
          <a:p>
            <a:endParaRPr lang="en-US"/>
          </a:p>
        </p:txBody>
      </p:sp>
      <p:sp>
        <p:nvSpPr>
          <p:cNvPr id="3" name="Shape 1"/>
          <p:cNvSpPr/>
          <p:nvPr/>
        </p:nvSpPr>
        <p:spPr>
          <a:xfrm>
            <a:off x="0" y="896112"/>
            <a:ext cx="9144000" cy="73152"/>
          </a:xfrm>
          <a:prstGeom prst="rect">
            <a:avLst/>
          </a:prstGeom>
          <a:solidFill>
            <a:srgbClr val="DA291C"/>
          </a:solidFill>
          <a:ln w="12700">
            <a:solidFill>
              <a:srgbClr val="DA291C"/>
            </a:solidFill>
            <a:prstDash val="solid"/>
          </a:ln>
        </p:spPr>
        <p:txBody>
          <a:bodyPr/>
          <a:lstStyle/>
          <a:p>
            <a:endParaRPr lang="en-US"/>
          </a:p>
        </p:txBody>
      </p:sp>
      <p:sp>
        <p:nvSpPr>
          <p:cNvPr id="4" name="Text 2"/>
          <p:cNvSpPr/>
          <p:nvPr/>
        </p:nvSpPr>
        <p:spPr>
          <a:xfrm>
            <a:off x="411480" y="73152"/>
            <a:ext cx="8046720" cy="658368"/>
          </a:xfrm>
          <a:prstGeom prst="rect">
            <a:avLst/>
          </a:prstGeom>
          <a:noFill/>
          <a:ln/>
        </p:spPr>
        <p:txBody>
          <a:bodyPr wrap="square" lIns="0" tIns="0" rIns="0" bIns="0" rtlCol="0" anchor="ctr"/>
          <a:lstStyle/>
          <a:p>
            <a:pPr marL="0" indent="0">
              <a:buNone/>
            </a:pPr>
            <a:r>
              <a:rPr lang="en-US" sz="3000" b="1" dirty="0">
                <a:solidFill>
                  <a:srgbClr val="1A1A1A"/>
                </a:solidFill>
                <a:latin typeface="Arial Black" pitchFamily="34" charset="0"/>
                <a:ea typeface="Arial Black" pitchFamily="34" charset="-122"/>
                <a:cs typeface="Arial Black" pitchFamily="34" charset="-120"/>
              </a:rPr>
              <a:t>Conclusion &amp; Future Work</a:t>
            </a:r>
            <a:endParaRPr lang="en-US" sz="3000" dirty="0"/>
          </a:p>
        </p:txBody>
      </p:sp>
      <p:sp>
        <p:nvSpPr>
          <p:cNvPr id="5" name="Text 3"/>
          <p:cNvSpPr/>
          <p:nvPr/>
        </p:nvSpPr>
        <p:spPr>
          <a:xfrm>
            <a:off x="5029200" y="658368"/>
            <a:ext cx="3886200" cy="256032"/>
          </a:xfrm>
          <a:prstGeom prst="rect">
            <a:avLst/>
          </a:prstGeom>
          <a:noFill/>
          <a:ln/>
        </p:spPr>
        <p:txBody>
          <a:bodyPr wrap="square" lIns="0" tIns="0" rIns="0" bIns="0" rtlCol="0" anchor="ctr"/>
          <a:lstStyle/>
          <a:p>
            <a:pPr marL="0" indent="0" algn="r">
              <a:buNone/>
            </a:pPr>
            <a:r>
              <a:rPr lang="en-US" sz="850" b="1" kern="0" spc="200" dirty="0">
                <a:solidFill>
                  <a:srgbClr val="DA291C"/>
                </a:solidFill>
                <a:latin typeface="Calibri" pitchFamily="34" charset="0"/>
                <a:ea typeface="Calibri" pitchFamily="34" charset="-122"/>
                <a:cs typeface="Calibri" pitchFamily="34" charset="-120"/>
              </a:rPr>
              <a:t>WHAT WE BUILT  ·  LEARNED  ·  WHERE WE GO NEXT</a:t>
            </a:r>
            <a:endParaRPr lang="en-US" sz="850" dirty="0"/>
          </a:p>
        </p:txBody>
      </p:sp>
      <p:sp>
        <p:nvSpPr>
          <p:cNvPr id="6" name="Shape 4"/>
          <p:cNvSpPr/>
          <p:nvPr/>
        </p:nvSpPr>
        <p:spPr>
          <a:xfrm>
            <a:off x="320040" y="1097280"/>
            <a:ext cx="8503920" cy="274320"/>
          </a:xfrm>
          <a:prstGeom prst="rect">
            <a:avLst/>
          </a:prstGeom>
          <a:solidFill>
            <a:srgbClr val="FFC72C"/>
          </a:solidFill>
          <a:ln w="12700">
            <a:solidFill>
              <a:srgbClr val="FFC72C"/>
            </a:solidFill>
            <a:prstDash val="solid"/>
          </a:ln>
        </p:spPr>
        <p:txBody>
          <a:bodyPr/>
          <a:lstStyle/>
          <a:p>
            <a:endParaRPr lang="en-US"/>
          </a:p>
        </p:txBody>
      </p:sp>
      <p:sp>
        <p:nvSpPr>
          <p:cNvPr id="7" name="Text 5"/>
          <p:cNvSpPr/>
          <p:nvPr/>
        </p:nvSpPr>
        <p:spPr>
          <a:xfrm>
            <a:off x="457200" y="1115568"/>
            <a:ext cx="8229600" cy="228600"/>
          </a:xfrm>
          <a:prstGeom prst="rect">
            <a:avLst/>
          </a:prstGeom>
          <a:noFill/>
          <a:ln/>
        </p:spPr>
        <p:txBody>
          <a:bodyPr wrap="square" lIns="0" tIns="0" rIns="0" bIns="0" rtlCol="0" anchor="ctr"/>
          <a:lstStyle/>
          <a:p>
            <a:pPr marL="0" indent="0">
              <a:buNone/>
            </a:pPr>
            <a:r>
              <a:rPr lang="en-US" sz="1050" b="1" kern="0" spc="200" dirty="0">
                <a:solidFill>
                  <a:srgbClr val="1A1A1A"/>
                </a:solidFill>
                <a:latin typeface="Calibri" pitchFamily="34" charset="0"/>
                <a:ea typeface="Calibri" pitchFamily="34" charset="-122"/>
                <a:cs typeface="Calibri" pitchFamily="34" charset="-120"/>
              </a:rPr>
              <a:t>🏆  MAIN TAKEAWAYS</a:t>
            </a:r>
            <a:endParaRPr lang="en-US" sz="1050" dirty="0"/>
          </a:p>
        </p:txBody>
      </p:sp>
      <p:sp>
        <p:nvSpPr>
          <p:cNvPr id="8" name="Shape 6"/>
          <p:cNvSpPr/>
          <p:nvPr/>
        </p:nvSpPr>
        <p:spPr>
          <a:xfrm>
            <a:off x="320040" y="1408176"/>
            <a:ext cx="4069080" cy="914400"/>
          </a:xfrm>
          <a:prstGeom prst="rect">
            <a:avLst/>
          </a:prstGeom>
          <a:solidFill>
            <a:srgbClr val="FFF3C4"/>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9" name="Shape 7"/>
          <p:cNvSpPr/>
          <p:nvPr/>
        </p:nvSpPr>
        <p:spPr>
          <a:xfrm>
            <a:off x="457200" y="1499616"/>
            <a:ext cx="274320" cy="274320"/>
          </a:xfrm>
          <a:prstGeom prst="ellipse">
            <a:avLst/>
          </a:prstGeom>
          <a:solidFill>
            <a:srgbClr val="DA291C"/>
          </a:solidFill>
          <a:ln w="12700">
            <a:solidFill>
              <a:srgbClr val="DA291C"/>
            </a:solidFill>
            <a:prstDash val="solid"/>
          </a:ln>
        </p:spPr>
        <p:txBody>
          <a:bodyPr/>
          <a:lstStyle/>
          <a:p>
            <a:endParaRPr lang="en-US"/>
          </a:p>
        </p:txBody>
      </p:sp>
      <p:sp>
        <p:nvSpPr>
          <p:cNvPr id="10" name="Text 8"/>
          <p:cNvSpPr/>
          <p:nvPr/>
        </p:nvSpPr>
        <p:spPr>
          <a:xfrm>
            <a:off x="457200" y="149961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1</a:t>
            </a:r>
            <a:endParaRPr lang="en-US" sz="1200" dirty="0"/>
          </a:p>
        </p:txBody>
      </p:sp>
      <p:sp>
        <p:nvSpPr>
          <p:cNvPr id="11" name="Text 9"/>
          <p:cNvSpPr/>
          <p:nvPr/>
        </p:nvSpPr>
        <p:spPr>
          <a:xfrm>
            <a:off x="841248" y="1463040"/>
            <a:ext cx="3383280" cy="804672"/>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Evidence-grounded AI beats black-box AI for trust: users rate outputs higher when they can verify the source evidence inline.</a:t>
            </a:r>
            <a:endParaRPr lang="en-US" sz="1150" dirty="0"/>
          </a:p>
        </p:txBody>
      </p:sp>
      <p:sp>
        <p:nvSpPr>
          <p:cNvPr id="12" name="Shape 10"/>
          <p:cNvSpPr/>
          <p:nvPr/>
        </p:nvSpPr>
        <p:spPr>
          <a:xfrm>
            <a:off x="4617720" y="1408176"/>
            <a:ext cx="4069080" cy="914400"/>
          </a:xfrm>
          <a:prstGeom prst="rect">
            <a:avLst/>
          </a:prstGeom>
          <a:solidFill>
            <a:srgbClr val="FFF3C4"/>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3" name="Shape 11"/>
          <p:cNvSpPr/>
          <p:nvPr/>
        </p:nvSpPr>
        <p:spPr>
          <a:xfrm>
            <a:off x="4754880" y="1499616"/>
            <a:ext cx="274320" cy="274320"/>
          </a:xfrm>
          <a:prstGeom prst="ellipse">
            <a:avLst/>
          </a:prstGeom>
          <a:solidFill>
            <a:srgbClr val="DA291C"/>
          </a:solidFill>
          <a:ln w="12700">
            <a:solidFill>
              <a:srgbClr val="DA291C"/>
            </a:solidFill>
            <a:prstDash val="solid"/>
          </a:ln>
        </p:spPr>
        <p:txBody>
          <a:bodyPr/>
          <a:lstStyle/>
          <a:p>
            <a:endParaRPr lang="en-US"/>
          </a:p>
        </p:txBody>
      </p:sp>
      <p:sp>
        <p:nvSpPr>
          <p:cNvPr id="14" name="Text 12"/>
          <p:cNvSpPr/>
          <p:nvPr/>
        </p:nvSpPr>
        <p:spPr>
          <a:xfrm>
            <a:off x="4754880" y="149961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2</a:t>
            </a:r>
            <a:endParaRPr lang="en-US" sz="1200" dirty="0"/>
          </a:p>
        </p:txBody>
      </p:sp>
      <p:sp>
        <p:nvSpPr>
          <p:cNvPr id="15" name="Text 13"/>
          <p:cNvSpPr/>
          <p:nvPr/>
        </p:nvSpPr>
        <p:spPr>
          <a:xfrm>
            <a:off x="5138928" y="1463040"/>
            <a:ext cx="3383280" cy="804672"/>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Human-AI collaboration works best as a decision support layer — not automation. All 5 users wanted final control; 4/5 said they'd adopt the tool in a real role.</a:t>
            </a:r>
            <a:endParaRPr lang="en-US" sz="1150" dirty="0"/>
          </a:p>
        </p:txBody>
      </p:sp>
      <p:sp>
        <p:nvSpPr>
          <p:cNvPr id="16" name="Shape 14"/>
          <p:cNvSpPr/>
          <p:nvPr/>
        </p:nvSpPr>
        <p:spPr>
          <a:xfrm>
            <a:off x="320040" y="2423160"/>
            <a:ext cx="8503920" cy="658368"/>
          </a:xfrm>
          <a:prstGeom prst="rect">
            <a:avLst/>
          </a:prstGeom>
          <a:solidFill>
            <a:srgbClr val="FFFFFF"/>
          </a:solidFill>
          <a:ln w="19050">
            <a:solidFill>
              <a:srgbClr val="DA291C"/>
            </a:solidFill>
            <a:prstDash val="solid"/>
          </a:ln>
          <a:effectLst>
            <a:outerShdw blurRad="63500" dist="25400" dir="8100000" algn="bl" rotWithShape="0">
              <a:srgbClr val="000000">
                <a:alpha val="12000"/>
              </a:srgbClr>
            </a:outerShdw>
          </a:effectLst>
        </p:spPr>
        <p:txBody>
          <a:bodyPr/>
          <a:lstStyle/>
          <a:p>
            <a:endParaRPr lang="en-US"/>
          </a:p>
        </p:txBody>
      </p:sp>
      <p:sp>
        <p:nvSpPr>
          <p:cNvPr id="17" name="Shape 15"/>
          <p:cNvSpPr/>
          <p:nvPr/>
        </p:nvSpPr>
        <p:spPr>
          <a:xfrm>
            <a:off x="320040" y="2423160"/>
            <a:ext cx="91440" cy="658368"/>
          </a:xfrm>
          <a:prstGeom prst="rect">
            <a:avLst/>
          </a:prstGeom>
          <a:solidFill>
            <a:srgbClr val="DA291C"/>
          </a:solidFill>
          <a:ln w="12700">
            <a:solidFill>
              <a:srgbClr val="DA291C"/>
            </a:solidFill>
            <a:prstDash val="solid"/>
          </a:ln>
        </p:spPr>
        <p:txBody>
          <a:bodyPr/>
          <a:lstStyle/>
          <a:p>
            <a:endParaRPr lang="en-US"/>
          </a:p>
        </p:txBody>
      </p:sp>
      <p:sp>
        <p:nvSpPr>
          <p:cNvPr id="18" name="Text 16"/>
          <p:cNvSpPr/>
          <p:nvPr/>
        </p:nvSpPr>
        <p:spPr>
          <a:xfrm>
            <a:off x="530352" y="2468880"/>
            <a:ext cx="8138160" cy="256032"/>
          </a:xfrm>
          <a:prstGeom prst="rect">
            <a:avLst/>
          </a:prstGeom>
          <a:noFill/>
          <a:ln/>
        </p:spPr>
        <p:txBody>
          <a:bodyPr wrap="square" lIns="0" tIns="0" rIns="0" bIns="0" rtlCol="0" anchor="ctr"/>
          <a:lstStyle/>
          <a:p>
            <a:pPr marL="0" indent="0">
              <a:buNone/>
            </a:pPr>
            <a:r>
              <a:rPr lang="en-US" sz="1200" b="1" dirty="0">
                <a:solidFill>
                  <a:srgbClr val="DA291C"/>
                </a:solidFill>
                <a:latin typeface="Calibri" pitchFamily="34" charset="0"/>
                <a:ea typeface="Calibri" pitchFamily="34" charset="-122"/>
                <a:cs typeface="Calibri" pitchFamily="34" charset="-120"/>
              </a:rPr>
              <a:t>🤝  Contribution to Human-AI Collaboration</a:t>
            </a:r>
            <a:endParaRPr lang="en-US" sz="1200" dirty="0"/>
          </a:p>
        </p:txBody>
      </p:sp>
      <p:sp>
        <p:nvSpPr>
          <p:cNvPr id="19" name="Text 17"/>
          <p:cNvSpPr/>
          <p:nvPr/>
        </p:nvSpPr>
        <p:spPr>
          <a:xfrm>
            <a:off x="530352" y="2743200"/>
            <a:ext cx="8138160" cy="27432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SMCC demonstrates that grounding LLM outputs in retrieved evidence, not training-time generalization but is a practical, deployable approach to building AI tools workers actually trust and want to use in operational settings.</a:t>
            </a:r>
            <a:endParaRPr lang="en-US" sz="1050" dirty="0"/>
          </a:p>
        </p:txBody>
      </p:sp>
      <p:sp>
        <p:nvSpPr>
          <p:cNvPr id="20" name="Shape 18"/>
          <p:cNvSpPr/>
          <p:nvPr/>
        </p:nvSpPr>
        <p:spPr>
          <a:xfrm>
            <a:off x="320040" y="3182112"/>
            <a:ext cx="8503920" cy="274320"/>
          </a:xfrm>
          <a:prstGeom prst="rect">
            <a:avLst/>
          </a:prstGeom>
          <a:solidFill>
            <a:srgbClr val="DA291C"/>
          </a:solidFill>
          <a:ln w="12700">
            <a:solidFill>
              <a:srgbClr val="DA291C"/>
            </a:solidFill>
            <a:prstDash val="solid"/>
          </a:ln>
        </p:spPr>
        <p:txBody>
          <a:bodyPr/>
          <a:lstStyle/>
          <a:p>
            <a:endParaRPr lang="en-US"/>
          </a:p>
        </p:txBody>
      </p:sp>
      <p:sp>
        <p:nvSpPr>
          <p:cNvPr id="21" name="Text 19"/>
          <p:cNvSpPr/>
          <p:nvPr/>
        </p:nvSpPr>
        <p:spPr>
          <a:xfrm>
            <a:off x="457200" y="3200400"/>
            <a:ext cx="8229600" cy="228600"/>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  FUTURE IMPROVEMENTS</a:t>
            </a:r>
            <a:endParaRPr lang="en-US" sz="1050" dirty="0"/>
          </a:p>
        </p:txBody>
      </p:sp>
      <p:sp>
        <p:nvSpPr>
          <p:cNvPr id="22" name="Shape 20"/>
          <p:cNvSpPr/>
          <p:nvPr/>
        </p:nvSpPr>
        <p:spPr>
          <a:xfrm>
            <a:off x="320040" y="3493008"/>
            <a:ext cx="1938528" cy="1463040"/>
          </a:xfrm>
          <a:prstGeom prst="rect">
            <a:avLst/>
          </a:prstGeom>
          <a:solidFill>
            <a:srgbClr val="FFF3C4"/>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23" name="Text 21"/>
          <p:cNvSpPr/>
          <p:nvPr/>
        </p:nvSpPr>
        <p:spPr>
          <a:xfrm>
            <a:off x="320040" y="3566160"/>
            <a:ext cx="1938528"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320040" y="3931920"/>
            <a:ext cx="1938528" cy="256032"/>
          </a:xfrm>
          <a:prstGeom prst="rect">
            <a:avLst/>
          </a:prstGeom>
          <a:noFill/>
          <a:ln/>
        </p:spPr>
        <p:txBody>
          <a:bodyPr wrap="square" lIns="0" tIns="0" rIns="0" bIns="0"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UX</a:t>
            </a:r>
            <a:endParaRPr lang="en-US" sz="1100" dirty="0"/>
          </a:p>
        </p:txBody>
      </p:sp>
      <p:sp>
        <p:nvSpPr>
          <p:cNvPr id="25" name="Text 23"/>
          <p:cNvSpPr/>
          <p:nvPr/>
        </p:nvSpPr>
        <p:spPr>
          <a:xfrm>
            <a:off x="457200" y="4224528"/>
            <a:ext cx="1664208" cy="6583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Row hover tooltips</a:t>
            </a:r>
            <a:endParaRPr lang="en-US" sz="1000" dirty="0"/>
          </a:p>
          <a:p>
            <a:pPr marL="0" indent="0">
              <a:buNone/>
            </a:pPr>
            <a:r>
              <a:rPr lang="en-US" sz="1000" dirty="0">
                <a:solidFill>
                  <a:srgbClr val="1A1A1A"/>
                </a:solidFill>
                <a:latin typeface="Calibri" pitchFamily="34" charset="0"/>
                <a:ea typeface="Calibri" pitchFamily="34" charset="-122"/>
                <a:cs typeface="Calibri" pitchFamily="34" charset="-120"/>
              </a:rPr>
              <a:t>Editable briefing text</a:t>
            </a:r>
            <a:endParaRPr lang="en-US" sz="1000" dirty="0"/>
          </a:p>
          <a:p>
            <a:pPr marL="0" indent="0">
              <a:buNone/>
            </a:pPr>
            <a:r>
              <a:rPr lang="en-US" sz="1000" dirty="0">
                <a:solidFill>
                  <a:srgbClr val="1A1A1A"/>
                </a:solidFill>
                <a:latin typeface="Calibri" pitchFamily="34" charset="0"/>
                <a:ea typeface="Calibri" pitchFamily="34" charset="-122"/>
                <a:cs typeface="Calibri" pitchFamily="34" charset="-120"/>
              </a:rPr>
              <a:t>Progress bar with ETA</a:t>
            </a:r>
            <a:endParaRPr lang="en-US" sz="1000" dirty="0"/>
          </a:p>
        </p:txBody>
      </p:sp>
      <p:sp>
        <p:nvSpPr>
          <p:cNvPr id="26" name="Shape 24"/>
          <p:cNvSpPr/>
          <p:nvPr/>
        </p:nvSpPr>
        <p:spPr>
          <a:xfrm>
            <a:off x="2496312" y="3493008"/>
            <a:ext cx="1938528" cy="1463040"/>
          </a:xfrm>
          <a:prstGeom prst="rect">
            <a:avLst/>
          </a:prstGeom>
          <a:solidFill>
            <a:srgbClr val="FFF3C4"/>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27" name="Text 25"/>
          <p:cNvSpPr/>
          <p:nvPr/>
        </p:nvSpPr>
        <p:spPr>
          <a:xfrm>
            <a:off x="2496312" y="3566160"/>
            <a:ext cx="1938528"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8" name="Text 26"/>
          <p:cNvSpPr/>
          <p:nvPr/>
        </p:nvSpPr>
        <p:spPr>
          <a:xfrm>
            <a:off x="2496312" y="3931920"/>
            <a:ext cx="1938528" cy="256032"/>
          </a:xfrm>
          <a:prstGeom prst="rect">
            <a:avLst/>
          </a:prstGeom>
          <a:noFill/>
          <a:ln/>
        </p:spPr>
        <p:txBody>
          <a:bodyPr wrap="square" lIns="0" tIns="0" rIns="0" bIns="0"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Data</a:t>
            </a:r>
            <a:endParaRPr lang="en-US" sz="1100" dirty="0"/>
          </a:p>
        </p:txBody>
      </p:sp>
      <p:sp>
        <p:nvSpPr>
          <p:cNvPr id="29" name="Text 27"/>
          <p:cNvSpPr/>
          <p:nvPr/>
        </p:nvSpPr>
        <p:spPr>
          <a:xfrm>
            <a:off x="2633472" y="4224528"/>
            <a:ext cx="1664208" cy="6583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Real-time Google Maps API</a:t>
            </a:r>
            <a:endParaRPr lang="en-US" sz="1000" dirty="0"/>
          </a:p>
          <a:p>
            <a:pPr marL="0" indent="0">
              <a:buNone/>
            </a:pPr>
            <a:r>
              <a:rPr lang="en-US" sz="1000" dirty="0">
                <a:solidFill>
                  <a:srgbClr val="1A1A1A"/>
                </a:solidFill>
                <a:latin typeface="Calibri" pitchFamily="34" charset="0"/>
                <a:ea typeface="Calibri" pitchFamily="34" charset="-122"/>
                <a:cs typeface="Calibri" pitchFamily="34" charset="-120"/>
              </a:rPr>
              <a:t>Sentiment trend over time</a:t>
            </a:r>
            <a:endParaRPr lang="en-US" sz="1000" dirty="0"/>
          </a:p>
          <a:p>
            <a:pPr marL="0" indent="0">
              <a:buNone/>
            </a:pPr>
            <a:r>
              <a:rPr lang="en-US" sz="1000" dirty="0">
                <a:solidFill>
                  <a:srgbClr val="1A1A1A"/>
                </a:solidFill>
                <a:latin typeface="Calibri" pitchFamily="34" charset="0"/>
                <a:ea typeface="Calibri" pitchFamily="34" charset="-122"/>
                <a:cs typeface="Calibri" pitchFamily="34" charset="-120"/>
              </a:rPr>
              <a:t>Competitor benchmarking</a:t>
            </a:r>
            <a:endParaRPr lang="en-US" sz="1000" dirty="0"/>
          </a:p>
        </p:txBody>
      </p:sp>
      <p:sp>
        <p:nvSpPr>
          <p:cNvPr id="30" name="Shape 28"/>
          <p:cNvSpPr/>
          <p:nvPr/>
        </p:nvSpPr>
        <p:spPr>
          <a:xfrm>
            <a:off x="4672584" y="3493008"/>
            <a:ext cx="1938528" cy="1463040"/>
          </a:xfrm>
          <a:prstGeom prst="rect">
            <a:avLst/>
          </a:prstGeom>
          <a:solidFill>
            <a:srgbClr val="FFF3C4"/>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31" name="Text 29"/>
          <p:cNvSpPr/>
          <p:nvPr/>
        </p:nvSpPr>
        <p:spPr>
          <a:xfrm>
            <a:off x="4672584" y="3566160"/>
            <a:ext cx="1938528"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2" name="Text 30"/>
          <p:cNvSpPr/>
          <p:nvPr/>
        </p:nvSpPr>
        <p:spPr>
          <a:xfrm>
            <a:off x="4672584" y="3931920"/>
            <a:ext cx="1938528" cy="256032"/>
          </a:xfrm>
          <a:prstGeom prst="rect">
            <a:avLst/>
          </a:prstGeom>
          <a:noFill/>
          <a:ln/>
        </p:spPr>
        <p:txBody>
          <a:bodyPr wrap="square" lIns="0" tIns="0" rIns="0" bIns="0"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AI / Technical</a:t>
            </a:r>
            <a:endParaRPr lang="en-US" sz="1100" dirty="0"/>
          </a:p>
        </p:txBody>
      </p:sp>
      <p:sp>
        <p:nvSpPr>
          <p:cNvPr id="33" name="Text 31"/>
          <p:cNvSpPr/>
          <p:nvPr/>
        </p:nvSpPr>
        <p:spPr>
          <a:xfrm>
            <a:off x="4809744" y="4224528"/>
            <a:ext cx="1664208" cy="6583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Multi-branch comparison</a:t>
            </a:r>
            <a:endParaRPr lang="en-US" sz="1000" dirty="0"/>
          </a:p>
          <a:p>
            <a:pPr marL="0" indent="0">
              <a:buNone/>
            </a:pPr>
            <a:r>
              <a:rPr lang="en-US" sz="1000" dirty="0">
                <a:solidFill>
                  <a:srgbClr val="1A1A1A"/>
                </a:solidFill>
                <a:latin typeface="Calibri" pitchFamily="34" charset="0"/>
                <a:ea typeface="Calibri" pitchFamily="34" charset="-122"/>
                <a:cs typeface="Calibri" pitchFamily="34" charset="-120"/>
              </a:rPr>
              <a:t>GPT-4o fallback</a:t>
            </a:r>
            <a:endParaRPr lang="en-US" sz="1000" dirty="0"/>
          </a:p>
          <a:p>
            <a:pPr marL="0" indent="0">
              <a:buNone/>
            </a:pPr>
            <a:r>
              <a:rPr lang="en-US" sz="1000" dirty="0">
                <a:solidFill>
                  <a:srgbClr val="1A1A1A"/>
                </a:solidFill>
                <a:latin typeface="Calibri" pitchFamily="34" charset="0"/>
                <a:ea typeface="Calibri" pitchFamily="34" charset="-122"/>
                <a:cs typeface="Calibri" pitchFamily="34" charset="-120"/>
              </a:rPr>
              <a:t>Cost per-call dashboard</a:t>
            </a:r>
            <a:endParaRPr lang="en-US" sz="1000" dirty="0"/>
          </a:p>
        </p:txBody>
      </p:sp>
      <p:sp>
        <p:nvSpPr>
          <p:cNvPr id="34" name="Shape 32"/>
          <p:cNvSpPr/>
          <p:nvPr/>
        </p:nvSpPr>
        <p:spPr>
          <a:xfrm>
            <a:off x="6848856" y="3493008"/>
            <a:ext cx="1938528" cy="1463040"/>
          </a:xfrm>
          <a:prstGeom prst="rect">
            <a:avLst/>
          </a:prstGeom>
          <a:solidFill>
            <a:srgbClr val="FFF3C4"/>
          </a:solidFill>
          <a:ln w="1905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35" name="Text 33"/>
          <p:cNvSpPr/>
          <p:nvPr/>
        </p:nvSpPr>
        <p:spPr>
          <a:xfrm>
            <a:off x="6848856" y="3566160"/>
            <a:ext cx="1938528"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6" name="Text 34"/>
          <p:cNvSpPr/>
          <p:nvPr/>
        </p:nvSpPr>
        <p:spPr>
          <a:xfrm>
            <a:off x="6848856" y="3931920"/>
            <a:ext cx="1938528" cy="256032"/>
          </a:xfrm>
          <a:prstGeom prst="rect">
            <a:avLst/>
          </a:prstGeom>
          <a:noFill/>
          <a:ln/>
        </p:spPr>
        <p:txBody>
          <a:bodyPr wrap="square" lIns="0" tIns="0" rIns="0" bIns="0"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Deployment</a:t>
            </a:r>
            <a:endParaRPr lang="en-US" sz="1100" dirty="0"/>
          </a:p>
        </p:txBody>
      </p:sp>
      <p:sp>
        <p:nvSpPr>
          <p:cNvPr id="37" name="Text 35"/>
          <p:cNvSpPr/>
          <p:nvPr/>
        </p:nvSpPr>
        <p:spPr>
          <a:xfrm>
            <a:off x="6986016" y="4224528"/>
            <a:ext cx="1664208" cy="6583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Auth layer for managers</a:t>
            </a:r>
            <a:endParaRPr lang="en-US" sz="1000" dirty="0"/>
          </a:p>
          <a:p>
            <a:pPr marL="0" indent="0">
              <a:buNone/>
            </a:pPr>
            <a:r>
              <a:rPr lang="en-US" sz="1000" dirty="0">
                <a:solidFill>
                  <a:srgbClr val="1A1A1A"/>
                </a:solidFill>
                <a:latin typeface="Calibri" pitchFamily="34" charset="0"/>
                <a:ea typeface="Calibri" pitchFamily="34" charset="-122"/>
                <a:cs typeface="Calibri" pitchFamily="34" charset="-120"/>
              </a:rPr>
              <a:t>Role-based access control</a:t>
            </a:r>
            <a:endParaRPr lang="en-US" sz="1000" dirty="0"/>
          </a:p>
          <a:p>
            <a:pPr marL="0" indent="0">
              <a:buNone/>
            </a:pPr>
            <a:r>
              <a:rPr lang="en-US" sz="1000" dirty="0">
                <a:solidFill>
                  <a:srgbClr val="1A1A1A"/>
                </a:solidFill>
                <a:latin typeface="Calibri" pitchFamily="34" charset="0"/>
                <a:ea typeface="Calibri" pitchFamily="34" charset="-122"/>
                <a:cs typeface="Calibri" pitchFamily="34" charset="-120"/>
              </a:rPr>
              <a:t>Mobile-responsive layout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C72C"/>
          </a:solidFill>
          <a:ln w="12700">
            <a:solidFill>
              <a:srgbClr val="FFC72C"/>
            </a:solidFill>
            <a:prstDash val="solid"/>
          </a:ln>
        </p:spPr>
        <p:txBody>
          <a:bodyPr/>
          <a:lstStyle/>
          <a:p>
            <a:endParaRPr lang="en-US"/>
          </a:p>
        </p:txBody>
      </p:sp>
      <p:sp>
        <p:nvSpPr>
          <p:cNvPr id="3" name="Shape 1"/>
          <p:cNvSpPr/>
          <p:nvPr/>
        </p:nvSpPr>
        <p:spPr>
          <a:xfrm>
            <a:off x="0" y="896112"/>
            <a:ext cx="9144000" cy="73152"/>
          </a:xfrm>
          <a:prstGeom prst="rect">
            <a:avLst/>
          </a:prstGeom>
          <a:solidFill>
            <a:srgbClr val="DA291C"/>
          </a:solidFill>
          <a:ln w="12700">
            <a:solidFill>
              <a:srgbClr val="DA291C"/>
            </a:solidFill>
            <a:prstDash val="solid"/>
          </a:ln>
        </p:spPr>
        <p:txBody>
          <a:bodyPr/>
          <a:lstStyle/>
          <a:p>
            <a:endParaRPr lang="en-US"/>
          </a:p>
        </p:txBody>
      </p:sp>
      <p:sp>
        <p:nvSpPr>
          <p:cNvPr id="4" name="Text 2"/>
          <p:cNvSpPr/>
          <p:nvPr/>
        </p:nvSpPr>
        <p:spPr>
          <a:xfrm>
            <a:off x="411480" y="73152"/>
            <a:ext cx="8046720" cy="658368"/>
          </a:xfrm>
          <a:prstGeom prst="rect">
            <a:avLst/>
          </a:prstGeom>
          <a:noFill/>
          <a:ln/>
        </p:spPr>
        <p:txBody>
          <a:bodyPr wrap="square" lIns="0" tIns="0" rIns="0" bIns="0" rtlCol="0" anchor="ctr"/>
          <a:lstStyle/>
          <a:p>
            <a:pPr marL="0" indent="0">
              <a:buNone/>
            </a:pPr>
            <a:r>
              <a:rPr lang="en-US" sz="3000" b="1" dirty="0">
                <a:solidFill>
                  <a:srgbClr val="1A1A1A"/>
                </a:solidFill>
                <a:latin typeface="Arial Black" pitchFamily="34" charset="0"/>
                <a:ea typeface="Arial Black" pitchFamily="34" charset="-122"/>
                <a:cs typeface="Arial Black" pitchFamily="34" charset="-120"/>
              </a:rPr>
              <a:t>Acknowledgments &amp; Contributions</a:t>
            </a:r>
            <a:endParaRPr lang="en-US" sz="3000" dirty="0"/>
          </a:p>
        </p:txBody>
      </p:sp>
      <p:sp>
        <p:nvSpPr>
          <p:cNvPr id="5" name="Text 3"/>
          <p:cNvSpPr/>
          <p:nvPr/>
        </p:nvSpPr>
        <p:spPr>
          <a:xfrm>
            <a:off x="5029200" y="658368"/>
            <a:ext cx="3886200" cy="256032"/>
          </a:xfrm>
          <a:prstGeom prst="rect">
            <a:avLst/>
          </a:prstGeom>
          <a:noFill/>
          <a:ln/>
        </p:spPr>
        <p:txBody>
          <a:bodyPr wrap="square" lIns="0" tIns="0" rIns="0" bIns="0" rtlCol="0" anchor="ctr"/>
          <a:lstStyle/>
          <a:p>
            <a:pPr marL="0" indent="0" algn="r">
              <a:buNone/>
            </a:pPr>
            <a:r>
              <a:rPr lang="en-US" sz="850" b="1" kern="0" spc="200" dirty="0">
                <a:solidFill>
                  <a:srgbClr val="DA291C"/>
                </a:solidFill>
                <a:latin typeface="Calibri" pitchFamily="34" charset="0"/>
                <a:ea typeface="Calibri" pitchFamily="34" charset="-122"/>
                <a:cs typeface="Calibri" pitchFamily="34" charset="-120"/>
              </a:rPr>
              <a:t>FOR GRADING ONLY — NOT PRESENTED</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078992"/>
          <a:ext cx="8503920" cy="1737360"/>
        </p:xfrm>
        <a:graphic>
          <a:graphicData uri="http://schemas.openxmlformats.org/drawingml/2006/table">
            <a:tbl>
              <a:tblPr/>
              <a:tblGrid>
                <a:gridCol w="164592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347472">
                <a:tc>
                  <a:txBody>
                    <a:bodyPr/>
                    <a:lstStyle/>
                    <a:p>
                      <a:pPr marL="0" indent="0">
                        <a:buNone/>
                      </a:pPr>
                      <a:r>
                        <a:rPr lang="en-US" sz="1100" b="1" dirty="0">
                          <a:solidFill>
                            <a:srgbClr val="FFFFFF"/>
                          </a:solidFill>
                        </a:rPr>
                        <a:t>Member</a:t>
                      </a:r>
                      <a:endParaRPr lang="en-US" sz="11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DA291C"/>
                    </a:solidFill>
                  </a:tcPr>
                </a:tc>
                <a:tc>
                  <a:txBody>
                    <a:bodyPr/>
                    <a:lstStyle/>
                    <a:p>
                      <a:pPr marL="0" indent="0">
                        <a:buNone/>
                      </a:pPr>
                      <a:r>
                        <a:rPr lang="en-US" sz="1100" b="1" dirty="0">
                          <a:solidFill>
                            <a:srgbClr val="FFFFFF"/>
                          </a:solidFill>
                        </a:rPr>
                        <a:t>Primary Responsibilities</a:t>
                      </a:r>
                      <a:endParaRPr lang="en-US" sz="11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DA291C"/>
                    </a:solidFill>
                  </a:tcPr>
                </a:tc>
                <a:extLst>
                  <a:ext uri="{0D108BD9-81ED-4DB2-BD59-A6C34878D82A}">
                    <a16:rowId xmlns:a16="http://schemas.microsoft.com/office/drawing/2014/main" val="10000"/>
                  </a:ext>
                </a:extLst>
              </a:tr>
              <a:tr h="347472">
                <a:tc>
                  <a:txBody>
                    <a:bodyPr/>
                    <a:lstStyle/>
                    <a:p>
                      <a:pPr marL="0" indent="0">
                        <a:buNone/>
                      </a:pPr>
                      <a:r>
                        <a:rPr lang="en-US" sz="1050" b="1" dirty="0">
                          <a:solidFill>
                            <a:srgbClr val="DA291C"/>
                          </a:solidFill>
                        </a:rPr>
                        <a:t>Pranav C</a:t>
                      </a:r>
                      <a:endParaRPr lang="en-US" sz="105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Backend architecture, Anthropic Claude API integration, LLM prompting, SQLite logging, data_loader.py</a:t>
                      </a:r>
                      <a:endParaRPr lang="en-US" sz="105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050" b="1" dirty="0">
                          <a:solidFill>
                            <a:srgbClr val="DA291C"/>
                          </a:solidFill>
                        </a:rPr>
                        <a:t>Jeet T</a:t>
                      </a:r>
                      <a:endParaRPr lang="en-US" sz="105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3C4"/>
                    </a:solidFill>
                  </a:tcPr>
                </a:tc>
                <a:tc>
                  <a:txBody>
                    <a:bodyPr/>
                    <a:lstStyle/>
                    <a:p>
                      <a:pPr marL="0" indent="0">
                        <a:buNone/>
                      </a:pPr>
                      <a:r>
                        <a:rPr lang="en-US" sz="1050" dirty="0">
                          <a:solidFill>
                            <a:srgbClr val="1A1A1A"/>
                          </a:solidFill>
                        </a:rPr>
                        <a:t>Streamlit UI layout, CSS theming (McDonald's brand), insight card rendering, download feature</a:t>
                      </a:r>
                      <a:endParaRPr lang="en-US" sz="105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3C4"/>
                    </a:solidFill>
                  </a:tcPr>
                </a:tc>
                <a:extLst>
                  <a:ext uri="{0D108BD9-81ED-4DB2-BD59-A6C34878D82A}">
                    <a16:rowId xmlns:a16="http://schemas.microsoft.com/office/drawing/2014/main" val="10002"/>
                  </a:ext>
                </a:extLst>
              </a:tr>
              <a:tr h="347472">
                <a:tc>
                  <a:txBody>
                    <a:bodyPr/>
                    <a:lstStyle/>
                    <a:p>
                      <a:pPr marL="0" indent="0">
                        <a:buNone/>
                      </a:pPr>
                      <a:r>
                        <a:rPr lang="en-US" sz="1050" b="1" dirty="0">
                          <a:solidFill>
                            <a:srgbClr val="DA291C"/>
                          </a:solidFill>
                        </a:rPr>
                        <a:t>Ashish G</a:t>
                      </a:r>
                      <a:endParaRPr lang="en-US" sz="105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Data engineering, Matplotlib/Seaborn charts, branch health table, trend calculation, user study coordination</a:t>
                      </a:r>
                      <a:endParaRPr lang="en-US" sz="105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050" b="1" dirty="0">
                          <a:solidFill>
                            <a:srgbClr val="DA291C"/>
                          </a:solidFill>
                        </a:rPr>
                        <a:t>All Members</a:t>
                      </a:r>
                      <a:endParaRPr lang="en-US" sz="105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3C4"/>
                    </a:solidFill>
                  </a:tcPr>
                </a:tc>
                <a:tc>
                  <a:txBody>
                    <a:bodyPr/>
                    <a:lstStyle/>
                    <a:p>
                      <a:pPr marL="0" indent="0">
                        <a:buNone/>
                      </a:pPr>
                      <a:r>
                        <a:rPr lang="en-US" sz="1050" dirty="0">
                          <a:solidFill>
                            <a:srgbClr val="1A1A1A"/>
                          </a:solidFill>
                        </a:rPr>
                        <a:t>User study design, SUS/UMUX-Lite surveys, qualitative analysis, CP4 report &amp; evaluation</a:t>
                      </a:r>
                      <a:endParaRPr lang="en-US" sz="105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3C4"/>
                    </a:solidFill>
                  </a:tcPr>
                </a:tc>
                <a:extLst>
                  <a:ext uri="{0D108BD9-81ED-4DB2-BD59-A6C34878D82A}">
                    <a16:rowId xmlns:a16="http://schemas.microsoft.com/office/drawing/2014/main" val="10004"/>
                  </a:ext>
                </a:extLst>
              </a:tr>
            </a:tbl>
          </a:graphicData>
        </a:graphic>
      </p:graphicFrame>
      <p:sp>
        <p:nvSpPr>
          <p:cNvPr id="7" name="Shape 4"/>
          <p:cNvSpPr/>
          <p:nvPr/>
        </p:nvSpPr>
        <p:spPr>
          <a:xfrm>
            <a:off x="320040" y="2926080"/>
            <a:ext cx="8503920" cy="292608"/>
          </a:xfrm>
          <a:prstGeom prst="rect">
            <a:avLst/>
          </a:prstGeom>
          <a:solidFill>
            <a:srgbClr val="FFC72C"/>
          </a:solidFill>
          <a:ln w="12700">
            <a:solidFill>
              <a:srgbClr val="FFC72C"/>
            </a:solidFill>
            <a:prstDash val="solid"/>
          </a:ln>
        </p:spPr>
        <p:txBody>
          <a:bodyPr/>
          <a:lstStyle/>
          <a:p>
            <a:endParaRPr lang="en-US"/>
          </a:p>
        </p:txBody>
      </p:sp>
      <p:sp>
        <p:nvSpPr>
          <p:cNvPr id="8" name="Text 5"/>
          <p:cNvSpPr/>
          <p:nvPr/>
        </p:nvSpPr>
        <p:spPr>
          <a:xfrm>
            <a:off x="457200" y="2953512"/>
            <a:ext cx="8229600" cy="228600"/>
          </a:xfrm>
          <a:prstGeom prst="rect">
            <a:avLst/>
          </a:prstGeom>
          <a:noFill/>
          <a:ln/>
        </p:spPr>
        <p:txBody>
          <a:bodyPr wrap="square" lIns="0" tIns="0" rIns="0" bIns="0" rtlCol="0" anchor="ctr"/>
          <a:lstStyle/>
          <a:p>
            <a:pPr marL="0" indent="0">
              <a:buNone/>
            </a:pPr>
            <a:r>
              <a:rPr lang="en-US" sz="1050" b="1" kern="0" spc="200" dirty="0">
                <a:solidFill>
                  <a:srgbClr val="1A1A1A"/>
                </a:solidFill>
                <a:latin typeface="Calibri" pitchFamily="34" charset="0"/>
                <a:ea typeface="Calibri" pitchFamily="34" charset="-122"/>
                <a:cs typeface="Calibri" pitchFamily="34" charset="-120"/>
              </a:rPr>
              <a:t>🤖  AI TOOLS &amp; RESOURCES DISCLOSURE</a:t>
            </a:r>
            <a:endParaRPr lang="en-US" sz="105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320040" y="3255264"/>
          <a:ext cx="8503920" cy="1865376"/>
        </p:xfrm>
        <a:graphic>
          <a:graphicData uri="http://schemas.openxmlformats.org/drawingml/2006/table">
            <a:tbl>
              <a:tblPr/>
              <a:tblGrid>
                <a:gridCol w="320040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310896">
                <a:tc>
                  <a:txBody>
                    <a:bodyPr/>
                    <a:lstStyle/>
                    <a:p>
                      <a:pPr marL="0" indent="0">
                        <a:buNone/>
                      </a:pPr>
                      <a:r>
                        <a:rPr lang="en-US" sz="1050" b="1" dirty="0">
                          <a:solidFill>
                            <a:srgbClr val="FFFFFF"/>
                          </a:solidFill>
                        </a:rPr>
                        <a:t>Tool</a:t>
                      </a:r>
                      <a:endParaRPr lang="en-US" sz="105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DA291C"/>
                    </a:solidFill>
                  </a:tcPr>
                </a:tc>
                <a:tc>
                  <a:txBody>
                    <a:bodyPr/>
                    <a:lstStyle/>
                    <a:p>
                      <a:pPr marL="0" indent="0">
                        <a:buNone/>
                      </a:pPr>
                      <a:r>
                        <a:rPr lang="en-US" sz="1050" b="1" dirty="0">
                          <a:solidFill>
                            <a:srgbClr val="FFFFFF"/>
                          </a:solidFill>
                        </a:rPr>
                        <a:t>How Used</a:t>
                      </a:r>
                      <a:endParaRPr lang="en-US" sz="105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DA291C"/>
                    </a:solidFill>
                  </a:tcPr>
                </a:tc>
                <a:extLst>
                  <a:ext uri="{0D108BD9-81ED-4DB2-BD59-A6C34878D82A}">
                    <a16:rowId xmlns:a16="http://schemas.microsoft.com/office/drawing/2014/main" val="10000"/>
                  </a:ext>
                </a:extLst>
              </a:tr>
              <a:tr h="310896">
                <a:tc>
                  <a:txBody>
                    <a:bodyPr/>
                    <a:lstStyle/>
                    <a:p>
                      <a:pPr marL="0" indent="0">
                        <a:buNone/>
                      </a:pPr>
                      <a:r>
                        <a:rPr lang="en-US" sz="1000" b="1" dirty="0">
                          <a:solidFill>
                            <a:srgbClr val="1A1A1A"/>
                          </a:solidFill>
                        </a:rPr>
                        <a:t>Anthropic Claude Haiku (claude-haiku-4-5-20251001)</a:t>
                      </a:r>
                      <a:endParaRPr lang="en-US" sz="10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3C4"/>
                    </a:solidFill>
                  </a:tcPr>
                </a:tc>
                <a:tc>
                  <a:txBody>
                    <a:bodyPr/>
                    <a:lstStyle/>
                    <a:p>
                      <a:pPr marL="0" indent="0">
                        <a:buNone/>
                      </a:pPr>
                      <a:r>
                        <a:rPr lang="en-US" sz="1000" dirty="0">
                          <a:solidFill>
                            <a:srgbClr val="1A1A1A"/>
                          </a:solidFill>
                        </a:rPr>
                        <a:t>Production AI model for insight generation within the SMCC app</a:t>
                      </a:r>
                      <a:endParaRPr lang="en-US" sz="10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3C4"/>
                    </a:solidFill>
                  </a:tcPr>
                </a:tc>
                <a:extLst>
                  <a:ext uri="{0D108BD9-81ED-4DB2-BD59-A6C34878D82A}">
                    <a16:rowId xmlns:a16="http://schemas.microsoft.com/office/drawing/2014/main" val="10001"/>
                  </a:ext>
                </a:extLst>
              </a:tr>
              <a:tr h="310896">
                <a:tc>
                  <a:txBody>
                    <a:bodyPr/>
                    <a:lstStyle/>
                    <a:p>
                      <a:pPr marL="0" indent="0">
                        <a:buNone/>
                      </a:pPr>
                      <a:r>
                        <a:rPr lang="en-US" sz="1000" b="1" dirty="0">
                          <a:solidFill>
                            <a:srgbClr val="1A1A1A"/>
                          </a:solidFill>
                        </a:rPr>
                        <a:t>Anthropic Claude (claude.ai / API)</a:t>
                      </a:r>
                      <a:endParaRPr lang="en-US" sz="10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FFF"/>
                    </a:solidFill>
                  </a:tcPr>
                </a:tc>
                <a:tc>
                  <a:txBody>
                    <a:bodyPr/>
                    <a:lstStyle/>
                    <a:p>
                      <a:pPr marL="0" indent="0">
                        <a:buNone/>
                      </a:pPr>
                      <a:r>
                        <a:rPr lang="en-US" sz="1000" dirty="0">
                          <a:solidFill>
                            <a:srgbClr val="1A1A1A"/>
                          </a:solidFill>
                        </a:rPr>
                        <a:t>Prompt engineering iteration, code debugging assistance, project report drafting</a:t>
                      </a:r>
                      <a:endParaRPr lang="en-US" sz="10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00" b="1" dirty="0">
                          <a:solidFill>
                            <a:srgbClr val="1A1A1A"/>
                          </a:solidFill>
                        </a:rPr>
                        <a:t>Streamlit</a:t>
                      </a:r>
                      <a:endParaRPr lang="en-US" sz="10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3C4"/>
                    </a:solidFill>
                  </a:tcPr>
                </a:tc>
                <a:tc>
                  <a:txBody>
                    <a:bodyPr/>
                    <a:lstStyle/>
                    <a:p>
                      <a:pPr marL="0" indent="0">
                        <a:buNone/>
                      </a:pPr>
                      <a:r>
                        <a:rPr lang="en-US" sz="1000" dirty="0">
                          <a:solidFill>
                            <a:srgbClr val="1A1A1A"/>
                          </a:solidFill>
                        </a:rPr>
                        <a:t>App framework — no AI involvement; standard Python library</a:t>
                      </a:r>
                      <a:endParaRPr lang="en-US" sz="10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3C4"/>
                    </a:solidFill>
                  </a:tcPr>
                </a:tc>
                <a:extLst>
                  <a:ext uri="{0D108BD9-81ED-4DB2-BD59-A6C34878D82A}">
                    <a16:rowId xmlns:a16="http://schemas.microsoft.com/office/drawing/2014/main" val="10003"/>
                  </a:ext>
                </a:extLst>
              </a:tr>
              <a:tr h="310896">
                <a:tc>
                  <a:txBody>
                    <a:bodyPr/>
                    <a:lstStyle/>
                    <a:p>
                      <a:pPr marL="0" indent="0">
                        <a:buNone/>
                      </a:pPr>
                      <a:r>
                        <a:rPr lang="en-US" sz="1000" b="1" dirty="0">
                          <a:solidFill>
                            <a:srgbClr val="1A1A1A"/>
                          </a:solidFill>
                        </a:rPr>
                        <a:t>Kaggle / kagglehub</a:t>
                      </a:r>
                      <a:endParaRPr lang="en-US" sz="10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FFF"/>
                    </a:solidFill>
                  </a:tcPr>
                </a:tc>
                <a:tc>
                  <a:txBody>
                    <a:bodyPr/>
                    <a:lstStyle/>
                    <a:p>
                      <a:pPr marL="0" indent="0">
                        <a:buNone/>
                      </a:pPr>
                      <a:r>
                        <a:rPr lang="en-US" sz="1000" dirty="0">
                          <a:solidFill>
                            <a:srgbClr val="1A1A1A"/>
                          </a:solidFill>
                        </a:rPr>
                        <a:t>Dataset source and download utility; no AI-generated data</a:t>
                      </a:r>
                      <a:endParaRPr lang="en-US" sz="10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00" b="1" dirty="0">
                          <a:solidFill>
                            <a:srgbClr val="1A1A1A"/>
                          </a:solidFill>
                        </a:rPr>
                        <a:t>GitHub Copilot</a:t>
                      </a:r>
                      <a:endParaRPr lang="en-US" sz="10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3C4"/>
                    </a:solidFill>
                  </a:tcPr>
                </a:tc>
                <a:tc>
                  <a:txBody>
                    <a:bodyPr/>
                    <a:lstStyle/>
                    <a:p>
                      <a:pPr marL="0" indent="0">
                        <a:buNone/>
                      </a:pPr>
                      <a:r>
                        <a:rPr lang="en-US" sz="1000" dirty="0">
                          <a:solidFill>
                            <a:srgbClr val="1A1A1A"/>
                          </a:solidFill>
                        </a:rPr>
                        <a:t>IDE code suggestions during development (accepted suggestions reviewed and tested by team)</a:t>
                      </a:r>
                      <a:endParaRPr lang="en-US" sz="1000" dirty="0"/>
                    </a:p>
                  </a:txBody>
                  <a:tcPr>
                    <a:lnL w="8890" cap="flat" cmpd="sng" algn="ctr">
                      <a:solidFill>
                        <a:srgbClr val="FFC72C"/>
                      </a:solidFill>
                      <a:prstDash val="solid"/>
                      <a:round/>
                      <a:headEnd type="none" w="med" len="med"/>
                      <a:tailEnd type="none" w="med" len="med"/>
                    </a:lnL>
                    <a:lnR w="8890" cap="flat" cmpd="sng" algn="ctr">
                      <a:solidFill>
                        <a:srgbClr val="FFC72C"/>
                      </a:solidFill>
                      <a:prstDash val="solid"/>
                      <a:round/>
                      <a:headEnd type="none" w="med" len="med"/>
                      <a:tailEnd type="none" w="med" len="med"/>
                    </a:lnR>
                    <a:lnT w="8890" cap="flat" cmpd="sng" algn="ctr">
                      <a:solidFill>
                        <a:srgbClr val="FFC72C"/>
                      </a:solidFill>
                      <a:prstDash val="solid"/>
                      <a:round/>
                      <a:headEnd type="none" w="med" len="med"/>
                      <a:tailEnd type="none" w="med" len="med"/>
                    </a:lnT>
                    <a:lnB w="8890" cap="flat" cmpd="sng" algn="ctr">
                      <a:solidFill>
                        <a:srgbClr val="FFC72C"/>
                      </a:solidFill>
                      <a:prstDash val="solid"/>
                      <a:round/>
                      <a:headEnd type="none" w="med" len="med"/>
                      <a:tailEnd type="none" w="med" len="med"/>
                    </a:lnB>
                    <a:solidFill>
                      <a:srgbClr val="FFF3C4"/>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C72C"/>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DA291C"/>
          </a:solidFill>
          <a:ln w="12700">
            <a:solidFill>
              <a:srgbClr val="DA291C"/>
            </a:solidFill>
            <a:prstDash val="solid"/>
          </a:ln>
        </p:spPr>
        <p:txBody>
          <a:bodyPr/>
          <a:lstStyle/>
          <a:p>
            <a:endParaRPr lang="en-US"/>
          </a:p>
        </p:txBody>
      </p:sp>
      <p:sp>
        <p:nvSpPr>
          <p:cNvPr id="3" name="Shape 1"/>
          <p:cNvSpPr/>
          <p:nvPr/>
        </p:nvSpPr>
        <p:spPr>
          <a:xfrm>
            <a:off x="0" y="3429000"/>
            <a:ext cx="9144000" cy="91440"/>
          </a:xfrm>
          <a:prstGeom prst="rect">
            <a:avLst/>
          </a:prstGeom>
          <a:solidFill>
            <a:srgbClr val="FFFFFF"/>
          </a:solidFill>
          <a:ln w="12700">
            <a:solidFill>
              <a:srgbClr val="FFFFFF"/>
            </a:solidFill>
            <a:prstDash val="solid"/>
          </a:ln>
        </p:spPr>
        <p:txBody>
          <a:bodyPr/>
          <a:lstStyle/>
          <a:p>
            <a:endParaRPr lang="en-US"/>
          </a:p>
        </p:txBody>
      </p:sp>
      <p:pic>
        <p:nvPicPr>
          <p:cNvPr id="4" name="Image 0" descr="preencoded.png"/>
          <p:cNvPicPr>
            <a:picLocks noChangeAspect="1"/>
          </p:cNvPicPr>
          <p:nvPr/>
        </p:nvPicPr>
        <p:blipFill>
          <a:blip r:embed="rId3">
            <a:alphaModFix amt="88000"/>
          </a:blip>
          <a:stretch>
            <a:fillRect/>
          </a:stretch>
        </p:blipFill>
        <p:spPr>
          <a:xfrm>
            <a:off x="137160" y="91440"/>
            <a:ext cx="2011680" cy="1554480"/>
          </a:xfrm>
          <a:prstGeom prst="rect">
            <a:avLst/>
          </a:prstGeom>
        </p:spPr>
      </p:pic>
      <p:pic>
        <p:nvPicPr>
          <p:cNvPr id="6" name="Image 2" descr="preencoded.png"/>
          <p:cNvPicPr>
            <a:picLocks noChangeAspect="1"/>
          </p:cNvPicPr>
          <p:nvPr/>
        </p:nvPicPr>
        <p:blipFill>
          <a:blip r:embed="rId4"/>
          <a:stretch>
            <a:fillRect/>
          </a:stretch>
        </p:blipFill>
        <p:spPr>
          <a:xfrm>
            <a:off x="73152" y="4343400"/>
            <a:ext cx="749808" cy="749808"/>
          </a:xfrm>
          <a:prstGeom prst="rect">
            <a:avLst/>
          </a:prstGeom>
        </p:spPr>
      </p:pic>
      <p:pic>
        <p:nvPicPr>
          <p:cNvPr id="7" name="Image 3" descr="preencoded.png"/>
          <p:cNvPicPr>
            <a:picLocks noChangeAspect="1"/>
          </p:cNvPicPr>
          <p:nvPr/>
        </p:nvPicPr>
        <p:blipFill>
          <a:blip r:embed="rId4"/>
          <a:stretch>
            <a:fillRect/>
          </a:stretch>
        </p:blipFill>
        <p:spPr>
          <a:xfrm>
            <a:off x="8357616" y="4389120"/>
            <a:ext cx="658368" cy="658368"/>
          </a:xfrm>
          <a:prstGeom prst="rect">
            <a:avLst/>
          </a:prstGeom>
        </p:spPr>
      </p:pic>
      <p:pic>
        <p:nvPicPr>
          <p:cNvPr id="8" name="Image 4" descr="preencoded.png"/>
          <p:cNvPicPr>
            <a:picLocks noChangeAspect="1"/>
          </p:cNvPicPr>
          <p:nvPr/>
        </p:nvPicPr>
        <p:blipFill>
          <a:blip r:embed="rId5"/>
          <a:stretch>
            <a:fillRect/>
          </a:stretch>
        </p:blipFill>
        <p:spPr>
          <a:xfrm>
            <a:off x="269670" y="1280160"/>
            <a:ext cx="1463040" cy="1463040"/>
          </a:xfrm>
          <a:prstGeom prst="rect">
            <a:avLst/>
          </a:prstGeom>
        </p:spPr>
      </p:pic>
      <p:pic>
        <p:nvPicPr>
          <p:cNvPr id="9" name="Image 5" descr="preencoded.png"/>
          <p:cNvPicPr>
            <a:picLocks noChangeAspect="1"/>
          </p:cNvPicPr>
          <p:nvPr/>
        </p:nvPicPr>
        <p:blipFill>
          <a:blip r:embed="rId5"/>
          <a:stretch>
            <a:fillRect/>
          </a:stretch>
        </p:blipFill>
        <p:spPr>
          <a:xfrm>
            <a:off x="7488780" y="1280160"/>
            <a:ext cx="1463040" cy="1463040"/>
          </a:xfrm>
          <a:prstGeom prst="rect">
            <a:avLst/>
          </a:prstGeom>
        </p:spPr>
      </p:pic>
      <p:sp>
        <p:nvSpPr>
          <p:cNvPr id="10" name="Text 2"/>
          <p:cNvSpPr/>
          <p:nvPr/>
        </p:nvSpPr>
        <p:spPr>
          <a:xfrm>
            <a:off x="1371600" y="809244"/>
            <a:ext cx="6400800" cy="1280160"/>
          </a:xfrm>
          <a:prstGeom prst="rect">
            <a:avLst/>
          </a:prstGeom>
          <a:noFill/>
          <a:ln/>
        </p:spPr>
        <p:txBody>
          <a:bodyPr wrap="square" lIns="0" tIns="0" rIns="0" bIns="0" rtlCol="0" anchor="ctr"/>
          <a:lstStyle/>
          <a:p>
            <a:pPr marL="0" indent="0" algn="ctr">
              <a:buNone/>
            </a:pPr>
            <a:r>
              <a:rPr lang="en-US" sz="7200" b="1" dirty="0">
                <a:solidFill>
                  <a:srgbClr val="DA291C"/>
                </a:solidFill>
                <a:latin typeface="Arial Black" pitchFamily="34" charset="0"/>
                <a:ea typeface="Arial Black" pitchFamily="34" charset="-122"/>
                <a:cs typeface="Arial Black" pitchFamily="34" charset="-120"/>
              </a:rPr>
              <a:t>Thank You!</a:t>
            </a:r>
            <a:endParaRPr lang="en-US" sz="7200" dirty="0"/>
          </a:p>
        </p:txBody>
      </p:sp>
      <p:sp>
        <p:nvSpPr>
          <p:cNvPr id="11" name="Text 3"/>
          <p:cNvSpPr/>
          <p:nvPr/>
        </p:nvSpPr>
        <p:spPr>
          <a:xfrm>
            <a:off x="2286000" y="2299716"/>
            <a:ext cx="4572000" cy="475488"/>
          </a:xfrm>
          <a:prstGeom prst="rect">
            <a:avLst/>
          </a:prstGeom>
          <a:noFill/>
          <a:ln/>
        </p:spPr>
        <p:txBody>
          <a:bodyPr wrap="square" lIns="0" tIns="0" rIns="0" bIns="0" rtlCol="0" anchor="ctr"/>
          <a:lstStyle/>
          <a:p>
            <a:pPr marL="0" indent="0" algn="ctr">
              <a:buNone/>
            </a:pPr>
            <a:r>
              <a:rPr lang="en-US" sz="2200" b="1" i="1" dirty="0">
                <a:solidFill>
                  <a:srgbClr val="1A1A1A"/>
                </a:solidFill>
                <a:latin typeface="Calibri" pitchFamily="34" charset="0"/>
                <a:ea typeface="Calibri" pitchFamily="34" charset="-122"/>
                <a:cs typeface="Calibri" pitchFamily="34" charset="-120"/>
              </a:rPr>
              <a:t>I'm lovin' it  🍟</a:t>
            </a:r>
            <a:endParaRPr lang="en-US" sz="2200" dirty="0"/>
          </a:p>
        </p:txBody>
      </p:sp>
      <p:sp>
        <p:nvSpPr>
          <p:cNvPr id="12" name="Shape 4"/>
          <p:cNvSpPr/>
          <p:nvPr/>
        </p:nvSpPr>
        <p:spPr>
          <a:xfrm>
            <a:off x="822960" y="3621024"/>
            <a:ext cx="3474720" cy="548640"/>
          </a:xfrm>
          <a:prstGeom prst="rect">
            <a:avLst/>
          </a:prstGeom>
          <a:solidFill>
            <a:srgbClr val="FFC72C"/>
          </a:solidFill>
          <a:ln w="1270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3" name="Text 5"/>
          <p:cNvSpPr/>
          <p:nvPr/>
        </p:nvSpPr>
        <p:spPr>
          <a:xfrm>
            <a:off x="822960" y="3639312"/>
            <a:ext cx="3474720" cy="512064"/>
          </a:xfrm>
          <a:prstGeom prst="rect">
            <a:avLst/>
          </a:prstGeom>
          <a:noFill/>
          <a:ln/>
        </p:spPr>
        <p:txBody>
          <a:bodyPr wrap="square" lIns="0" tIns="0" rIns="0" bIns="0"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  mcd-command-centre.streamlit.app</a:t>
            </a:r>
            <a:endParaRPr lang="en-US" sz="1100" dirty="0"/>
          </a:p>
        </p:txBody>
      </p:sp>
      <p:sp>
        <p:nvSpPr>
          <p:cNvPr id="14" name="Shape 6"/>
          <p:cNvSpPr/>
          <p:nvPr/>
        </p:nvSpPr>
        <p:spPr>
          <a:xfrm>
            <a:off x="4846320" y="3621024"/>
            <a:ext cx="3474720" cy="548640"/>
          </a:xfrm>
          <a:prstGeom prst="rect">
            <a:avLst/>
          </a:prstGeom>
          <a:solidFill>
            <a:srgbClr val="FFC72C"/>
          </a:solidFill>
          <a:ln w="12700">
            <a:solidFill>
              <a:srgbClr val="FFC72C"/>
            </a:solidFill>
            <a:prstDash val="solid"/>
          </a:ln>
          <a:effectLst>
            <a:outerShdw blurRad="63500" dist="25400" dir="8100000" algn="bl" rotWithShape="0">
              <a:srgbClr val="000000">
                <a:alpha val="12000"/>
              </a:srgbClr>
            </a:outerShdw>
          </a:effectLst>
        </p:spPr>
        <p:txBody>
          <a:bodyPr/>
          <a:lstStyle/>
          <a:p>
            <a:endParaRPr lang="en-US"/>
          </a:p>
        </p:txBody>
      </p:sp>
      <p:sp>
        <p:nvSpPr>
          <p:cNvPr id="15" name="Text 7"/>
          <p:cNvSpPr/>
          <p:nvPr/>
        </p:nvSpPr>
        <p:spPr>
          <a:xfrm>
            <a:off x="4846320" y="3639312"/>
            <a:ext cx="3474720" cy="512064"/>
          </a:xfrm>
          <a:prstGeom prst="rect">
            <a:avLst/>
          </a:prstGeom>
          <a:noFill/>
          <a:ln/>
        </p:spPr>
        <p:txBody>
          <a:bodyPr wrap="square" lIns="0" tIns="0" rIns="0" bIns="0"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  IS492-SP26 / social-media-command-centre</a:t>
            </a:r>
            <a:endParaRPr lang="en-US" sz="1100" dirty="0"/>
          </a:p>
        </p:txBody>
      </p:sp>
      <p:sp>
        <p:nvSpPr>
          <p:cNvPr id="16" name="Text 8"/>
          <p:cNvSpPr/>
          <p:nvPr/>
        </p:nvSpPr>
        <p:spPr>
          <a:xfrm>
            <a:off x="457200" y="4370832"/>
            <a:ext cx="8229600" cy="34747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Pranav C  ·  Jeet T  ·  Ashish G  |  IS492 Spring 2026  · MSIM’26 UIUC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3800</Words>
  <Application>Microsoft Macintosh PowerPoint</Application>
  <PresentationFormat>On-screen Show (16:9)</PresentationFormat>
  <Paragraphs>263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McDonald's SMCC — Checkpoint 4</dc:title>
  <dc:subject>PptxGenJS Presentation</dc:subject>
  <dc:creator>PptxGenJS</dc:creator>
  <cp:lastModifiedBy>Gole, Ashish Manoj</cp:lastModifiedBy>
  <cp:revision>4</cp:revision>
  <dcterms:created xsi:type="dcterms:W3CDTF">2026-04-30T04:54:06Z</dcterms:created>
  <dcterms:modified xsi:type="dcterms:W3CDTF">2026-04-30T05:13:32Z</dcterms:modified>
</cp:coreProperties>
</file>