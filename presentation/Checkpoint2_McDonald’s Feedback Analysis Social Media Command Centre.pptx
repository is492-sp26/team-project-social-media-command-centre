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669A51-ADFC-4013-9583-AECF7F6D60FE}">
  <a:tblStyle styleId="{CD669A51-ADFC-4013-9583-AECF7F6D60F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Roboto-regular.fntdata"/><Relationship Id="rId14" Type="http://schemas.openxmlformats.org/officeDocument/2006/relationships/slide" Target="slides/slide8.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font" Target="fonts/Roboto-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4cb88a13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c4cb88a13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During Checkpoint 1, we made three core assumptions — and each one had a real risk of falling apart.</a:t>
            </a:r>
            <a:endParaRPr sz="1200">
              <a:solidFill>
                <a:srgbClr val="273540"/>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First, we assumed Google reviews would give us a fair picture of customer sentiment. But in reality, most people only bother reviewing when they're thrilled or furious. To counter this, we ran a survey with 15 real McDonald's customers to validate whether our findings actually matched lived experience.</a:t>
            </a:r>
            <a:endParaRPr sz="1200">
              <a:solidFill>
                <a:srgbClr val="273540"/>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Second, we chose RoBERTa as our model assuming it could handle restaurant review language. This was a calculated bet — RoBERTa was pre-trained on 124 million tweets, so it understands informal, opinionated text better than alternatives like VADER or DistilBERT.</a:t>
            </a:r>
            <a:endParaRPr sz="1200">
              <a:solidFill>
                <a:srgbClr val="273540"/>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Third, we assumed sentiment scores alone would be actionable for management. They're not — saying 'this location scores 3.2' tells you nothing. So we layered in aspect-level tagging across food, staff, and atmosphere, and built geographic drill-downs in Power BI so leadership can pinpoint exactly what's going wrong and where</a:t>
            </a:r>
            <a:endParaRPr sz="1200">
              <a:solidFill>
                <a:srgbClr val="273540"/>
              </a:solidFill>
              <a:highlight>
                <a:srgbClr val="FFFFFF"/>
              </a:highlight>
            </a:endParaRPr>
          </a:p>
          <a:p>
            <a:pPr indent="0" lvl="0" marL="0" rtl="0" algn="l">
              <a:spcBef>
                <a:spcPts val="1200"/>
              </a:spcBef>
              <a:spcAft>
                <a:spcPts val="0"/>
              </a:spcAft>
              <a:buNone/>
            </a:pPr>
            <a:r>
              <a:t/>
            </a:r>
            <a:endParaRPr sz="1200">
              <a:solidFill>
                <a:srgbClr val="273540"/>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d1262cd73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cd1262cd73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Clr>
                <a:schemeClr val="dk1"/>
              </a:buClr>
              <a:buSzPts val="605"/>
              <a:buFont typeface="Arial"/>
              <a:buNone/>
            </a:pPr>
            <a:r>
              <a:rPr b="1" lang="en-GB" sz="1555">
                <a:solidFill>
                  <a:schemeClr val="dk1"/>
                </a:solidFill>
                <a:latin typeface="Roboto"/>
                <a:ea typeface="Roboto"/>
                <a:cs typeface="Roboto"/>
                <a:sym typeface="Roboto"/>
              </a:rPr>
              <a:t>Checkpoint 1 was about exploring the sanity and scope of the problem (is it even feasible)</a:t>
            </a:r>
            <a:endParaRPr b="1" sz="1555">
              <a:solidFill>
                <a:schemeClr val="dk1"/>
              </a:solidFill>
              <a:latin typeface="Roboto"/>
              <a:ea typeface="Roboto"/>
              <a:cs typeface="Roboto"/>
              <a:sym typeface="Roboto"/>
            </a:endParaRPr>
          </a:p>
          <a:p>
            <a:pPr indent="0" lvl="0" marL="0" rtl="0" algn="l">
              <a:lnSpc>
                <a:spcPct val="140000"/>
              </a:lnSpc>
              <a:spcBef>
                <a:spcPts val="0"/>
              </a:spcBef>
              <a:spcAft>
                <a:spcPts val="0"/>
              </a:spcAft>
              <a:buClr>
                <a:schemeClr val="dk1"/>
              </a:buClr>
              <a:buSzPts val="605"/>
              <a:buFont typeface="Arial"/>
              <a:buNone/>
            </a:pPr>
            <a:r>
              <a:rPr b="1" lang="en-GB" sz="1555">
                <a:solidFill>
                  <a:schemeClr val="dk1"/>
                </a:solidFill>
                <a:latin typeface="Roboto"/>
                <a:ea typeface="Roboto"/>
                <a:cs typeface="Roboto"/>
                <a:sym typeface="Roboto"/>
              </a:rPr>
              <a:t>Checkpoint 2 was about extracting, transforming, loading and visualizing the data (Clean data = useful data)</a:t>
            </a:r>
            <a:endParaRPr b="1" sz="1555">
              <a:solidFill>
                <a:schemeClr val="dk1"/>
              </a:solidFill>
              <a:latin typeface="Roboto"/>
              <a:ea typeface="Roboto"/>
              <a:cs typeface="Roboto"/>
              <a:sym typeface="Roboto"/>
            </a:endParaRPr>
          </a:p>
          <a:p>
            <a:pPr indent="0" lvl="0" marL="0" rtl="0" algn="l">
              <a:lnSpc>
                <a:spcPct val="140000"/>
              </a:lnSpc>
              <a:spcBef>
                <a:spcPts val="0"/>
              </a:spcBef>
              <a:spcAft>
                <a:spcPts val="0"/>
              </a:spcAft>
              <a:buClr>
                <a:schemeClr val="dk1"/>
              </a:buClr>
              <a:buSzPts val="605"/>
              <a:buFont typeface="Arial"/>
              <a:buNone/>
            </a:pPr>
            <a:r>
              <a:rPr b="1" lang="en-GB" sz="1555">
                <a:solidFill>
                  <a:schemeClr val="dk1"/>
                </a:solidFill>
                <a:latin typeface="Roboto"/>
                <a:ea typeface="Roboto"/>
                <a:cs typeface="Roboto"/>
                <a:sym typeface="Roboto"/>
              </a:rPr>
              <a:t>Checkpoint 3 will be about building the NLP model (This is where GenAI kicks in)</a:t>
            </a:r>
            <a:endParaRPr b="1" sz="1555">
              <a:solidFill>
                <a:schemeClr val="dk1"/>
              </a:solidFill>
              <a:latin typeface="Roboto"/>
              <a:ea typeface="Roboto"/>
              <a:cs typeface="Roboto"/>
              <a:sym typeface="Roboto"/>
            </a:endParaRPr>
          </a:p>
          <a:p>
            <a:pPr indent="0" lvl="0" marL="0" rtl="0" algn="l">
              <a:lnSpc>
                <a:spcPct val="140000"/>
              </a:lnSpc>
              <a:spcBef>
                <a:spcPts val="0"/>
              </a:spcBef>
              <a:spcAft>
                <a:spcPts val="0"/>
              </a:spcAft>
              <a:buClr>
                <a:schemeClr val="dk1"/>
              </a:buClr>
              <a:buSzPts val="605"/>
              <a:buFont typeface="Arial"/>
              <a:buNone/>
            </a:pPr>
            <a:r>
              <a:rPr b="1" lang="en-GB" sz="1555">
                <a:solidFill>
                  <a:schemeClr val="dk1"/>
                </a:solidFill>
                <a:latin typeface="Roboto"/>
                <a:ea typeface="Roboto"/>
                <a:cs typeface="Roboto"/>
                <a:sym typeface="Roboto"/>
              </a:rPr>
              <a:t>Checkpoint 4 will be about product demo (PowerBI Dashboard + user adoption survey analytics)</a:t>
            </a:r>
            <a:endParaRPr b="1" sz="1555">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highlight>
                <a:srgbClr val="FFFFFF"/>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4cb88a13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4cb88a13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To evaluate how well GenAI could support our sentiment pipeline, we tested three tools — ChatGPT, Claude, and Gemini — across five structured prompts.</a:t>
            </a:r>
            <a:endParaRPr sz="1200">
              <a:solidFill>
                <a:srgbClr val="273540"/>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We deliberately designed tasks across three difficulty levels. First, a typical case: classify sentiment and extract issues from ten real McDonald's reviews. This gave us a baseline for how each model performs under normal conditions.</a:t>
            </a:r>
            <a:endParaRPr sz="1200">
              <a:solidFill>
                <a:srgbClr val="273540"/>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Then we pushed into edge cases. We gave all three models a sarcastic review — 'Great job McDonald's, I waited 25 minutes for cold fries' — to see if they could detect that the positive phrasing was actually expressing frustration.</a:t>
            </a:r>
            <a:endParaRPr sz="1200">
              <a:solidFill>
                <a:srgbClr val="273540"/>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Finally, we tested a failure case — a vague, ambiguous review that even humans struggle to classify. The goal here wasn't to get a correct answer, it was to see whether the model knew what it didn't know — and whether it would flag low-confidence outputs for human review.</a:t>
            </a:r>
            <a:endParaRPr sz="1200">
              <a:solidFill>
                <a:srgbClr val="273540"/>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To make the comparison fair, every model received the exact same prompt, the same reviews, and the same output format instructions. That way, any differences in output came from the model itself, not from how the question was asked</a:t>
            </a:r>
            <a:endParaRPr sz="1200">
              <a:solidFill>
                <a:srgbClr val="273540"/>
              </a:solidFill>
              <a:highlight>
                <a:srgbClr val="FFFFFF"/>
              </a:highlight>
            </a:endParaRPr>
          </a:p>
          <a:p>
            <a:pPr indent="0" lvl="0" marL="0" rtl="0" algn="l">
              <a:spcBef>
                <a:spcPts val="1200"/>
              </a:spcBef>
              <a:spcAft>
                <a:spcPts val="0"/>
              </a:spcAft>
              <a:buNone/>
            </a:pPr>
            <a:r>
              <a:t/>
            </a:r>
            <a:endParaRPr sz="1200">
              <a:solidFill>
                <a:srgbClr val="273540"/>
              </a:solidFill>
              <a:highlight>
                <a:srgbClr val="FFFFFF"/>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d1262cd7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cd1262cd7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1"/>
                </a:solidFill>
              </a:rPr>
              <a:t>We used pandas to clean the extracted data. After making sure that the data is cleaned, we performed some exploratory data analysis to get a birds eye view of the reviews we are working with.</a:t>
            </a:r>
            <a:endParaRPr b="1">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Review recency</a:t>
            </a:r>
            <a:r>
              <a:rPr lang="en-GB">
                <a:solidFill>
                  <a:schemeClr val="dk1"/>
                </a:solidFill>
              </a:rPr>
              <a:t> — Most reviews were written within the last 1,500 days (~4 years), with a sharp drop-off beyond 2,000 days, confirming the dataset is relatively current</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Geographic concentration</a:t>
            </a:r>
            <a:r>
              <a:rPr lang="en-GB">
                <a:solidFill>
                  <a:schemeClr val="dk1"/>
                </a:solidFill>
              </a:rPr>
              <a:t> — New York and Orlando dominate review volume, suggesting dataset skew toward a few high-traffic urban markets</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Negative reviews are more detailed</a:t>
            </a:r>
            <a:r>
              <a:rPr lang="en-GB">
                <a:solidFill>
                  <a:schemeClr val="dk1"/>
                </a:solidFill>
              </a:rPr>
              <a:t> — 1-star reviews are noticeably longer than 5-star reviews, meaning dissatisfied customers write more — reinforcing the extreme-opinion bias assumption</a:t>
            </a:r>
            <a:endParaRPr>
              <a:solidFill>
                <a:schemeClr val="dk1"/>
              </a:solidFill>
            </a:endParaRPr>
          </a:p>
          <a:p>
            <a:pPr indent="0" lvl="0" marL="0" rtl="0" algn="l">
              <a:spcBef>
                <a:spcPts val="0"/>
              </a:spcBef>
              <a:spcAft>
                <a:spcPts val="0"/>
              </a:spcAft>
              <a:buClr>
                <a:schemeClr val="dk1"/>
              </a:buClr>
              <a:buSzPts val="1100"/>
              <a:buFont typeface="Arial"/>
              <a:buNone/>
            </a:pPr>
            <a:r>
              <a:t/>
            </a:r>
            <a:endParaRPr sz="1200">
              <a:solidFill>
                <a:srgbClr val="273540"/>
              </a:solidFill>
              <a:highlight>
                <a:srgbClr val="FFFFFF"/>
              </a:highlight>
            </a:endParaRPr>
          </a:p>
          <a:p>
            <a:pPr indent="0" lvl="0" marL="0" rtl="0" algn="l">
              <a:spcBef>
                <a:spcPts val="0"/>
              </a:spcBef>
              <a:spcAft>
                <a:spcPts val="0"/>
              </a:spcAft>
              <a:buNone/>
            </a:pPr>
            <a:r>
              <a:t/>
            </a:r>
            <a:endParaRPr sz="1200">
              <a:solidFill>
                <a:srgbClr val="273540"/>
              </a:solidFill>
              <a:highlight>
                <a:srgbClr val="FFFFFF"/>
              </a:high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cd1262cd7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cd1262cd7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“Current feedback tools summarize sentiment and star ratings but fail to tell us </a:t>
            </a:r>
            <a:r>
              <a:rPr i="1" lang="en-GB">
                <a:solidFill>
                  <a:schemeClr val="dk1"/>
                </a:solidFill>
              </a:rPr>
              <a:t>why</a:t>
            </a:r>
            <a:r>
              <a:rPr lang="en-GB">
                <a:solidFill>
                  <a:schemeClr val="dk1"/>
                </a:solidFill>
              </a:rPr>
              <a:t> customers are unhappy. They misread sarcasm and mixed feedback, hide operational issues behind ratings, and ignore ambiguous cases. Our system uses LLMs to extract operational insights, detect rating-text mismatches, and flag uncertain reviews, turning raw feedback into actionable decisions for managers.”</a:t>
            </a:r>
            <a:endParaRPr>
              <a:solidFill>
                <a:schemeClr val="dk1"/>
              </a:solidFill>
            </a:endParaRPr>
          </a:p>
          <a:p>
            <a:pPr indent="0" lvl="0" marL="0" rtl="0" algn="l">
              <a:spcBef>
                <a:spcPts val="1200"/>
              </a:spcBef>
              <a:spcAft>
                <a:spcPts val="0"/>
              </a:spcAft>
              <a:buNone/>
            </a:pPr>
            <a:r>
              <a:t/>
            </a:r>
            <a:endParaRPr sz="1200">
              <a:solidFill>
                <a:srgbClr val="273540"/>
              </a:solidFill>
              <a:highlight>
                <a:srgbClr val="FFFFFF"/>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d1262cd7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d1262cd7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As we moved from planning to implementation, three new risk categories surfaced that weren't in our original scope.</a:t>
            </a:r>
            <a:endParaRPr sz="1200">
              <a:solidFill>
                <a:srgbClr val="273540"/>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The first is privacy. Google reviews sometimes include real customer names, staff names, or specific location details. At scale, processing and storing this data introduces exposure risk, so our mitigation is to strip any PII during the cleaning pipeline before it ever enters the model.</a:t>
            </a:r>
            <a:endParaRPr sz="1200">
              <a:solidFill>
                <a:srgbClr val="273540"/>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The second is reliability. Our testing showed that models struggle with sarcasm and ambiguous reviews — sometimes with confidence as low as 45%. Rather than trust every output blindly, we use a 60% confidence threshold — anything below that gets flagged for human review instead of feeding directly into the dashboard.</a:t>
            </a:r>
            <a:endParaRPr sz="1200">
              <a:solidFill>
                <a:srgbClr val="273540"/>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GB" sz="1200">
                <a:solidFill>
                  <a:srgbClr val="273540"/>
                </a:solidFill>
                <a:highlight>
                  <a:srgbClr val="FFFFFF"/>
                </a:highlight>
              </a:rPr>
              <a:t>The third is cost. Running transformer-based models like RoBERTa on thousands of reviews isn't free, especially at API scale. Our plan is to use batch processing and cache results for reviews that have already been scored, so we're not re-running the model on the same data repeatedly."</a:t>
            </a:r>
            <a:endParaRPr sz="1200">
              <a:solidFill>
                <a:srgbClr val="273540"/>
              </a:solidFill>
              <a:highlight>
                <a:srgbClr val="FFFFFF"/>
              </a:highlight>
            </a:endParaRPr>
          </a:p>
          <a:p>
            <a:pPr indent="0" lvl="0" marL="0" rtl="0" algn="l">
              <a:spcBef>
                <a:spcPts val="1200"/>
              </a:spcBef>
              <a:spcAft>
                <a:spcPts val="0"/>
              </a:spcAft>
              <a:buNone/>
            </a:pPr>
            <a:r>
              <a:t/>
            </a:r>
            <a:endParaRPr sz="1200">
              <a:solidFill>
                <a:srgbClr val="273540"/>
              </a:solidFill>
              <a:highlight>
                <a:srgbClr val="FFFFFF"/>
              </a:high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d1262cd7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cd1262cd7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311700" y="362625"/>
            <a:ext cx="6890400" cy="1475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3580"/>
              <a:t>McDonald’s Feedback Analysis</a:t>
            </a:r>
            <a:r>
              <a:rPr lang="en-GB" sz="3580"/>
              <a:t> </a:t>
            </a:r>
            <a:r>
              <a:rPr lang="en-GB" sz="3580"/>
              <a:t>Social Media Command Centre</a:t>
            </a:r>
            <a:endParaRPr sz="3580"/>
          </a:p>
        </p:txBody>
      </p:sp>
      <p:sp>
        <p:nvSpPr>
          <p:cNvPr id="86" name="Google Shape;86;p13"/>
          <p:cNvSpPr txBox="1"/>
          <p:nvPr>
            <p:ph idx="1" type="subTitle"/>
          </p:nvPr>
        </p:nvSpPr>
        <p:spPr>
          <a:xfrm>
            <a:off x="311700" y="2134197"/>
            <a:ext cx="8222100" cy="1233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523"/>
              <a:buNone/>
            </a:pPr>
            <a:r>
              <a:rPr b="1" lang="en-GB" sz="1597" u="sng"/>
              <a:t>Problem Statement Reminder</a:t>
            </a:r>
            <a:endParaRPr b="1" sz="1597" u="sng"/>
          </a:p>
          <a:p>
            <a:pPr indent="0" lvl="0" marL="0" rtl="0" algn="l">
              <a:lnSpc>
                <a:spcPct val="115000"/>
              </a:lnSpc>
              <a:spcBef>
                <a:spcPts val="0"/>
              </a:spcBef>
              <a:spcAft>
                <a:spcPts val="0"/>
              </a:spcAft>
              <a:buSzPts val="523"/>
              <a:buNone/>
            </a:pPr>
            <a:r>
              <a:rPr lang="en-GB" sz="1597"/>
              <a:t>Using GenAI to analyze McDonald's customer feedback and generate actionable insights for management.</a:t>
            </a:r>
            <a:endParaRPr sz="1597"/>
          </a:p>
        </p:txBody>
      </p:sp>
      <p:sp>
        <p:nvSpPr>
          <p:cNvPr id="87" name="Google Shape;87;p13"/>
          <p:cNvSpPr txBox="1"/>
          <p:nvPr>
            <p:ph idx="1" type="subTitle"/>
          </p:nvPr>
        </p:nvSpPr>
        <p:spPr>
          <a:xfrm>
            <a:off x="311700" y="4315950"/>
            <a:ext cx="8520600" cy="4212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770"/>
              <a:buNone/>
            </a:pPr>
            <a:r>
              <a:rPr lang="en-GB" sz="1210"/>
              <a:t>Checkpoint #2 Presentation | IS492 | University of Illinois Urbana Champaign</a:t>
            </a:r>
            <a:endParaRPr sz="1210"/>
          </a:p>
          <a:p>
            <a:pPr indent="0" lvl="0" marL="0" rtl="0" algn="ctr">
              <a:lnSpc>
                <a:spcPct val="115000"/>
              </a:lnSpc>
              <a:spcBef>
                <a:spcPts val="0"/>
              </a:spcBef>
              <a:spcAft>
                <a:spcPts val="0"/>
              </a:spcAft>
              <a:buSzPts val="770"/>
              <a:buNone/>
            </a:pPr>
            <a:r>
              <a:rPr b="1" lang="en-GB" sz="1210"/>
              <a:t>Pranav C | Jeet T | Ashish G </a:t>
            </a:r>
            <a:endParaRPr b="1" sz="1210"/>
          </a:p>
        </p:txBody>
      </p:sp>
      <p:sp>
        <p:nvSpPr>
          <p:cNvPr id="88" name="Google Shape;88;p13"/>
          <p:cNvSpPr txBox="1"/>
          <p:nvPr>
            <p:ph idx="1" type="subTitle"/>
          </p:nvPr>
        </p:nvSpPr>
        <p:spPr>
          <a:xfrm>
            <a:off x="311700" y="3238700"/>
            <a:ext cx="8520600" cy="7926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GB" sz="1500" u="sng"/>
              <a:t>Repo link</a:t>
            </a:r>
            <a:endParaRPr sz="1500" u="sng"/>
          </a:p>
          <a:p>
            <a:pPr indent="0" lvl="0" marL="0" marR="0" rtl="0" algn="l">
              <a:lnSpc>
                <a:spcPct val="115000"/>
              </a:lnSpc>
              <a:spcBef>
                <a:spcPts val="0"/>
              </a:spcBef>
              <a:spcAft>
                <a:spcPts val="0"/>
              </a:spcAft>
              <a:buClr>
                <a:srgbClr val="000000"/>
              </a:buClr>
              <a:buSzPts val="523"/>
              <a:buFont typeface="Arial"/>
              <a:buNone/>
            </a:pPr>
            <a:r>
              <a:rPr lang="en-GB" sz="1500"/>
              <a:t>github.com/</a:t>
            </a:r>
            <a:r>
              <a:rPr lang="en-GB" sz="1500"/>
              <a:t>IS492</a:t>
            </a:r>
            <a:r>
              <a:rPr lang="en-GB" sz="1500"/>
              <a:t>-SP26/team-project-social-media-command-centre/</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ctrTitle"/>
          </p:nvPr>
        </p:nvSpPr>
        <p:spPr>
          <a:xfrm>
            <a:off x="311700" y="342375"/>
            <a:ext cx="8520600" cy="695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28285"/>
              <a:buNone/>
            </a:pPr>
            <a:r>
              <a:rPr b="1" lang="en-GB" sz="3500"/>
              <a:t>What We Needed to Validate</a:t>
            </a:r>
            <a:endParaRPr b="1" sz="3500"/>
          </a:p>
        </p:txBody>
      </p:sp>
      <p:graphicFrame>
        <p:nvGraphicFramePr>
          <p:cNvPr id="94" name="Google Shape;94;p14"/>
          <p:cNvGraphicFramePr/>
          <p:nvPr/>
        </p:nvGraphicFramePr>
        <p:xfrm>
          <a:off x="311700" y="1729300"/>
          <a:ext cx="3000000" cy="3000000"/>
        </p:xfrm>
        <a:graphic>
          <a:graphicData uri="http://schemas.openxmlformats.org/drawingml/2006/table">
            <a:tbl>
              <a:tblPr>
                <a:noFill/>
                <a:tableStyleId>{CD669A51-ADFC-4013-9583-AECF7F6D60FE}</a:tableStyleId>
              </a:tblPr>
              <a:tblGrid>
                <a:gridCol w="1611425"/>
                <a:gridCol w="1990050"/>
                <a:gridCol w="1946050"/>
                <a:gridCol w="2835450"/>
              </a:tblGrid>
              <a:tr h="190500">
                <a:tc>
                  <a:txBody>
                    <a:bodyPr/>
                    <a:lstStyle/>
                    <a:p>
                      <a:pPr indent="0" lvl="0" marL="0" rtl="0" algn="l">
                        <a:lnSpc>
                          <a:spcPct val="115000"/>
                        </a:lnSpc>
                        <a:spcBef>
                          <a:spcPts val="0"/>
                        </a:spcBef>
                        <a:spcAft>
                          <a:spcPts val="0"/>
                        </a:spcAft>
                        <a:buNone/>
                      </a:pPr>
                      <a:r>
                        <a:rPr b="1" lang="en-GB">
                          <a:solidFill>
                            <a:schemeClr val="lt1"/>
                          </a:solidFill>
                        </a:rPr>
                        <a:t>Assumption</a:t>
                      </a:r>
                      <a:endParaRPr b="1">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a:solidFill>
                            <a:schemeClr val="lt1"/>
                          </a:solidFill>
                        </a:rPr>
                        <a:t>Initial Belief</a:t>
                      </a:r>
                      <a:endParaRPr b="1">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a:solidFill>
                            <a:schemeClr val="lt1"/>
                          </a:solidFill>
                        </a:rPr>
                        <a:t>Why It Could Be False</a:t>
                      </a:r>
                      <a:endParaRPr b="1">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a:solidFill>
                            <a:schemeClr val="lt1"/>
                          </a:solidFill>
                        </a:rPr>
                        <a:t>Mitigating Feature</a:t>
                      </a:r>
                      <a:endParaRPr b="1">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90500">
                <a:tc>
                  <a:txBody>
                    <a:bodyPr/>
                    <a:lstStyle/>
                    <a:p>
                      <a:pPr indent="0" lvl="0" marL="0" rtl="0" algn="l">
                        <a:spcBef>
                          <a:spcPts val="0"/>
                        </a:spcBef>
                        <a:spcAft>
                          <a:spcPts val="0"/>
                        </a:spcAft>
                        <a:buNone/>
                      </a:pPr>
                      <a:r>
                        <a:rPr lang="en-GB" sz="1200">
                          <a:solidFill>
                            <a:schemeClr val="lt1"/>
                          </a:solidFill>
                        </a:rPr>
                        <a:t>Reviews are representative</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chemeClr val="lt1"/>
                          </a:solidFill>
                        </a:rPr>
                        <a:t>Reflects all customers</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chemeClr val="lt1"/>
                          </a:solidFill>
                        </a:rPr>
                        <a:t>Skews toward extreme opinions</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chemeClr val="lt1"/>
                          </a:solidFill>
                        </a:rPr>
                        <a:t>User survey validation (15 participants)</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71475">
                <a:tc>
                  <a:txBody>
                    <a:bodyPr/>
                    <a:lstStyle/>
                    <a:p>
                      <a:pPr indent="0" lvl="0" marL="0" rtl="0" algn="l">
                        <a:spcBef>
                          <a:spcPts val="0"/>
                        </a:spcBef>
                        <a:spcAft>
                          <a:spcPts val="0"/>
                        </a:spcAft>
                        <a:buNone/>
                      </a:pPr>
                      <a:r>
                        <a:rPr lang="en-GB" sz="1200">
                          <a:solidFill>
                            <a:schemeClr val="lt1"/>
                          </a:solidFill>
                        </a:rPr>
                        <a:t>RoBERTa fits restaurant text</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chemeClr val="lt1"/>
                          </a:solidFill>
                        </a:rPr>
                        <a:t>Tweet-trained model works on reviews</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chemeClr val="lt1"/>
                          </a:solidFill>
                        </a:rPr>
                        <a:t>Language patterns differ significantly</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chemeClr val="lt1"/>
                          </a:solidFill>
                        </a:rPr>
                        <a:t>RoBERTa pre-trained on 124M tweets</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71475">
                <a:tc>
                  <a:txBody>
                    <a:bodyPr/>
                    <a:lstStyle/>
                    <a:p>
                      <a:pPr indent="0" lvl="0" marL="0" rtl="0" algn="l">
                        <a:spcBef>
                          <a:spcPts val="0"/>
                        </a:spcBef>
                        <a:spcAft>
                          <a:spcPts val="0"/>
                        </a:spcAft>
                        <a:buNone/>
                      </a:pPr>
                      <a:r>
                        <a:rPr lang="en-GB" sz="1200">
                          <a:solidFill>
                            <a:schemeClr val="lt1"/>
                          </a:solidFill>
                        </a:rPr>
                        <a:t>Sentiment = actionable insight</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chemeClr val="lt1"/>
                          </a:solidFill>
                        </a:rPr>
                        <a:t>Scores alone guide operations</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chemeClr val="lt1"/>
                          </a:solidFill>
                        </a:rPr>
                        <a:t>Lacks specificity on issue type</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chemeClr val="lt1"/>
                          </a:solidFill>
                        </a:rPr>
                        <a:t>Aspect-level sentiment tagging + geographic drill-down</a:t>
                      </a:r>
                      <a:endParaRPr sz="12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ctrTitle"/>
          </p:nvPr>
        </p:nvSpPr>
        <p:spPr>
          <a:xfrm>
            <a:off x="222800" y="342375"/>
            <a:ext cx="8520600" cy="695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28285"/>
              <a:buNone/>
            </a:pPr>
            <a:r>
              <a:rPr b="1" lang="en-GB" sz="3500"/>
              <a:t>What’s New and What’s Next ?</a:t>
            </a:r>
            <a:endParaRPr b="1" sz="3500"/>
          </a:p>
        </p:txBody>
      </p:sp>
      <p:sp>
        <p:nvSpPr>
          <p:cNvPr id="100" name="Google Shape;100;p15"/>
          <p:cNvSpPr txBox="1"/>
          <p:nvPr>
            <p:ph idx="1" type="subTitle"/>
          </p:nvPr>
        </p:nvSpPr>
        <p:spPr>
          <a:xfrm>
            <a:off x="222800" y="1367975"/>
            <a:ext cx="10134600" cy="3237300"/>
          </a:xfrm>
          <a:prstGeom prst="rect">
            <a:avLst/>
          </a:prstGeom>
        </p:spPr>
        <p:txBody>
          <a:bodyPr anchorCtr="0" anchor="t" bIns="91425" lIns="91425" spcFirstLastPara="1" rIns="91425" wrap="square" tIns="91425">
            <a:noAutofit/>
          </a:bodyPr>
          <a:lstStyle/>
          <a:p>
            <a:pPr indent="0" lvl="0" marL="0" rtl="0" algn="l">
              <a:lnSpc>
                <a:spcPct val="50000"/>
              </a:lnSpc>
              <a:spcBef>
                <a:spcPts val="1200"/>
              </a:spcBef>
              <a:spcAft>
                <a:spcPts val="0"/>
              </a:spcAft>
              <a:buNone/>
            </a:pPr>
            <a:r>
              <a:rPr b="1" lang="en-GB" sz="1900">
                <a:solidFill>
                  <a:srgbClr val="FFFFFF"/>
                </a:solidFill>
                <a:latin typeface="Arial"/>
                <a:ea typeface="Arial"/>
                <a:cs typeface="Arial"/>
                <a:sym typeface="Arial"/>
              </a:rPr>
              <a:t>Checkpoint 1</a:t>
            </a:r>
            <a:r>
              <a:rPr lang="en-GB" sz="1900">
                <a:solidFill>
                  <a:srgbClr val="FFFFFF"/>
                </a:solidFill>
                <a:latin typeface="Arial"/>
                <a:ea typeface="Arial"/>
                <a:cs typeface="Arial"/>
                <a:sym typeface="Arial"/>
              </a:rPr>
              <a:t> </a:t>
            </a:r>
            <a:endParaRPr sz="1900">
              <a:solidFill>
                <a:srgbClr val="FFFFFF"/>
              </a:solidFill>
              <a:latin typeface="Arial"/>
              <a:ea typeface="Arial"/>
              <a:cs typeface="Arial"/>
              <a:sym typeface="Arial"/>
            </a:endParaRPr>
          </a:p>
          <a:p>
            <a:pPr indent="0" lvl="0" marL="0" rtl="0" algn="l">
              <a:lnSpc>
                <a:spcPct val="50000"/>
              </a:lnSpc>
              <a:spcBef>
                <a:spcPts val="1200"/>
              </a:spcBef>
              <a:spcAft>
                <a:spcPts val="0"/>
              </a:spcAft>
              <a:buNone/>
            </a:pPr>
            <a:r>
              <a:rPr lang="en-GB" sz="1900">
                <a:solidFill>
                  <a:srgbClr val="FFFFFF"/>
                </a:solidFill>
                <a:latin typeface="Arial"/>
                <a:ea typeface="Arial"/>
                <a:cs typeface="Arial"/>
                <a:sym typeface="Arial"/>
              </a:rPr>
              <a:t>Explore problem scope and feasibility</a:t>
            </a:r>
            <a:endParaRPr sz="1900">
              <a:solidFill>
                <a:srgbClr val="FFFFFF"/>
              </a:solidFill>
              <a:latin typeface="Arial"/>
              <a:ea typeface="Arial"/>
              <a:cs typeface="Arial"/>
              <a:sym typeface="Arial"/>
            </a:endParaRPr>
          </a:p>
          <a:p>
            <a:pPr indent="0" lvl="0" marL="0" rtl="0" algn="l">
              <a:lnSpc>
                <a:spcPct val="50000"/>
              </a:lnSpc>
              <a:spcBef>
                <a:spcPts val="1200"/>
              </a:spcBef>
              <a:spcAft>
                <a:spcPts val="0"/>
              </a:spcAft>
              <a:buNone/>
            </a:pPr>
            <a:r>
              <a:t/>
            </a:r>
            <a:endParaRPr sz="1900">
              <a:latin typeface="Arial"/>
              <a:ea typeface="Arial"/>
              <a:cs typeface="Arial"/>
              <a:sym typeface="Arial"/>
            </a:endParaRPr>
          </a:p>
          <a:p>
            <a:pPr indent="0" lvl="0" marL="0" rtl="0" algn="l">
              <a:lnSpc>
                <a:spcPct val="50000"/>
              </a:lnSpc>
              <a:spcBef>
                <a:spcPts val="1200"/>
              </a:spcBef>
              <a:spcAft>
                <a:spcPts val="0"/>
              </a:spcAft>
              <a:buNone/>
            </a:pPr>
            <a:r>
              <a:rPr b="1" lang="en-GB" sz="1900">
                <a:latin typeface="Arial"/>
                <a:ea typeface="Arial"/>
                <a:cs typeface="Arial"/>
                <a:sym typeface="Arial"/>
              </a:rPr>
              <a:t>Checkpoint 2</a:t>
            </a:r>
            <a:endParaRPr b="1" sz="1900">
              <a:latin typeface="Arial"/>
              <a:ea typeface="Arial"/>
              <a:cs typeface="Arial"/>
              <a:sym typeface="Arial"/>
            </a:endParaRPr>
          </a:p>
          <a:p>
            <a:pPr indent="0" lvl="0" marL="0" rtl="0" algn="l">
              <a:lnSpc>
                <a:spcPct val="50000"/>
              </a:lnSpc>
              <a:spcBef>
                <a:spcPts val="1200"/>
              </a:spcBef>
              <a:spcAft>
                <a:spcPts val="0"/>
              </a:spcAft>
              <a:buNone/>
            </a:pPr>
            <a:r>
              <a:rPr lang="en-GB" sz="1900">
                <a:latin typeface="Arial"/>
                <a:ea typeface="Arial"/>
                <a:cs typeface="Arial"/>
                <a:sym typeface="Arial"/>
              </a:rPr>
              <a:t>Extract, clean, transform, visualize data (because unclean data == useless data)</a:t>
            </a:r>
            <a:endParaRPr sz="1900">
              <a:latin typeface="Arial"/>
              <a:ea typeface="Arial"/>
              <a:cs typeface="Arial"/>
              <a:sym typeface="Arial"/>
            </a:endParaRPr>
          </a:p>
          <a:p>
            <a:pPr indent="0" lvl="0" marL="0" rtl="0" algn="l">
              <a:lnSpc>
                <a:spcPct val="50000"/>
              </a:lnSpc>
              <a:spcBef>
                <a:spcPts val="1200"/>
              </a:spcBef>
              <a:spcAft>
                <a:spcPts val="0"/>
              </a:spcAft>
              <a:buNone/>
            </a:pPr>
            <a:r>
              <a:t/>
            </a:r>
            <a:endParaRPr b="1" sz="1900">
              <a:solidFill>
                <a:srgbClr val="FFFFFF"/>
              </a:solidFill>
              <a:latin typeface="Arial"/>
              <a:ea typeface="Arial"/>
              <a:cs typeface="Arial"/>
              <a:sym typeface="Arial"/>
            </a:endParaRPr>
          </a:p>
          <a:p>
            <a:pPr indent="0" lvl="0" marL="0" rtl="0" algn="l">
              <a:lnSpc>
                <a:spcPct val="50000"/>
              </a:lnSpc>
              <a:spcBef>
                <a:spcPts val="1200"/>
              </a:spcBef>
              <a:spcAft>
                <a:spcPts val="0"/>
              </a:spcAft>
              <a:buNone/>
            </a:pPr>
            <a:r>
              <a:rPr b="1" lang="en-GB" sz="1900">
                <a:solidFill>
                  <a:srgbClr val="FFFFFF"/>
                </a:solidFill>
                <a:latin typeface="Arial"/>
                <a:ea typeface="Arial"/>
                <a:cs typeface="Arial"/>
                <a:sym typeface="Arial"/>
              </a:rPr>
              <a:t>Checkpoint 3</a:t>
            </a:r>
            <a:endParaRPr sz="1900">
              <a:solidFill>
                <a:srgbClr val="FFFFFF"/>
              </a:solidFill>
              <a:latin typeface="Arial"/>
              <a:ea typeface="Arial"/>
              <a:cs typeface="Arial"/>
              <a:sym typeface="Arial"/>
            </a:endParaRPr>
          </a:p>
          <a:p>
            <a:pPr indent="0" lvl="0" marL="0" rtl="0" algn="l">
              <a:lnSpc>
                <a:spcPct val="50000"/>
              </a:lnSpc>
              <a:spcBef>
                <a:spcPts val="1200"/>
              </a:spcBef>
              <a:spcAft>
                <a:spcPts val="0"/>
              </a:spcAft>
              <a:buNone/>
            </a:pPr>
            <a:r>
              <a:rPr lang="en-GB" sz="1900">
                <a:solidFill>
                  <a:srgbClr val="FFFFFF"/>
                </a:solidFill>
                <a:latin typeface="Arial"/>
                <a:ea typeface="Arial"/>
                <a:cs typeface="Arial"/>
                <a:sym typeface="Arial"/>
              </a:rPr>
              <a:t>Develop and validate the NLP GenAI model</a:t>
            </a:r>
            <a:endParaRPr sz="1900">
              <a:solidFill>
                <a:srgbClr val="FFFFFF"/>
              </a:solidFill>
              <a:latin typeface="Arial"/>
              <a:ea typeface="Arial"/>
              <a:cs typeface="Arial"/>
              <a:sym typeface="Arial"/>
            </a:endParaRPr>
          </a:p>
          <a:p>
            <a:pPr indent="0" lvl="0" marL="0" rtl="0" algn="l">
              <a:lnSpc>
                <a:spcPct val="50000"/>
              </a:lnSpc>
              <a:spcBef>
                <a:spcPts val="1200"/>
              </a:spcBef>
              <a:spcAft>
                <a:spcPts val="0"/>
              </a:spcAft>
              <a:buNone/>
            </a:pPr>
            <a:r>
              <a:t/>
            </a:r>
            <a:endParaRPr b="1" sz="1900">
              <a:solidFill>
                <a:srgbClr val="FFFFFF"/>
              </a:solidFill>
              <a:latin typeface="Arial"/>
              <a:ea typeface="Arial"/>
              <a:cs typeface="Arial"/>
              <a:sym typeface="Arial"/>
            </a:endParaRPr>
          </a:p>
          <a:p>
            <a:pPr indent="0" lvl="0" marL="0" rtl="0" algn="l">
              <a:lnSpc>
                <a:spcPct val="50000"/>
              </a:lnSpc>
              <a:spcBef>
                <a:spcPts val="1200"/>
              </a:spcBef>
              <a:spcAft>
                <a:spcPts val="0"/>
              </a:spcAft>
              <a:buNone/>
            </a:pPr>
            <a:r>
              <a:rPr b="1" lang="en-GB" sz="1900">
                <a:solidFill>
                  <a:srgbClr val="FFFFFF"/>
                </a:solidFill>
                <a:latin typeface="Arial"/>
                <a:ea typeface="Arial"/>
                <a:cs typeface="Arial"/>
                <a:sym typeface="Arial"/>
              </a:rPr>
              <a:t>Checkpoint 4</a:t>
            </a:r>
            <a:endParaRPr sz="1900">
              <a:solidFill>
                <a:srgbClr val="FFFFFF"/>
              </a:solidFill>
              <a:latin typeface="Arial"/>
              <a:ea typeface="Arial"/>
              <a:cs typeface="Arial"/>
              <a:sym typeface="Arial"/>
            </a:endParaRPr>
          </a:p>
          <a:p>
            <a:pPr indent="0" lvl="0" marL="0" rtl="0" algn="l">
              <a:lnSpc>
                <a:spcPct val="50000"/>
              </a:lnSpc>
              <a:spcBef>
                <a:spcPts val="1200"/>
              </a:spcBef>
              <a:spcAft>
                <a:spcPts val="0"/>
              </a:spcAft>
              <a:buNone/>
            </a:pPr>
            <a:r>
              <a:rPr lang="en-GB" sz="1900">
                <a:solidFill>
                  <a:srgbClr val="FFFFFF"/>
                </a:solidFill>
                <a:latin typeface="Arial"/>
                <a:ea typeface="Arial"/>
                <a:cs typeface="Arial"/>
                <a:sym typeface="Arial"/>
              </a:rPr>
              <a:t>Showcase PowerBI dashboard and analyze user adoption</a:t>
            </a:r>
            <a:endParaRPr sz="1900">
              <a:solidFill>
                <a:srgbClr val="FFFFFF"/>
              </a:solidFill>
              <a:latin typeface="Arial"/>
              <a:ea typeface="Arial"/>
              <a:cs typeface="Arial"/>
              <a:sym typeface="Arial"/>
            </a:endParaRPr>
          </a:p>
          <a:p>
            <a:pPr indent="0" lvl="0" marL="0" rtl="0" algn="l">
              <a:lnSpc>
                <a:spcPct val="50000"/>
              </a:lnSpc>
              <a:spcBef>
                <a:spcPts val="1200"/>
              </a:spcBef>
              <a:spcAft>
                <a:spcPts val="1200"/>
              </a:spcAft>
              <a:buNone/>
            </a:pPr>
            <a:r>
              <a:t/>
            </a:r>
            <a:endParaRPr b="1" sz="2355"/>
          </a:p>
        </p:txBody>
      </p:sp>
      <p:sp>
        <p:nvSpPr>
          <p:cNvPr id="101" name="Google Shape;101;p15"/>
          <p:cNvSpPr/>
          <p:nvPr/>
        </p:nvSpPr>
        <p:spPr>
          <a:xfrm>
            <a:off x="215900" y="2095500"/>
            <a:ext cx="8788500" cy="939900"/>
          </a:xfrm>
          <a:prstGeom prst="rect">
            <a:avLst/>
          </a:prstGeom>
          <a:noFill/>
          <a:ln cap="flat" cmpd="sng" w="28575">
            <a:solidFill>
              <a:schemeClr val="lt1"/>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ctrTitle"/>
          </p:nvPr>
        </p:nvSpPr>
        <p:spPr>
          <a:xfrm>
            <a:off x="311700" y="399825"/>
            <a:ext cx="8520600" cy="955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GB" sz="3500"/>
              <a:t>Prompting Study Design</a:t>
            </a:r>
            <a:endParaRPr b="1" sz="3500"/>
          </a:p>
        </p:txBody>
      </p:sp>
      <p:sp>
        <p:nvSpPr>
          <p:cNvPr id="107" name="Google Shape;107;p16"/>
          <p:cNvSpPr txBox="1"/>
          <p:nvPr>
            <p:ph idx="1" type="subTitle"/>
          </p:nvPr>
        </p:nvSpPr>
        <p:spPr>
          <a:xfrm>
            <a:off x="311700" y="1533000"/>
            <a:ext cx="8520600" cy="32373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SzPts val="605"/>
              <a:buNone/>
            </a:pPr>
            <a:r>
              <a:rPr b="1" lang="en-GB" sz="1255"/>
              <a:t>Tools Tested: </a:t>
            </a:r>
            <a:r>
              <a:rPr lang="en-GB" sz="1255"/>
              <a:t>ChatGPT, Claude, Gemini</a:t>
            </a:r>
            <a:endParaRPr sz="1255"/>
          </a:p>
          <a:p>
            <a:pPr indent="0" lvl="0" marL="0" rtl="0" algn="l">
              <a:lnSpc>
                <a:spcPct val="140000"/>
              </a:lnSpc>
              <a:spcBef>
                <a:spcPts val="0"/>
              </a:spcBef>
              <a:spcAft>
                <a:spcPts val="0"/>
              </a:spcAft>
              <a:buSzPts val="605"/>
              <a:buNone/>
            </a:pPr>
            <a:r>
              <a:rPr b="1" lang="en-GB" sz="1255"/>
              <a:t>Why</a:t>
            </a:r>
            <a:r>
              <a:rPr lang="en-GB" sz="1255"/>
              <a:t>? To check if generic GenAI NLP models work for our purpose</a:t>
            </a:r>
            <a:endParaRPr sz="1255"/>
          </a:p>
          <a:p>
            <a:pPr indent="0" lvl="0" marL="0" rtl="0" algn="l">
              <a:lnSpc>
                <a:spcPct val="140000"/>
              </a:lnSpc>
              <a:spcBef>
                <a:spcPts val="0"/>
              </a:spcBef>
              <a:spcAft>
                <a:spcPts val="0"/>
              </a:spcAft>
              <a:buSzPts val="605"/>
              <a:buNone/>
            </a:pPr>
            <a:r>
              <a:t/>
            </a:r>
            <a:endParaRPr sz="1255"/>
          </a:p>
          <a:p>
            <a:pPr indent="0" lvl="0" marL="0" rtl="0" algn="l">
              <a:lnSpc>
                <a:spcPct val="140000"/>
              </a:lnSpc>
              <a:spcBef>
                <a:spcPts val="0"/>
              </a:spcBef>
              <a:spcAft>
                <a:spcPts val="0"/>
              </a:spcAft>
              <a:buSzPts val="605"/>
              <a:buNone/>
            </a:pPr>
            <a:r>
              <a:rPr b="1" lang="en-GB" sz="1255"/>
              <a:t>Task Types</a:t>
            </a:r>
            <a:endParaRPr b="1" sz="1255"/>
          </a:p>
          <a:p>
            <a:pPr indent="0" lvl="0" marL="457200" rtl="0" algn="l">
              <a:lnSpc>
                <a:spcPct val="140000"/>
              </a:lnSpc>
              <a:spcBef>
                <a:spcPts val="0"/>
              </a:spcBef>
              <a:spcAft>
                <a:spcPts val="0"/>
              </a:spcAft>
              <a:buSzPts val="605"/>
              <a:buNone/>
            </a:pPr>
            <a:r>
              <a:rPr b="1" lang="en-GB" sz="1255"/>
              <a:t>Typical</a:t>
            </a:r>
            <a:r>
              <a:rPr lang="en-GB" sz="1255"/>
              <a:t>: Sentiment classification on 10 real reviews</a:t>
            </a:r>
            <a:endParaRPr sz="1255"/>
          </a:p>
          <a:p>
            <a:pPr indent="0" lvl="0" marL="457200" rtl="0" algn="l">
              <a:lnSpc>
                <a:spcPct val="140000"/>
              </a:lnSpc>
              <a:spcBef>
                <a:spcPts val="0"/>
              </a:spcBef>
              <a:spcAft>
                <a:spcPts val="0"/>
              </a:spcAft>
              <a:buSzPts val="605"/>
              <a:buNone/>
            </a:pPr>
            <a:r>
              <a:rPr b="1" lang="en-GB" sz="1255"/>
              <a:t>Edge Case:</a:t>
            </a:r>
            <a:r>
              <a:rPr lang="en-GB" sz="1255"/>
              <a:t> Sarcasm detection ("Great job, I waited 25 mins for cold fries")</a:t>
            </a:r>
            <a:endParaRPr sz="1255"/>
          </a:p>
          <a:p>
            <a:pPr indent="0" lvl="0" marL="457200" rtl="0" algn="l">
              <a:lnSpc>
                <a:spcPct val="140000"/>
              </a:lnSpc>
              <a:spcBef>
                <a:spcPts val="0"/>
              </a:spcBef>
              <a:spcAft>
                <a:spcPts val="0"/>
              </a:spcAft>
              <a:buSzPts val="605"/>
              <a:buNone/>
            </a:pPr>
            <a:r>
              <a:rPr b="1" lang="en-GB" sz="1255"/>
              <a:t>Failure Case:</a:t>
            </a:r>
            <a:r>
              <a:rPr lang="en-GB" sz="1255"/>
              <a:t> Ambiguous review — confidence score ~45%</a:t>
            </a:r>
            <a:endParaRPr sz="1255"/>
          </a:p>
          <a:p>
            <a:pPr indent="0" lvl="0" marL="0" rtl="0" algn="l">
              <a:lnSpc>
                <a:spcPct val="140000"/>
              </a:lnSpc>
              <a:spcBef>
                <a:spcPts val="0"/>
              </a:spcBef>
              <a:spcAft>
                <a:spcPts val="0"/>
              </a:spcAft>
              <a:buSzPts val="605"/>
              <a:buNone/>
            </a:pPr>
            <a:r>
              <a:t/>
            </a:r>
            <a:endParaRPr sz="1255"/>
          </a:p>
          <a:p>
            <a:pPr indent="0" lvl="0" marL="0" rtl="0" algn="l">
              <a:lnSpc>
                <a:spcPct val="140000"/>
              </a:lnSpc>
              <a:spcBef>
                <a:spcPts val="0"/>
              </a:spcBef>
              <a:spcAft>
                <a:spcPts val="0"/>
              </a:spcAft>
              <a:buSzPts val="605"/>
              <a:buNone/>
            </a:pPr>
            <a:r>
              <a:rPr b="1" lang="en-GB" sz="1255"/>
              <a:t>Prompt Control: </a:t>
            </a:r>
            <a:r>
              <a:rPr lang="en-GB" sz="1255"/>
              <a:t>All 3 models received identical prompts, inputs, and output format instructions</a:t>
            </a:r>
            <a:endParaRPr sz="1255"/>
          </a:p>
          <a:p>
            <a:pPr indent="0" lvl="0" marL="0" rtl="0" algn="l">
              <a:lnSpc>
                <a:spcPct val="140000"/>
              </a:lnSpc>
              <a:spcBef>
                <a:spcPts val="0"/>
              </a:spcBef>
              <a:spcAft>
                <a:spcPts val="0"/>
              </a:spcAft>
              <a:buSzPts val="605"/>
              <a:buNone/>
            </a:pPr>
            <a:r>
              <a:t/>
            </a:r>
            <a:endParaRPr sz="1255"/>
          </a:p>
          <a:p>
            <a:pPr indent="0" lvl="0" marL="0" rtl="0" algn="l">
              <a:lnSpc>
                <a:spcPct val="140000"/>
              </a:lnSpc>
              <a:spcBef>
                <a:spcPts val="0"/>
              </a:spcBef>
              <a:spcAft>
                <a:spcPts val="0"/>
              </a:spcAft>
              <a:buSzPts val="605"/>
              <a:buNone/>
            </a:pPr>
            <a:r>
              <a:rPr b="1" lang="en-GB" sz="1255"/>
              <a:t>Conclusion</a:t>
            </a:r>
            <a:r>
              <a:rPr lang="en-GB" sz="1255"/>
              <a:t>: Specific Tailored models Needed (more on that later)</a:t>
            </a:r>
            <a:endParaRPr sz="1255"/>
          </a:p>
          <a:p>
            <a:pPr indent="0" lvl="0" marL="0" rtl="0" algn="l">
              <a:lnSpc>
                <a:spcPct val="140000"/>
              </a:lnSpc>
              <a:spcBef>
                <a:spcPts val="0"/>
              </a:spcBef>
              <a:spcAft>
                <a:spcPts val="0"/>
              </a:spcAft>
              <a:buSzPts val="605"/>
              <a:buNone/>
            </a:pPr>
            <a:r>
              <a:t/>
            </a:r>
            <a:endParaRPr b="1" sz="125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ctrTitle"/>
          </p:nvPr>
        </p:nvSpPr>
        <p:spPr>
          <a:xfrm>
            <a:off x="193375" y="368700"/>
            <a:ext cx="8520600" cy="54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891"/>
              <a:buNone/>
            </a:pPr>
            <a:r>
              <a:rPr b="1" lang="en-GB" sz="3010"/>
              <a:t>Evidence: Data </a:t>
            </a:r>
            <a:r>
              <a:rPr b="1" lang="en-GB" sz="3110"/>
              <a:t>Behaviour </a:t>
            </a:r>
            <a:r>
              <a:rPr b="1" lang="en-GB" sz="3010"/>
              <a:t>+ Credibility</a:t>
            </a:r>
            <a:endParaRPr b="1" sz="3010"/>
          </a:p>
        </p:txBody>
      </p:sp>
      <p:pic>
        <p:nvPicPr>
          <p:cNvPr id="113" name="Google Shape;113;p17"/>
          <p:cNvPicPr preferRelativeResize="0"/>
          <p:nvPr/>
        </p:nvPicPr>
        <p:blipFill rotWithShape="1">
          <a:blip r:embed="rId3">
            <a:alphaModFix/>
          </a:blip>
          <a:srcRect b="0" l="0" r="0" t="16276"/>
          <a:stretch/>
        </p:blipFill>
        <p:spPr>
          <a:xfrm>
            <a:off x="127325" y="1335700"/>
            <a:ext cx="2904874" cy="2956825"/>
          </a:xfrm>
          <a:prstGeom prst="rect">
            <a:avLst/>
          </a:prstGeom>
          <a:noFill/>
          <a:ln>
            <a:noFill/>
          </a:ln>
        </p:spPr>
      </p:pic>
      <p:pic>
        <p:nvPicPr>
          <p:cNvPr id="114" name="Google Shape;114;p17"/>
          <p:cNvPicPr preferRelativeResize="0"/>
          <p:nvPr/>
        </p:nvPicPr>
        <p:blipFill rotWithShape="1">
          <a:blip r:embed="rId4">
            <a:alphaModFix/>
          </a:blip>
          <a:srcRect b="0" l="0" r="0" t="14200"/>
          <a:stretch/>
        </p:blipFill>
        <p:spPr>
          <a:xfrm>
            <a:off x="3155850" y="1372275"/>
            <a:ext cx="2960200" cy="2920250"/>
          </a:xfrm>
          <a:prstGeom prst="rect">
            <a:avLst/>
          </a:prstGeom>
          <a:noFill/>
          <a:ln>
            <a:noFill/>
          </a:ln>
        </p:spPr>
      </p:pic>
      <p:pic>
        <p:nvPicPr>
          <p:cNvPr id="115" name="Google Shape;115;p17"/>
          <p:cNvPicPr preferRelativeResize="0"/>
          <p:nvPr/>
        </p:nvPicPr>
        <p:blipFill>
          <a:blip r:embed="rId5">
            <a:alphaModFix/>
          </a:blip>
          <a:stretch>
            <a:fillRect/>
          </a:stretch>
        </p:blipFill>
        <p:spPr>
          <a:xfrm>
            <a:off x="6268450" y="1363225"/>
            <a:ext cx="2723150" cy="2920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ctrTitle"/>
          </p:nvPr>
        </p:nvSpPr>
        <p:spPr>
          <a:xfrm>
            <a:off x="311700" y="399425"/>
            <a:ext cx="8520600" cy="669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26190"/>
              <a:buNone/>
            </a:pPr>
            <a:r>
              <a:rPr b="1" lang="en-GB" sz="3780"/>
              <a:t>Gap Analysis &amp; Opportunity</a:t>
            </a:r>
            <a:endParaRPr b="1" sz="3780"/>
          </a:p>
        </p:txBody>
      </p:sp>
      <p:sp>
        <p:nvSpPr>
          <p:cNvPr id="121" name="Google Shape;121;p18"/>
          <p:cNvSpPr txBox="1"/>
          <p:nvPr>
            <p:ph idx="1" type="subTitle"/>
          </p:nvPr>
        </p:nvSpPr>
        <p:spPr>
          <a:xfrm>
            <a:off x="424350" y="1184775"/>
            <a:ext cx="8520600" cy="7926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523"/>
              <a:buNone/>
            </a:pPr>
            <a:r>
              <a:rPr lang="en-GB" sz="1222">
                <a:latin typeface="Arial"/>
                <a:ea typeface="Arial"/>
                <a:cs typeface="Arial"/>
                <a:sym typeface="Arial"/>
              </a:rPr>
              <a:t>Existing tools rely on sentiment &amp; star ratings → miss </a:t>
            </a:r>
            <a:r>
              <a:rPr b="1" lang="en-GB" sz="1222">
                <a:latin typeface="Arial"/>
                <a:ea typeface="Arial"/>
                <a:cs typeface="Arial"/>
                <a:sym typeface="Arial"/>
              </a:rPr>
              <a:t>operational context</a:t>
            </a:r>
            <a:br>
              <a:rPr b="1" lang="en-GB" sz="1222">
                <a:latin typeface="Arial"/>
                <a:ea typeface="Arial"/>
                <a:cs typeface="Arial"/>
                <a:sym typeface="Arial"/>
              </a:rPr>
            </a:br>
            <a:endParaRPr b="1" sz="1222">
              <a:latin typeface="Arial"/>
              <a:ea typeface="Arial"/>
              <a:cs typeface="Arial"/>
              <a:sym typeface="Arial"/>
            </a:endParaRPr>
          </a:p>
          <a:p>
            <a:pPr indent="0" lvl="0" marL="0" rtl="0" algn="l">
              <a:lnSpc>
                <a:spcPct val="80000"/>
              </a:lnSpc>
              <a:spcBef>
                <a:spcPts val="0"/>
              </a:spcBef>
              <a:spcAft>
                <a:spcPts val="0"/>
              </a:spcAft>
              <a:buSzPts val="523"/>
              <a:buNone/>
            </a:pPr>
            <a:r>
              <a:rPr lang="en-GB" sz="1222">
                <a:latin typeface="Arial"/>
                <a:ea typeface="Arial"/>
                <a:cs typeface="Arial"/>
                <a:sym typeface="Arial"/>
              </a:rPr>
              <a:t>Fail on sarcasm, mixed sentiment, vague feedback → risk </a:t>
            </a:r>
            <a:r>
              <a:rPr b="1" lang="en-GB" sz="1222">
                <a:latin typeface="Arial"/>
                <a:ea typeface="Arial"/>
                <a:cs typeface="Arial"/>
                <a:sym typeface="Arial"/>
              </a:rPr>
              <a:t>misclassification</a:t>
            </a:r>
            <a:br>
              <a:rPr b="1" lang="en-GB" sz="1222">
                <a:latin typeface="Arial"/>
                <a:ea typeface="Arial"/>
                <a:cs typeface="Arial"/>
                <a:sym typeface="Arial"/>
              </a:rPr>
            </a:br>
            <a:endParaRPr b="1" sz="1222">
              <a:latin typeface="Arial"/>
              <a:ea typeface="Arial"/>
              <a:cs typeface="Arial"/>
              <a:sym typeface="Arial"/>
            </a:endParaRPr>
          </a:p>
          <a:p>
            <a:pPr indent="0" lvl="0" marL="0" rtl="0" algn="l">
              <a:lnSpc>
                <a:spcPct val="80000"/>
              </a:lnSpc>
              <a:spcBef>
                <a:spcPts val="0"/>
              </a:spcBef>
              <a:spcAft>
                <a:spcPts val="0"/>
              </a:spcAft>
              <a:buSzPts val="523"/>
              <a:buNone/>
            </a:pPr>
            <a:r>
              <a:rPr lang="en-GB" sz="1222">
                <a:latin typeface="Arial"/>
                <a:ea typeface="Arial"/>
                <a:cs typeface="Arial"/>
                <a:sym typeface="Arial"/>
              </a:rPr>
              <a:t>Rating-text mismatches hide real issues → </a:t>
            </a:r>
            <a:r>
              <a:rPr b="1" lang="en-GB" sz="1222">
                <a:latin typeface="Arial"/>
                <a:ea typeface="Arial"/>
                <a:cs typeface="Arial"/>
                <a:sym typeface="Arial"/>
              </a:rPr>
              <a:t>undetected problems</a:t>
            </a:r>
            <a:br>
              <a:rPr b="1" lang="en-GB" sz="1222">
                <a:latin typeface="Arial"/>
                <a:ea typeface="Arial"/>
                <a:cs typeface="Arial"/>
                <a:sym typeface="Arial"/>
              </a:rPr>
            </a:br>
            <a:endParaRPr b="1" sz="1222">
              <a:latin typeface="Arial"/>
              <a:ea typeface="Arial"/>
              <a:cs typeface="Arial"/>
              <a:sym typeface="Arial"/>
            </a:endParaRPr>
          </a:p>
          <a:p>
            <a:pPr indent="0" lvl="0" marL="0" rtl="0" algn="l">
              <a:lnSpc>
                <a:spcPct val="80000"/>
              </a:lnSpc>
              <a:spcBef>
                <a:spcPts val="0"/>
              </a:spcBef>
              <a:spcAft>
                <a:spcPts val="0"/>
              </a:spcAft>
              <a:buSzPts val="523"/>
              <a:buNone/>
            </a:pPr>
            <a:r>
              <a:rPr lang="en-GB" sz="1222">
                <a:latin typeface="Arial"/>
                <a:ea typeface="Arial"/>
                <a:cs typeface="Arial"/>
                <a:sym typeface="Arial"/>
              </a:rPr>
              <a:t>No uncertainty awareness → </a:t>
            </a:r>
            <a:r>
              <a:rPr b="1" lang="en-GB" sz="1222">
                <a:latin typeface="Arial"/>
                <a:ea typeface="Arial"/>
                <a:cs typeface="Arial"/>
                <a:sym typeface="Arial"/>
              </a:rPr>
              <a:t>ambiguous reviews ignored</a:t>
            </a:r>
            <a:endParaRPr b="1" sz="1222">
              <a:latin typeface="Arial"/>
              <a:ea typeface="Arial"/>
              <a:cs typeface="Arial"/>
              <a:sym typeface="Arial"/>
            </a:endParaRPr>
          </a:p>
          <a:p>
            <a:pPr indent="0" lvl="0" marL="0" rtl="0" algn="l">
              <a:lnSpc>
                <a:spcPct val="80000"/>
              </a:lnSpc>
              <a:spcBef>
                <a:spcPts val="0"/>
              </a:spcBef>
              <a:spcAft>
                <a:spcPts val="0"/>
              </a:spcAft>
              <a:buSzPts val="523"/>
              <a:buNone/>
            </a:pPr>
            <a:r>
              <a:t/>
            </a:r>
            <a:endParaRPr sz="1697"/>
          </a:p>
        </p:txBody>
      </p:sp>
      <p:graphicFrame>
        <p:nvGraphicFramePr>
          <p:cNvPr id="122" name="Google Shape;122;p18"/>
          <p:cNvGraphicFramePr/>
          <p:nvPr/>
        </p:nvGraphicFramePr>
        <p:xfrm>
          <a:off x="424350" y="2571750"/>
          <a:ext cx="3000000" cy="3000000"/>
        </p:xfrm>
        <a:graphic>
          <a:graphicData uri="http://schemas.openxmlformats.org/drawingml/2006/table">
            <a:tbl>
              <a:tblPr>
                <a:noFill/>
                <a:tableStyleId>{CD669A51-ADFC-4013-9583-AECF7F6D60FE}</a:tableStyleId>
              </a:tblPr>
              <a:tblGrid>
                <a:gridCol w="2121375"/>
                <a:gridCol w="2121375"/>
                <a:gridCol w="3397175"/>
              </a:tblGrid>
              <a:tr h="263350">
                <a:tc>
                  <a:txBody>
                    <a:bodyPr/>
                    <a:lstStyle/>
                    <a:p>
                      <a:pPr indent="0" lvl="0" marL="0" rtl="0" algn="l">
                        <a:lnSpc>
                          <a:spcPct val="115000"/>
                        </a:lnSpc>
                        <a:spcBef>
                          <a:spcPts val="0"/>
                        </a:spcBef>
                        <a:spcAft>
                          <a:spcPts val="0"/>
                        </a:spcAft>
                        <a:buNone/>
                      </a:pPr>
                      <a:r>
                        <a:rPr b="1" lang="en-GB">
                          <a:solidFill>
                            <a:schemeClr val="lt1"/>
                          </a:solidFill>
                        </a:rPr>
                        <a:t>Tool</a:t>
                      </a:r>
                      <a:endParaRPr b="1">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a:solidFill>
                            <a:schemeClr val="lt1"/>
                          </a:solidFill>
                        </a:rPr>
                        <a:t>Limitation</a:t>
                      </a:r>
                      <a:endParaRPr b="1">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a:solidFill>
                            <a:schemeClr val="lt1"/>
                          </a:solidFill>
                        </a:rPr>
                        <a:t>Our Opportunity</a:t>
                      </a:r>
                      <a:endParaRPr b="1">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26600">
                <a:tc>
                  <a:txBody>
                    <a:bodyPr/>
                    <a:lstStyle/>
                    <a:p>
                      <a:pPr indent="0" lvl="0" marL="0" rtl="0" algn="l">
                        <a:spcBef>
                          <a:spcPts val="0"/>
                        </a:spcBef>
                        <a:spcAft>
                          <a:spcPts val="0"/>
                        </a:spcAft>
                        <a:buNone/>
                      </a:pPr>
                      <a:r>
                        <a:rPr lang="en-GB">
                          <a:solidFill>
                            <a:schemeClr val="lt1"/>
                          </a:solidFill>
                        </a:rPr>
                        <a:t>Sentiment dashboards</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Only pos/neutral/neg</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Extract operational issues</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32425">
                <a:tc>
                  <a:txBody>
                    <a:bodyPr/>
                    <a:lstStyle/>
                    <a:p>
                      <a:pPr indent="0" lvl="0" marL="0" rtl="0" algn="l">
                        <a:spcBef>
                          <a:spcPts val="0"/>
                        </a:spcBef>
                        <a:spcAft>
                          <a:spcPts val="0"/>
                        </a:spcAft>
                        <a:buNone/>
                      </a:pPr>
                      <a:r>
                        <a:rPr lang="en-GB">
                          <a:solidFill>
                            <a:schemeClr val="lt1"/>
                          </a:solidFill>
                        </a:rPr>
                        <a:t>Keyword-based tools</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Misinterpret language</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Context-aware LLM understanding</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91450">
                <a:tc>
                  <a:txBody>
                    <a:bodyPr/>
                    <a:lstStyle/>
                    <a:p>
                      <a:pPr indent="0" lvl="0" marL="0" rtl="0" algn="l">
                        <a:spcBef>
                          <a:spcPts val="0"/>
                        </a:spcBef>
                        <a:spcAft>
                          <a:spcPts val="0"/>
                        </a:spcAft>
                        <a:buNone/>
                      </a:pPr>
                      <a:r>
                        <a:rPr lang="en-GB">
                          <a:solidFill>
                            <a:schemeClr val="lt1"/>
                          </a:solidFill>
                        </a:rPr>
                        <a:t>Rating-based systems</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Rating-text mismatch</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Detect hidden issues</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76800">
                <a:tc>
                  <a:txBody>
                    <a:bodyPr/>
                    <a:lstStyle/>
                    <a:p>
                      <a:pPr indent="0" lvl="0" marL="0" rtl="0" algn="l">
                        <a:spcBef>
                          <a:spcPts val="0"/>
                        </a:spcBef>
                        <a:spcAft>
                          <a:spcPts val="0"/>
                        </a:spcAft>
                        <a:buNone/>
                      </a:pPr>
                      <a:r>
                        <a:rPr lang="en-GB">
                          <a:solidFill>
                            <a:schemeClr val="lt1"/>
                          </a:solidFill>
                        </a:rPr>
                        <a:t>Traditional ML</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No uncertainty</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Flag ambiguous reviews</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ctrTitle"/>
          </p:nvPr>
        </p:nvSpPr>
        <p:spPr>
          <a:xfrm>
            <a:off x="260500" y="450650"/>
            <a:ext cx="8520600" cy="535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SzPct val="26902"/>
              <a:buNone/>
            </a:pPr>
            <a:r>
              <a:rPr b="1" lang="en-GB" sz="3680"/>
              <a:t>Risks, Safeguards &amp; Path to CP3</a:t>
            </a:r>
            <a:endParaRPr b="1" sz="3680"/>
          </a:p>
        </p:txBody>
      </p:sp>
      <p:graphicFrame>
        <p:nvGraphicFramePr>
          <p:cNvPr id="128" name="Google Shape;128;p19"/>
          <p:cNvGraphicFramePr/>
          <p:nvPr/>
        </p:nvGraphicFramePr>
        <p:xfrm>
          <a:off x="385688" y="1162125"/>
          <a:ext cx="3000000" cy="3000000"/>
        </p:xfrm>
        <a:graphic>
          <a:graphicData uri="http://schemas.openxmlformats.org/drawingml/2006/table">
            <a:tbl>
              <a:tblPr>
                <a:noFill/>
                <a:tableStyleId>{CD669A51-ADFC-4013-9583-AECF7F6D60FE}</a:tableStyleId>
              </a:tblPr>
              <a:tblGrid>
                <a:gridCol w="1467050"/>
                <a:gridCol w="3083750"/>
                <a:gridCol w="3289250"/>
              </a:tblGrid>
              <a:tr h="353150">
                <a:tc>
                  <a:txBody>
                    <a:bodyPr/>
                    <a:lstStyle/>
                    <a:p>
                      <a:pPr indent="0" lvl="0" marL="0" rtl="0" algn="l">
                        <a:lnSpc>
                          <a:spcPct val="115000"/>
                        </a:lnSpc>
                        <a:spcBef>
                          <a:spcPts val="0"/>
                        </a:spcBef>
                        <a:spcAft>
                          <a:spcPts val="0"/>
                        </a:spcAft>
                        <a:buNone/>
                      </a:pPr>
                      <a:r>
                        <a:rPr b="1" lang="en-GB" sz="1300">
                          <a:solidFill>
                            <a:schemeClr val="lt1"/>
                          </a:solidFill>
                        </a:rPr>
                        <a:t>Risk Type</a:t>
                      </a:r>
                      <a:endParaRPr b="1" sz="13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300">
                          <a:solidFill>
                            <a:schemeClr val="lt1"/>
                          </a:solidFill>
                        </a:rPr>
                        <a:t>Risk</a:t>
                      </a:r>
                      <a:endParaRPr b="1" sz="13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300">
                          <a:solidFill>
                            <a:schemeClr val="lt1"/>
                          </a:solidFill>
                        </a:rPr>
                        <a:t>Mitigation</a:t>
                      </a:r>
                      <a:endParaRPr b="1" sz="1300">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16675">
                <a:tc>
                  <a:txBody>
                    <a:bodyPr/>
                    <a:lstStyle/>
                    <a:p>
                      <a:pPr indent="0" lvl="0" marL="0" rtl="0" algn="l">
                        <a:spcBef>
                          <a:spcPts val="0"/>
                        </a:spcBef>
                        <a:spcAft>
                          <a:spcPts val="0"/>
                        </a:spcAft>
                        <a:buNone/>
                      </a:pPr>
                      <a:r>
                        <a:rPr lang="en-GB">
                          <a:solidFill>
                            <a:schemeClr val="lt1"/>
                          </a:solidFill>
                        </a:rPr>
                        <a:t>Privacy</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Reviews contain real names or locations</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Strip PII during data cleaning</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16675">
                <a:tc>
                  <a:txBody>
                    <a:bodyPr/>
                    <a:lstStyle/>
                    <a:p>
                      <a:pPr indent="0" lvl="0" marL="0" rtl="0" algn="l">
                        <a:spcBef>
                          <a:spcPts val="0"/>
                        </a:spcBef>
                        <a:spcAft>
                          <a:spcPts val="0"/>
                        </a:spcAft>
                        <a:buNone/>
                      </a:pPr>
                      <a:r>
                        <a:rPr lang="en-GB">
                          <a:solidFill>
                            <a:schemeClr val="lt1"/>
                          </a:solidFill>
                        </a:rPr>
                        <a:t>Reliability</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Model </a:t>
                      </a:r>
                      <a:r>
                        <a:rPr lang="en-GB">
                          <a:solidFill>
                            <a:schemeClr val="lt1"/>
                          </a:solidFill>
                        </a:rPr>
                        <a:t>misclassified</a:t>
                      </a:r>
                      <a:r>
                        <a:rPr lang="en-GB">
                          <a:solidFill>
                            <a:schemeClr val="lt1"/>
                          </a:solidFill>
                        </a:rPr>
                        <a:t> sarcasm or ambiguity</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Flag low confidence outputs below 60 percent for human review</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16675">
                <a:tc>
                  <a:txBody>
                    <a:bodyPr/>
                    <a:lstStyle/>
                    <a:p>
                      <a:pPr indent="0" lvl="0" marL="0" rtl="0" algn="l">
                        <a:spcBef>
                          <a:spcPts val="0"/>
                        </a:spcBef>
                        <a:spcAft>
                          <a:spcPts val="0"/>
                        </a:spcAft>
                        <a:buNone/>
                      </a:pPr>
                      <a:r>
                        <a:rPr lang="en-GB">
                          <a:solidFill>
                            <a:schemeClr val="lt1"/>
                          </a:solidFill>
                        </a:rPr>
                        <a:t>Cost</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LLM API calls at scale are expensive</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Use batch processing and cache repeated queries</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16675">
                <a:tc>
                  <a:txBody>
                    <a:bodyPr/>
                    <a:lstStyle/>
                    <a:p>
                      <a:pPr indent="0" lvl="0" marL="0" rtl="0" algn="l">
                        <a:spcBef>
                          <a:spcPts val="0"/>
                        </a:spcBef>
                        <a:spcAft>
                          <a:spcPts val="0"/>
                        </a:spcAft>
                        <a:buNone/>
                      </a:pPr>
                      <a:r>
                        <a:rPr lang="en-GB">
                          <a:solidFill>
                            <a:schemeClr val="lt1"/>
                          </a:solidFill>
                        </a:rPr>
                        <a:t>Reliability</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Hallucinated operational recommendations</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rPr>
                        <a:t>Ground outputs strictly in actual review text</a:t>
                      </a:r>
                      <a:endParaRPr>
                        <a:solidFill>
                          <a:schemeClr val="l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129" name="Google Shape;129;p19"/>
          <p:cNvSpPr txBox="1"/>
          <p:nvPr/>
        </p:nvSpPr>
        <p:spPr>
          <a:xfrm>
            <a:off x="385700" y="4199175"/>
            <a:ext cx="8685300" cy="53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lt1"/>
                </a:solidFill>
                <a:latin typeface="Roboto"/>
                <a:ea typeface="Roboto"/>
                <a:cs typeface="Roboto"/>
                <a:sym typeface="Roboto"/>
              </a:rPr>
              <a:t>Checkpoint 3 Target:</a:t>
            </a:r>
            <a:r>
              <a:rPr lang="en-GB" sz="1800">
                <a:solidFill>
                  <a:schemeClr val="lt1"/>
                </a:solidFill>
                <a:latin typeface="Roboto"/>
                <a:ea typeface="Roboto"/>
                <a:cs typeface="Roboto"/>
                <a:sym typeface="Roboto"/>
              </a:rPr>
              <a:t> Setup the NLP model framework</a:t>
            </a:r>
            <a:endParaRPr sz="1800">
              <a:solidFill>
                <a:schemeClr val="lt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ctrTitle"/>
          </p:nvPr>
        </p:nvSpPr>
        <p:spPr>
          <a:xfrm>
            <a:off x="598100" y="1775222"/>
            <a:ext cx="8222100" cy="83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b="1"/>
          </a:p>
          <a:p>
            <a:pPr indent="0" lvl="0" marL="0" rtl="0" algn="l">
              <a:spcBef>
                <a:spcPts val="0"/>
              </a:spcBef>
              <a:spcAft>
                <a:spcPts val="0"/>
              </a:spcAft>
              <a:buNone/>
            </a:pPr>
            <a:r>
              <a:rPr b="1" lang="en-GB"/>
              <a:t>Questions ?</a:t>
            </a:r>
            <a:endParaRPr b="1"/>
          </a:p>
        </p:txBody>
      </p:sp>
      <p:sp>
        <p:nvSpPr>
          <p:cNvPr id="135" name="Google Shape;135;p20"/>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i="1" lang="en-GB"/>
              <a:t>Constructive Feedback Is Welcomed !</a:t>
            </a:r>
            <a:endParaRPr i="1"/>
          </a:p>
        </p:txBody>
      </p:sp>
      <p:sp>
        <p:nvSpPr>
          <p:cNvPr id="136" name="Google Shape;136;p20"/>
          <p:cNvSpPr txBox="1"/>
          <p:nvPr>
            <p:ph idx="1" type="subTitle"/>
          </p:nvPr>
        </p:nvSpPr>
        <p:spPr>
          <a:xfrm>
            <a:off x="311700" y="4315950"/>
            <a:ext cx="8520600" cy="4212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770"/>
              <a:buNone/>
            </a:pPr>
            <a:r>
              <a:rPr lang="en-GB" sz="1210"/>
              <a:t>Checkpoint #2 Presentation | IS492 | University of Illinois Urbana Champaign</a:t>
            </a:r>
            <a:endParaRPr sz="1210"/>
          </a:p>
          <a:p>
            <a:pPr indent="0" lvl="0" marL="0" rtl="0" algn="ctr">
              <a:lnSpc>
                <a:spcPct val="115000"/>
              </a:lnSpc>
              <a:spcBef>
                <a:spcPts val="0"/>
              </a:spcBef>
              <a:spcAft>
                <a:spcPts val="0"/>
              </a:spcAft>
              <a:buSzPts val="770"/>
              <a:buNone/>
            </a:pPr>
            <a:r>
              <a:rPr b="1" lang="en-GB" sz="1210"/>
              <a:t>Pranav C | Jeet T | Ashish G </a:t>
            </a:r>
            <a:endParaRPr b="1" sz="1210"/>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